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1C5DF9B-2013-42B0-B6D2-DC95ED1B36EF}">
          <p14:sldIdLst>
            <p14:sldId id="256"/>
            <p14:sldId id="257"/>
          </p14:sldIdLst>
        </p14:section>
        <p14:section name="Getting in" id="{62478BA7-DB94-479F-93E2-40A04D4863B7}">
          <p14:sldIdLst>
            <p14:sldId id="258"/>
            <p14:sldId id="259"/>
          </p14:sldIdLst>
        </p14:section>
        <p14:section name="Finding &amp; trading" id="{AFF281CA-2942-45EB-BF15-9CCEED5E7818}">
          <p14:sldIdLst>
            <p14:sldId id="260"/>
            <p14:sldId id="261"/>
            <p14:sldId id="262"/>
          </p14:sldIdLst>
        </p14:section>
        <p14:section name="Communicating" id="{CA5F2091-A962-4EFF-8AB0-7B489FC9AD88}">
          <p14:sldIdLst>
            <p14:sldId id="263"/>
            <p14:sldId id="264"/>
          </p14:sldIdLst>
        </p14:section>
        <p14:section name="Trust &amp; account" id="{FA3F5A66-356A-47A0-92E2-03DFE6C320B6}">
          <p14:sldIdLst>
            <p14:sldId id="265"/>
            <p14:sldId id="266"/>
          </p14:sldIdLst>
        </p14:section>
        <p14:section name="Under the hood" id="{893765FA-5B31-4C50-8331-605133C9A269}">
          <p14:sldIdLst>
            <p14:sldId id="267"/>
            <p14:sldId id="268"/>
            <p14:sldId id="269"/>
          </p14:sldIdLst>
        </p14:section>
        <p14:section name="Scope" id="{9F679F23-DA6B-4040-BDEE-BEC5E45FD1BE}">
          <p14:sldIdLst>
            <p14:sldId id="270"/>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Gigl (package name marketplace_gig) combines a local marketplace with a gig-economy platform. People post items for sale or jobs they need done, discover each other's posts, chat in realtime, and rate each other afterwards. The graphic mirrors the app's radial home menu.</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app's core loop: post, discover, chat, rate. Everything else in this deck supports one of these four steps. It runs on Android with Material Design 3 and is built to work on low-end devices.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Sign-up and sign-in both pass a local math captcha because Firebase has no server captcha token. Unverified users are held on the verify-email screen. The Terms/EULA gate tracks the accepted version, so shipping new terms prompts existing users once. Loading and offline states deliberately never block. Signing out wipes the local chat and swipe caches.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root node, Gigl, branches into six main sections, each expanding into sub-items. The radial menu is the only navigation: there is no bottom bar. A floating Post button sits on every main screen, and system back on any shell screen returns to home.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swipe feed is a Tinder-style card stack: swipe or tap Pass/Save. Three orderings: Nearby by location, Trending by highest price, and For you in default order. Filters cover type, category and price range. Passed listings are kept in history so nothing is lost by an accidental swipe.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 and Gigs are two views over the same listing data, split by type. My listings shows Active and Completed badges; Deals sorts items cheapest first. The listing detail screen is shared and shows the seller card, which opens their public profile.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floating Post button opens a modal bottom sheet. A toggle switches between Item and Gig; gigs add duration and remote-only. Photos upload to Cloudinary via an unsigned preset, not Firebase Storage. Owners can later edit, mark Completed, or delete.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Chat syncs through Firestore but reads through the local Drift database, which keeps paging cheap and makes history available offline. Message seller reopens the existing thread instead of creating duplicates. Notifications deep-link straight into the conversation.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Saved has three tabs. Liked holds everything you swiped right on or saved, and Collections groups those by category. History holds what you passed, each with a one-tap Restore, so an accidental swipe is never final.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reviewer gets one review per user; resubmitting updates it. The rating average and count on the profile are recomputed client-side in a single Firestore transaction, so they update immediately. A star-distribution chart shows the breakdown on the Ratings screen.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Wallet is informational: total earned is the sum of prices of your completed listings; transactions happen offline between parties. Reports are create-only in Firestore and reviewed in the Firebase console.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device tier is detected via device_info_plus and gates dynamic color, card peek, gradients and image cache sizing. Startup shows a branded splash immediately and mounts the app only once the database and Firebase are ready, keeping heavy work out of main() to avoid ANRs.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Firestore is the source of truth; Drift caches chat and swipe data locally. Images go to Cloudinary via an unsigned preset rather than Firebase Storage, which keeps the project on the free Spark plan.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user is both a potential buyer and seller. Only owner-specific actions (editing, completing, deleting a listing) and the earnings dashboard apply to sellers alone.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gaps are deliberate for the current scope: payments happen offline, moderation is done in the Firebase console, Archived chats are a placeholder, only Android is configured, and there is no seed data.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9.png"/><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16.png"/><Relationship Id="rId9" Type="http://schemas.openxmlformats.org/officeDocument/2006/relationships/image" Target="../media/image17.png"/><Relationship Id="rId10" Type="http://schemas.openxmlformats.org/officeDocument/2006/relationships/image" Target="../media/image18.png"/><Relationship Id="rId11" Type="http://schemas.openxmlformats.org/officeDocument/2006/relationships/image" Target="../media/image19.png"/><Relationship Id="rId12" Type="http://schemas.openxmlformats.org/officeDocument/2006/relationships/image" Target="../media/image20.png"/><Relationship Id="rId13" Type="http://schemas.openxmlformats.org/officeDocument/2006/relationships/image" Target="../media/image21.png"/><Relationship Id="rId1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5.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6.png"/><Relationship Id="rId8" Type="http://schemas.openxmlformats.org/officeDocument/2006/relationships/image" Target="../media/image26.png"/><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2.png"/><Relationship Id="rId5" Type="http://schemas.openxmlformats.org/officeDocument/2006/relationships/image" Target="../media/image29.png"/><Relationship Id="rId6" Type="http://schemas.openxmlformats.org/officeDocument/2006/relationships/image" Target="../media/image7.png"/><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png"/><Relationship Id="rId3" Type="http://schemas.openxmlformats.org/officeDocument/2006/relationships/image" Target="../media/image4.png"/><Relationship Id="rId4" Type="http://schemas.openxmlformats.org/officeDocument/2006/relationships/image" Target="../media/image31.png"/><Relationship Id="rId5" Type="http://schemas.openxmlformats.org/officeDocument/2006/relationships/image" Target="../media/image32.png"/><Relationship Id="rId6" Type="http://schemas.openxmlformats.org/officeDocument/2006/relationships/image" Target="../media/image33.png"/><Relationship Id="rId7" Type="http://schemas.openxmlformats.org/officeDocument/2006/relationships/image" Target="../media/image34.png"/><Relationship Id="rId8" Type="http://schemas.openxmlformats.org/officeDocument/2006/relationships/image" Target="../media/image35.png"/><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23.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image" Target="../media/image36.png"/><Relationship Id="rId4" Type="http://schemas.openxmlformats.org/officeDocument/2006/relationships/image" Target="../media/image6.png"/><Relationship Id="rId5" Type="http://schemas.openxmlformats.org/officeDocument/2006/relationships/image" Target="../media/image32.png"/><Relationship Id="rId6" Type="http://schemas.openxmlformats.org/officeDocument/2006/relationships/image" Target="../media/image9.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9.png"/><Relationship Id="rId3" Type="http://schemas.openxmlformats.org/officeDocument/2006/relationships/image" Target="../media/image40.png"/><Relationship Id="rId4" Type="http://schemas.openxmlformats.org/officeDocument/2006/relationships/image" Target="../media/image41.png"/><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5.png"/><Relationship Id="rId3" Type="http://schemas.openxmlformats.org/officeDocument/2006/relationships/image" Target="../media/image46.png"/><Relationship Id="rId4" Type="http://schemas.openxmlformats.org/officeDocument/2006/relationships/image" Target="../media/image47.png"/><Relationship Id="rId5" Type="http://schemas.openxmlformats.org/officeDocument/2006/relationships/image" Target="../media/image43.png"/><Relationship Id="rId6" Type="http://schemas.openxmlformats.org/officeDocument/2006/relationships/image" Target="../media/image48.png"/><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9.png"/><Relationship Id="rId3" Type="http://schemas.openxmlformats.org/officeDocument/2006/relationships/image" Target="../media/image50.png"/><Relationship Id="rId4" Type="http://schemas.openxmlformats.org/officeDocument/2006/relationships/image" Target="../media/image51.png"/><Relationship Id="rId5" Type="http://schemas.openxmlformats.org/officeDocument/2006/relationships/image" Target="../media/image52.png"/><Relationship Id="rId6" Type="http://schemas.openxmlformats.org/officeDocument/2006/relationships/image" Target="../media/image53.png"/><Relationship Id="rId7"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332D"/>
        </a:solidFill>
        <a:effectLst/>
      </p:bgPr>
    </p:bg>
    <p:spTree>
      <p:nvGrpSpPr>
        <p:cNvPr id="1" name=""/>
        <p:cNvGrpSpPr/>
        <p:nvPr/>
      </p:nvGrpSpPr>
      <p:grpSpPr/>
      <p:sp>
        <p:nvSpPr>
          <p:cNvPr id="2" name="kicker"/>
          <p:cNvSpPr txBox="1"/>
          <p:nvPr/>
        </p:nvSpPr>
        <p:spPr>
          <a:xfrm>
            <a:off x="640080" y="1417320"/>
            <a:ext cx="5943600" cy="365760"/>
          </a:xfrm>
          <a:prstGeom prst="rect">
            <a:avLst/>
          </a:prstGeom>
          <a:noFill/>
        </p:spPr>
        <p:txBody>
          <a:bodyPr wrap="square" lIns="0" rIns="0" tIns="0" bIns="0" anchor="t">
            <a:spAutoFit/>
          </a:bodyPr>
          <a:lstStyle/>
          <a:p>
            <a:pPr algn="l">
              <a:spcAft>
                <a:spcPts val="0"/>
              </a:spcAft>
              <a:buNone/>
            </a:pPr>
            <a:r>
              <a:rPr sz="1400" b="1" i="0">
                <a:solidFill>
                  <a:srgbClr val="FFB300"/>
                </a:solidFill>
                <a:latin typeface="Calibri"/>
              </a:rPr>
              <a:t>FEATURE OVERVIEW</a:t>
            </a:r>
          </a:p>
        </p:txBody>
      </p:sp>
      <p:sp>
        <p:nvSpPr>
          <p:cNvPr id="3" name="title"/>
          <p:cNvSpPr txBox="1"/>
          <p:nvPr/>
        </p:nvSpPr>
        <p:spPr>
          <a:xfrm>
            <a:off x="640080" y="1828800"/>
            <a:ext cx="5943600" cy="1280160"/>
          </a:xfrm>
          <a:prstGeom prst="rect">
            <a:avLst/>
          </a:prstGeom>
          <a:noFill/>
        </p:spPr>
        <p:txBody>
          <a:bodyPr wrap="square" lIns="0" rIns="0" tIns="0" bIns="0" anchor="t">
            <a:spAutoFit/>
          </a:bodyPr>
          <a:lstStyle/>
          <a:p>
            <a:pPr algn="l">
              <a:spcAft>
                <a:spcPts val="0"/>
              </a:spcAft>
              <a:buNone/>
            </a:pPr>
            <a:r>
              <a:rPr sz="8800" b="1" i="0">
                <a:solidFill>
                  <a:srgbClr val="FFFFFF"/>
                </a:solidFill>
                <a:latin typeface="Arial"/>
              </a:rPr>
              <a:t>Gigl</a:t>
            </a:r>
          </a:p>
        </p:txBody>
      </p:sp>
      <p:sp>
        <p:nvSpPr>
          <p:cNvPr id="4" name="subtitle"/>
          <p:cNvSpPr txBox="1"/>
          <p:nvPr/>
        </p:nvSpPr>
        <p:spPr>
          <a:xfrm>
            <a:off x="640080" y="3154680"/>
            <a:ext cx="5669280" cy="1005840"/>
          </a:xfrm>
          <a:prstGeom prst="rect">
            <a:avLst/>
          </a:prstGeom>
          <a:noFill/>
        </p:spPr>
        <p:txBody>
          <a:bodyPr wrap="square" lIns="0" rIns="0" tIns="0" bIns="0" anchor="t">
            <a:spAutoFit/>
          </a:bodyPr>
          <a:lstStyle/>
          <a:p>
            <a:pPr algn="l">
              <a:spcAft>
                <a:spcPts val="0"/>
              </a:spcAft>
              <a:buNone/>
            </a:pPr>
            <a:r>
              <a:rPr sz="2200" b="0" i="0">
                <a:solidFill>
                  <a:srgbClr val="CFE5E0"/>
                </a:solidFill>
                <a:latin typeface="Calibri"/>
              </a:rPr>
              <a:t>A local buy-and-sell marketplace and a gig platform, together in one Android app</a:t>
            </a:r>
          </a:p>
        </p:txBody>
      </p:sp>
      <p:sp>
        <p:nvSpPr>
          <p:cNvPr id="5" name="footnote"/>
          <p:cNvSpPr txBox="1"/>
          <p:nvPr/>
        </p:nvSpPr>
        <p:spPr>
          <a:xfrm>
            <a:off x="640080" y="4754880"/>
            <a:ext cx="5486400" cy="320040"/>
          </a:xfrm>
          <a:prstGeom prst="rect">
            <a:avLst/>
          </a:prstGeom>
          <a:noFill/>
        </p:spPr>
        <p:txBody>
          <a:bodyPr wrap="square" lIns="0" rIns="0" tIns="0" bIns="0" anchor="t">
            <a:spAutoFit/>
          </a:bodyPr>
          <a:lstStyle/>
          <a:p>
            <a:pPr algn="l">
              <a:spcAft>
                <a:spcPts val="0"/>
              </a:spcAft>
              <a:buNone/>
            </a:pPr>
            <a:r>
              <a:rPr sz="1400" b="0" i="0">
                <a:solidFill>
                  <a:srgbClr val="8FB8B0"/>
                </a:solidFill>
                <a:latin typeface="Calibri"/>
              </a:rPr>
              <a:t>Marketplace &amp; Gig  ·  Android  ·  Material Design 3</a:t>
            </a:r>
          </a:p>
        </p:txBody>
      </p:sp>
      <p:cxnSp>
        <p:nvCxnSpPr>
          <p:cNvPr id="6" name="Connector 5"/>
          <p:cNvCxnSpPr/>
          <p:nvPr/>
        </p:nvCxnSpPr>
        <p:spPr>
          <a:xfrm flipV="1">
            <a:off x="9052560" y="1463040"/>
            <a:ext cx="0" cy="1965960"/>
          </a:xfrm>
          <a:prstGeom prst="line">
            <a:avLst/>
          </a:prstGeom>
          <a:ln w="19050">
            <a:solidFill>
              <a:srgbClr val="2E6A6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9052560" y="2446020"/>
            <a:ext cx="1702571" cy="982980"/>
          </a:xfrm>
          <a:prstGeom prst="line">
            <a:avLst/>
          </a:prstGeom>
          <a:ln w="19050">
            <a:solidFill>
              <a:srgbClr val="2E6A62"/>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9052560" y="3429000"/>
            <a:ext cx="1702571" cy="982979"/>
          </a:xfrm>
          <a:prstGeom prst="line">
            <a:avLst/>
          </a:prstGeom>
          <a:ln w="19050">
            <a:solidFill>
              <a:srgbClr val="2E6A62"/>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9052560" y="3429000"/>
            <a:ext cx="0" cy="1965960"/>
          </a:xfrm>
          <a:prstGeom prst="line">
            <a:avLst/>
          </a:prstGeom>
          <a:ln w="19050">
            <a:solidFill>
              <a:srgbClr val="2E6A62"/>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7349988" y="3429000"/>
            <a:ext cx="1702572" cy="982979"/>
          </a:xfrm>
          <a:prstGeom prst="line">
            <a:avLst/>
          </a:prstGeom>
          <a:ln w="19050">
            <a:solidFill>
              <a:srgbClr val="2E6A62"/>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flipV="1">
            <a:off x="7349988" y="2446020"/>
            <a:ext cx="1702572" cy="982980"/>
          </a:xfrm>
          <a:prstGeom prst="line">
            <a:avLst/>
          </a:prstGeom>
          <a:ln w="19050">
            <a:solidFill>
              <a:srgbClr val="2E6A62"/>
            </a:solidFill>
          </a:ln>
        </p:spPr>
        <p:style>
          <a:lnRef idx="2">
            <a:schemeClr val="accent1"/>
          </a:lnRef>
          <a:fillRef idx="0">
            <a:schemeClr val="accent1"/>
          </a:fillRef>
          <a:effectRef idx="1">
            <a:schemeClr val="accent1"/>
          </a:effectRef>
          <a:fontRef idx="minor">
            <a:schemeClr val="tx1"/>
          </a:fontRef>
        </p:style>
      </p:cxnSp>
      <p:sp>
        <p:nvSpPr>
          <p:cNvPr id="12" name="badge compass"/>
          <p:cNvSpPr/>
          <p:nvPr/>
        </p:nvSpPr>
        <p:spPr>
          <a:xfrm>
            <a:off x="8618220" y="1028700"/>
            <a:ext cx="868680" cy="868680"/>
          </a:xfrm>
          <a:prstGeom prst="ellipse">
            <a:avLst/>
          </a:prstGeom>
          <a:solidFill>
            <a:srgbClr val="0F5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icon compass" descr="compass_w.png"/>
          <p:cNvPicPr>
            <a:picLocks noChangeAspect="1"/>
          </p:cNvPicPr>
          <p:nvPr/>
        </p:nvPicPr>
        <p:blipFill>
          <a:blip r:embed="rId2"/>
          <a:stretch>
            <a:fillRect/>
          </a:stretch>
        </p:blipFill>
        <p:spPr>
          <a:xfrm>
            <a:off x="8826703" y="1237183"/>
            <a:ext cx="451713" cy="451713"/>
          </a:xfrm>
          <a:prstGeom prst="rect">
            <a:avLst/>
          </a:prstGeom>
        </p:spPr>
      </p:pic>
      <p:sp>
        <p:nvSpPr>
          <p:cNvPr id="14" name="badge briefcase"/>
          <p:cNvSpPr/>
          <p:nvPr/>
        </p:nvSpPr>
        <p:spPr>
          <a:xfrm>
            <a:off x="10320791" y="2011680"/>
            <a:ext cx="868680" cy="868680"/>
          </a:xfrm>
          <a:prstGeom prst="ellipse">
            <a:avLst/>
          </a:prstGeom>
          <a:solidFill>
            <a:srgbClr val="0F5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icon briefcase" descr="briefcase_w.png"/>
          <p:cNvPicPr>
            <a:picLocks noChangeAspect="1"/>
          </p:cNvPicPr>
          <p:nvPr/>
        </p:nvPicPr>
        <p:blipFill>
          <a:blip r:embed="rId3"/>
          <a:stretch>
            <a:fillRect/>
          </a:stretch>
        </p:blipFill>
        <p:spPr>
          <a:xfrm>
            <a:off x="10529274" y="2220163"/>
            <a:ext cx="451713" cy="451713"/>
          </a:xfrm>
          <a:prstGeom prst="rect">
            <a:avLst/>
          </a:prstGeom>
        </p:spPr>
      </p:pic>
      <p:sp>
        <p:nvSpPr>
          <p:cNvPr id="16" name="badge shopping-bag"/>
          <p:cNvSpPr/>
          <p:nvPr/>
        </p:nvSpPr>
        <p:spPr>
          <a:xfrm>
            <a:off x="10320791" y="3977639"/>
            <a:ext cx="868680" cy="868680"/>
          </a:xfrm>
          <a:prstGeom prst="ellipse">
            <a:avLst/>
          </a:prstGeom>
          <a:solidFill>
            <a:srgbClr val="0F5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icon shopping-bag" descr="shopping-bag_w.png"/>
          <p:cNvPicPr>
            <a:picLocks noChangeAspect="1"/>
          </p:cNvPicPr>
          <p:nvPr/>
        </p:nvPicPr>
        <p:blipFill>
          <a:blip r:embed="rId4"/>
          <a:stretch>
            <a:fillRect/>
          </a:stretch>
        </p:blipFill>
        <p:spPr>
          <a:xfrm>
            <a:off x="10529274" y="4186123"/>
            <a:ext cx="451713" cy="451713"/>
          </a:xfrm>
          <a:prstGeom prst="rect">
            <a:avLst/>
          </a:prstGeom>
        </p:spPr>
      </p:pic>
      <p:sp>
        <p:nvSpPr>
          <p:cNvPr id="18" name="badge message-circle"/>
          <p:cNvSpPr/>
          <p:nvPr/>
        </p:nvSpPr>
        <p:spPr>
          <a:xfrm>
            <a:off x="8618220" y="4960620"/>
            <a:ext cx="868680" cy="868680"/>
          </a:xfrm>
          <a:prstGeom prst="ellipse">
            <a:avLst/>
          </a:prstGeom>
          <a:solidFill>
            <a:srgbClr val="0F5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icon message-circle" descr="message-circle_w.png"/>
          <p:cNvPicPr>
            <a:picLocks noChangeAspect="1"/>
          </p:cNvPicPr>
          <p:nvPr/>
        </p:nvPicPr>
        <p:blipFill>
          <a:blip r:embed="rId5"/>
          <a:stretch>
            <a:fillRect/>
          </a:stretch>
        </p:blipFill>
        <p:spPr>
          <a:xfrm>
            <a:off x="8826703" y="5169103"/>
            <a:ext cx="451713" cy="451713"/>
          </a:xfrm>
          <a:prstGeom prst="rect">
            <a:avLst/>
          </a:prstGeom>
        </p:spPr>
      </p:pic>
      <p:sp>
        <p:nvSpPr>
          <p:cNvPr id="20" name="badge heart"/>
          <p:cNvSpPr/>
          <p:nvPr/>
        </p:nvSpPr>
        <p:spPr>
          <a:xfrm>
            <a:off x="6915648" y="3977639"/>
            <a:ext cx="868680" cy="868680"/>
          </a:xfrm>
          <a:prstGeom prst="ellipse">
            <a:avLst/>
          </a:prstGeom>
          <a:solidFill>
            <a:srgbClr val="0F5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icon heart" descr="heart_w.png"/>
          <p:cNvPicPr>
            <a:picLocks noChangeAspect="1"/>
          </p:cNvPicPr>
          <p:nvPr/>
        </p:nvPicPr>
        <p:blipFill>
          <a:blip r:embed="rId6"/>
          <a:stretch>
            <a:fillRect/>
          </a:stretch>
        </p:blipFill>
        <p:spPr>
          <a:xfrm>
            <a:off x="7124131" y="4186123"/>
            <a:ext cx="451713" cy="451713"/>
          </a:xfrm>
          <a:prstGeom prst="rect">
            <a:avLst/>
          </a:prstGeom>
        </p:spPr>
      </p:pic>
      <p:sp>
        <p:nvSpPr>
          <p:cNvPr id="22" name="badge user"/>
          <p:cNvSpPr/>
          <p:nvPr/>
        </p:nvSpPr>
        <p:spPr>
          <a:xfrm>
            <a:off x="6915648" y="2011679"/>
            <a:ext cx="868680" cy="868680"/>
          </a:xfrm>
          <a:prstGeom prst="ellipse">
            <a:avLst/>
          </a:prstGeom>
          <a:solidFill>
            <a:srgbClr val="0F5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icon user" descr="user_w.png"/>
          <p:cNvPicPr>
            <a:picLocks noChangeAspect="1"/>
          </p:cNvPicPr>
          <p:nvPr/>
        </p:nvPicPr>
        <p:blipFill>
          <a:blip r:embed="rId7"/>
          <a:stretch>
            <a:fillRect/>
          </a:stretch>
        </p:blipFill>
        <p:spPr>
          <a:xfrm>
            <a:off x="7124131" y="2220163"/>
            <a:ext cx="451713" cy="451713"/>
          </a:xfrm>
          <a:prstGeom prst="rect">
            <a:avLst/>
          </a:prstGeom>
        </p:spPr>
      </p:pic>
      <p:sp>
        <p:nvSpPr>
          <p:cNvPr id="24" name="hub"/>
          <p:cNvSpPr/>
          <p:nvPr/>
        </p:nvSpPr>
        <p:spPr>
          <a:xfrm>
            <a:off x="8389620" y="2766060"/>
            <a:ext cx="1325880" cy="1325880"/>
          </a:xfrm>
          <a:prstGeom prst="ellipse">
            <a:avLst/>
          </a:prstGeom>
          <a:solidFill>
            <a:srgbClr val="FFB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389620" y="3200400"/>
            <a:ext cx="1325880" cy="457200"/>
          </a:xfrm>
          <a:prstGeom prst="rect">
            <a:avLst/>
          </a:prstGeom>
          <a:noFill/>
        </p:spPr>
        <p:txBody>
          <a:bodyPr wrap="square" lIns="0" rIns="0" tIns="0" bIns="0" anchor="ctr">
            <a:spAutoFit/>
          </a:bodyPr>
          <a:lstStyle/>
          <a:p>
            <a:pPr algn="ctr">
              <a:spcAft>
                <a:spcPts val="0"/>
              </a:spcAft>
              <a:buNone/>
            </a:pPr>
            <a:r>
              <a:rPr sz="2400" b="1" i="0">
                <a:solidFill>
                  <a:srgbClr val="00332D"/>
                </a:solidFill>
                <a:latin typeface="Arial"/>
              </a:rPr>
              <a:t>Gigl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822960"/>
          </a:xfrm>
        </p:spPr>
        <p:txBody>
          <a:bodyPr lIns="0" rIns="0" tIns="0" bIns="0" anchor="ctr" wrap="square"/>
          <a:lstStyle/>
          <a:p>
            <a:pPr algn="l"/>
            <a:r>
              <a:rPr sz="3200" b="1">
                <a:solidFill>
                  <a:srgbClr val="1B2B28"/>
                </a:solidFill>
                <a:latin typeface="Arial"/>
              </a:rPr>
              <a:t>Post, discover, chat, rate: one loop for items and gigs</a:t>
            </a:r>
          </a:p>
        </p:txBody>
      </p:sp>
      <p:sp>
        <p:nvSpPr>
          <p:cNvPr id="3" name="kicker"/>
          <p:cNvSpPr txBox="1"/>
          <p:nvPr/>
        </p:nvSpPr>
        <p:spPr>
          <a:xfrm>
            <a:off x="548640" y="201168"/>
            <a:ext cx="7315200" cy="228600"/>
          </a:xfrm>
          <a:prstGeom prst="rect">
            <a:avLst/>
          </a:prstGeom>
          <a:noFill/>
        </p:spPr>
        <p:txBody>
          <a:bodyPr wrap="square" lIns="0" rIns="0" tIns="0" bIns="0" anchor="t">
            <a:spAutoFit/>
          </a:bodyPr>
          <a:lstStyle/>
          <a:p>
            <a:pPr algn="l">
              <a:spcAft>
                <a:spcPts val="0"/>
              </a:spcAft>
              <a:buNone/>
            </a:pPr>
            <a:r>
              <a:rPr sz="1100" b="1" i="0">
                <a:solidFill>
                  <a:srgbClr val="4F8F86"/>
                </a:solidFill>
                <a:latin typeface="Calibri"/>
              </a:rPr>
              <a:t>WHAT GIGL DOES</a:t>
            </a:r>
          </a:p>
        </p:txBody>
      </p:sp>
      <p:sp>
        <p:nvSpPr>
          <p:cNvPr id="4" name="step Post"/>
          <p:cNvSpPr/>
          <p:nvPr/>
        </p:nvSpPr>
        <p:spPr>
          <a:xfrm>
            <a:off x="614019" y="1600200"/>
            <a:ext cx="2514600" cy="2514600"/>
          </a:xfrm>
          <a:prstGeom prst="roundRect">
            <a:avLst>
              <a:gd name="adj" fmla="val 4363"/>
            </a:avLst>
          </a:prstGeom>
          <a:solidFill>
            <a:srgbClr val="F3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adge pencil"/>
          <p:cNvSpPr/>
          <p:nvPr/>
        </p:nvSpPr>
        <p:spPr>
          <a:xfrm>
            <a:off x="888339" y="1874519"/>
            <a:ext cx="731520" cy="731520"/>
          </a:xfrm>
          <a:prstGeom prst="ellipse">
            <a:avLst/>
          </a:prstGeom>
          <a:solidFill>
            <a:srgbClr val="00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icon pencil" descr="pencil_w.png"/>
          <p:cNvPicPr>
            <a:picLocks noChangeAspect="1"/>
          </p:cNvPicPr>
          <p:nvPr/>
        </p:nvPicPr>
        <p:blipFill>
          <a:blip r:embed="rId2"/>
          <a:stretch>
            <a:fillRect/>
          </a:stretch>
        </p:blipFill>
        <p:spPr>
          <a:xfrm>
            <a:off x="1063904" y="2050084"/>
            <a:ext cx="380390" cy="380390"/>
          </a:xfrm>
          <a:prstGeom prst="rect">
            <a:avLst/>
          </a:prstGeom>
        </p:spPr>
      </p:pic>
      <p:sp>
        <p:nvSpPr>
          <p:cNvPr id="7" name="TextBox 6"/>
          <p:cNvSpPr txBox="1"/>
          <p:nvPr/>
        </p:nvSpPr>
        <p:spPr>
          <a:xfrm>
            <a:off x="1757019" y="1947672"/>
            <a:ext cx="1188720" cy="274320"/>
          </a:xfrm>
          <a:prstGeom prst="rect">
            <a:avLst/>
          </a:prstGeom>
          <a:noFill/>
        </p:spPr>
        <p:txBody>
          <a:bodyPr wrap="square" lIns="0" rIns="0" tIns="0" bIns="0" anchor="t">
            <a:spAutoFit/>
          </a:bodyPr>
          <a:lstStyle/>
          <a:p>
            <a:pPr algn="l">
              <a:spcAft>
                <a:spcPts val="0"/>
              </a:spcAft>
              <a:buNone/>
            </a:pPr>
            <a:r>
              <a:rPr sz="1200" b="1" i="0">
                <a:solidFill>
                  <a:srgbClr val="4F8F86"/>
                </a:solidFill>
                <a:latin typeface="Calibri"/>
              </a:rPr>
              <a:t>01</a:t>
            </a:r>
          </a:p>
        </p:txBody>
      </p:sp>
      <p:sp>
        <p:nvSpPr>
          <p:cNvPr id="8" name="TextBox 7"/>
          <p:cNvSpPr txBox="1"/>
          <p:nvPr/>
        </p:nvSpPr>
        <p:spPr>
          <a:xfrm>
            <a:off x="1757019" y="2167128"/>
            <a:ext cx="1280160" cy="411480"/>
          </a:xfrm>
          <a:prstGeom prst="rect">
            <a:avLst/>
          </a:prstGeom>
          <a:noFill/>
        </p:spPr>
        <p:txBody>
          <a:bodyPr wrap="square" lIns="0" rIns="0" tIns="0" bIns="0" anchor="t">
            <a:spAutoFit/>
          </a:bodyPr>
          <a:lstStyle/>
          <a:p>
            <a:pPr algn="l">
              <a:spcAft>
                <a:spcPts val="0"/>
              </a:spcAft>
              <a:buNone/>
            </a:pPr>
            <a:r>
              <a:rPr sz="2200" b="1" i="0">
                <a:solidFill>
                  <a:srgbClr val="1B2B28"/>
                </a:solidFill>
                <a:latin typeface="Arial"/>
              </a:rPr>
              <a:t>Post</a:t>
            </a:r>
          </a:p>
        </p:txBody>
      </p:sp>
      <p:sp>
        <p:nvSpPr>
          <p:cNvPr id="9" name="TextBox 8"/>
          <p:cNvSpPr txBox="1"/>
          <p:nvPr/>
        </p:nvSpPr>
        <p:spPr>
          <a:xfrm>
            <a:off x="888339" y="2834640"/>
            <a:ext cx="1965960" cy="1097280"/>
          </a:xfrm>
          <a:prstGeom prst="rect">
            <a:avLst/>
          </a:prstGeom>
          <a:noFill/>
        </p:spPr>
        <p:txBody>
          <a:bodyPr wrap="square" lIns="0" rIns="0" tIns="0" bIns="0" anchor="t">
            <a:spAutoFit/>
          </a:bodyPr>
          <a:lstStyle/>
          <a:p>
            <a:pPr algn="l">
              <a:spcAft>
                <a:spcPts val="0"/>
              </a:spcAft>
              <a:buNone/>
            </a:pPr>
            <a:r>
              <a:rPr sz="1500" b="0" i="0">
                <a:solidFill>
                  <a:srgbClr val="56676A"/>
                </a:solidFill>
                <a:latin typeface="Calibri"/>
              </a:rPr>
              <a:t>List an item to sell or a gig you need done, with photos</a:t>
            </a:r>
          </a:p>
        </p:txBody>
      </p:sp>
      <p:cxnSp>
        <p:nvCxnSpPr>
          <p:cNvPr id="10" name="Connector 9"/>
          <p:cNvCxnSpPr/>
          <p:nvPr/>
        </p:nvCxnSpPr>
        <p:spPr>
          <a:xfrm>
            <a:off x="3165195" y="2240280"/>
            <a:ext cx="228600" cy="0"/>
          </a:xfrm>
          <a:prstGeom prst="line">
            <a:avLst/>
          </a:prstGeom>
          <a:ln w="22225">
            <a:solidFill>
              <a:srgbClr val="4F8F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step Discover"/>
          <p:cNvSpPr/>
          <p:nvPr/>
        </p:nvSpPr>
        <p:spPr>
          <a:xfrm>
            <a:off x="3430371" y="1600200"/>
            <a:ext cx="2514600" cy="2514600"/>
          </a:xfrm>
          <a:prstGeom prst="roundRect">
            <a:avLst>
              <a:gd name="adj" fmla="val 4363"/>
            </a:avLst>
          </a:prstGeom>
          <a:solidFill>
            <a:srgbClr val="F3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badge layers"/>
          <p:cNvSpPr/>
          <p:nvPr/>
        </p:nvSpPr>
        <p:spPr>
          <a:xfrm>
            <a:off x="3704691" y="1874519"/>
            <a:ext cx="731520" cy="731520"/>
          </a:xfrm>
          <a:prstGeom prst="ellipse">
            <a:avLst/>
          </a:prstGeom>
          <a:solidFill>
            <a:srgbClr val="00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icon layers" descr="layers_w.png"/>
          <p:cNvPicPr>
            <a:picLocks noChangeAspect="1"/>
          </p:cNvPicPr>
          <p:nvPr/>
        </p:nvPicPr>
        <p:blipFill>
          <a:blip r:embed="rId3"/>
          <a:stretch>
            <a:fillRect/>
          </a:stretch>
        </p:blipFill>
        <p:spPr>
          <a:xfrm>
            <a:off x="3880256" y="2050084"/>
            <a:ext cx="380390" cy="380390"/>
          </a:xfrm>
          <a:prstGeom prst="rect">
            <a:avLst/>
          </a:prstGeom>
        </p:spPr>
      </p:pic>
      <p:sp>
        <p:nvSpPr>
          <p:cNvPr id="14" name="TextBox 13"/>
          <p:cNvSpPr txBox="1"/>
          <p:nvPr/>
        </p:nvSpPr>
        <p:spPr>
          <a:xfrm>
            <a:off x="4573371" y="1947672"/>
            <a:ext cx="1188720" cy="274320"/>
          </a:xfrm>
          <a:prstGeom prst="rect">
            <a:avLst/>
          </a:prstGeom>
          <a:noFill/>
        </p:spPr>
        <p:txBody>
          <a:bodyPr wrap="square" lIns="0" rIns="0" tIns="0" bIns="0" anchor="t">
            <a:spAutoFit/>
          </a:bodyPr>
          <a:lstStyle/>
          <a:p>
            <a:pPr algn="l">
              <a:spcAft>
                <a:spcPts val="0"/>
              </a:spcAft>
              <a:buNone/>
            </a:pPr>
            <a:r>
              <a:rPr sz="1200" b="1" i="0">
                <a:solidFill>
                  <a:srgbClr val="4F8F86"/>
                </a:solidFill>
                <a:latin typeface="Calibri"/>
              </a:rPr>
              <a:t>02</a:t>
            </a:r>
          </a:p>
        </p:txBody>
      </p:sp>
      <p:sp>
        <p:nvSpPr>
          <p:cNvPr id="15" name="TextBox 14"/>
          <p:cNvSpPr txBox="1"/>
          <p:nvPr/>
        </p:nvSpPr>
        <p:spPr>
          <a:xfrm>
            <a:off x="4573371" y="2167128"/>
            <a:ext cx="1280160" cy="411480"/>
          </a:xfrm>
          <a:prstGeom prst="rect">
            <a:avLst/>
          </a:prstGeom>
          <a:noFill/>
        </p:spPr>
        <p:txBody>
          <a:bodyPr wrap="square" lIns="0" rIns="0" tIns="0" bIns="0" anchor="t">
            <a:spAutoFit/>
          </a:bodyPr>
          <a:lstStyle/>
          <a:p>
            <a:pPr algn="l">
              <a:spcAft>
                <a:spcPts val="0"/>
              </a:spcAft>
              <a:buNone/>
            </a:pPr>
            <a:r>
              <a:rPr sz="2200" b="1" i="0">
                <a:solidFill>
                  <a:srgbClr val="1B2B28"/>
                </a:solidFill>
                <a:latin typeface="Arial"/>
              </a:rPr>
              <a:t>Discover</a:t>
            </a:r>
          </a:p>
        </p:txBody>
      </p:sp>
      <p:sp>
        <p:nvSpPr>
          <p:cNvPr id="16" name="TextBox 15"/>
          <p:cNvSpPr txBox="1"/>
          <p:nvPr/>
        </p:nvSpPr>
        <p:spPr>
          <a:xfrm>
            <a:off x="3704691" y="2834640"/>
            <a:ext cx="1965960" cy="1097280"/>
          </a:xfrm>
          <a:prstGeom prst="rect">
            <a:avLst/>
          </a:prstGeom>
          <a:noFill/>
        </p:spPr>
        <p:txBody>
          <a:bodyPr wrap="square" lIns="0" rIns="0" tIns="0" bIns="0" anchor="t">
            <a:spAutoFit/>
          </a:bodyPr>
          <a:lstStyle/>
          <a:p>
            <a:pPr algn="l">
              <a:spcAft>
                <a:spcPts val="0"/>
              </a:spcAft>
              <a:buNone/>
            </a:pPr>
            <a:r>
              <a:rPr sz="1500" b="0" i="0">
                <a:solidFill>
                  <a:srgbClr val="56676A"/>
                </a:solidFill>
                <a:latin typeface="Calibri"/>
              </a:rPr>
              <a:t>Swipe, filter and browse nearby listings and services</a:t>
            </a:r>
          </a:p>
        </p:txBody>
      </p:sp>
      <p:cxnSp>
        <p:nvCxnSpPr>
          <p:cNvPr id="17" name="Connector 16"/>
          <p:cNvCxnSpPr/>
          <p:nvPr/>
        </p:nvCxnSpPr>
        <p:spPr>
          <a:xfrm>
            <a:off x="5981547" y="2240280"/>
            <a:ext cx="228600" cy="0"/>
          </a:xfrm>
          <a:prstGeom prst="line">
            <a:avLst/>
          </a:prstGeom>
          <a:ln w="22225">
            <a:solidFill>
              <a:srgbClr val="4F8F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step Chat"/>
          <p:cNvSpPr/>
          <p:nvPr/>
        </p:nvSpPr>
        <p:spPr>
          <a:xfrm>
            <a:off x="6246723" y="1600200"/>
            <a:ext cx="2514600" cy="2514600"/>
          </a:xfrm>
          <a:prstGeom prst="roundRect">
            <a:avLst>
              <a:gd name="adj" fmla="val 4363"/>
            </a:avLst>
          </a:prstGeom>
          <a:solidFill>
            <a:srgbClr val="F3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badge message-circle"/>
          <p:cNvSpPr/>
          <p:nvPr/>
        </p:nvSpPr>
        <p:spPr>
          <a:xfrm>
            <a:off x="6521043" y="1874519"/>
            <a:ext cx="731520" cy="731520"/>
          </a:xfrm>
          <a:prstGeom prst="ellipse">
            <a:avLst/>
          </a:prstGeom>
          <a:solidFill>
            <a:srgbClr val="00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icon message-circle" descr="message-circle_w.png"/>
          <p:cNvPicPr>
            <a:picLocks noChangeAspect="1"/>
          </p:cNvPicPr>
          <p:nvPr/>
        </p:nvPicPr>
        <p:blipFill>
          <a:blip r:embed="rId4"/>
          <a:stretch>
            <a:fillRect/>
          </a:stretch>
        </p:blipFill>
        <p:spPr>
          <a:xfrm>
            <a:off x="6696608" y="2050084"/>
            <a:ext cx="380390" cy="380390"/>
          </a:xfrm>
          <a:prstGeom prst="rect">
            <a:avLst/>
          </a:prstGeom>
        </p:spPr>
      </p:pic>
      <p:sp>
        <p:nvSpPr>
          <p:cNvPr id="21" name="TextBox 20"/>
          <p:cNvSpPr txBox="1"/>
          <p:nvPr/>
        </p:nvSpPr>
        <p:spPr>
          <a:xfrm>
            <a:off x="7389723" y="1947672"/>
            <a:ext cx="1188720" cy="274320"/>
          </a:xfrm>
          <a:prstGeom prst="rect">
            <a:avLst/>
          </a:prstGeom>
          <a:noFill/>
        </p:spPr>
        <p:txBody>
          <a:bodyPr wrap="square" lIns="0" rIns="0" tIns="0" bIns="0" anchor="t">
            <a:spAutoFit/>
          </a:bodyPr>
          <a:lstStyle/>
          <a:p>
            <a:pPr algn="l">
              <a:spcAft>
                <a:spcPts val="0"/>
              </a:spcAft>
              <a:buNone/>
            </a:pPr>
            <a:r>
              <a:rPr sz="1200" b="1" i="0">
                <a:solidFill>
                  <a:srgbClr val="4F8F86"/>
                </a:solidFill>
                <a:latin typeface="Calibri"/>
              </a:rPr>
              <a:t>03</a:t>
            </a:r>
          </a:p>
        </p:txBody>
      </p:sp>
      <p:sp>
        <p:nvSpPr>
          <p:cNvPr id="22" name="TextBox 21"/>
          <p:cNvSpPr txBox="1"/>
          <p:nvPr/>
        </p:nvSpPr>
        <p:spPr>
          <a:xfrm>
            <a:off x="7389723" y="2167128"/>
            <a:ext cx="1280160" cy="411480"/>
          </a:xfrm>
          <a:prstGeom prst="rect">
            <a:avLst/>
          </a:prstGeom>
          <a:noFill/>
        </p:spPr>
        <p:txBody>
          <a:bodyPr wrap="square" lIns="0" rIns="0" tIns="0" bIns="0" anchor="t">
            <a:spAutoFit/>
          </a:bodyPr>
          <a:lstStyle/>
          <a:p>
            <a:pPr algn="l">
              <a:spcAft>
                <a:spcPts val="0"/>
              </a:spcAft>
              <a:buNone/>
            </a:pPr>
            <a:r>
              <a:rPr sz="2200" b="1" i="0">
                <a:solidFill>
                  <a:srgbClr val="1B2B28"/>
                </a:solidFill>
                <a:latin typeface="Arial"/>
              </a:rPr>
              <a:t>Chat</a:t>
            </a:r>
          </a:p>
        </p:txBody>
      </p:sp>
      <p:sp>
        <p:nvSpPr>
          <p:cNvPr id="23" name="TextBox 22"/>
          <p:cNvSpPr txBox="1"/>
          <p:nvPr/>
        </p:nvSpPr>
        <p:spPr>
          <a:xfrm>
            <a:off x="6521043" y="2834640"/>
            <a:ext cx="1965960" cy="1097280"/>
          </a:xfrm>
          <a:prstGeom prst="rect">
            <a:avLst/>
          </a:prstGeom>
          <a:noFill/>
        </p:spPr>
        <p:txBody>
          <a:bodyPr wrap="square" lIns="0" rIns="0" tIns="0" bIns="0" anchor="t">
            <a:spAutoFit/>
          </a:bodyPr>
          <a:lstStyle/>
          <a:p>
            <a:pPr algn="l">
              <a:spcAft>
                <a:spcPts val="0"/>
              </a:spcAft>
              <a:buNone/>
            </a:pPr>
            <a:r>
              <a:rPr sz="1500" b="0" i="0">
                <a:solidFill>
                  <a:srgbClr val="56676A"/>
                </a:solidFill>
                <a:latin typeface="Calibri"/>
              </a:rPr>
              <a:t>Message the seller or poster in realtime, even offline</a:t>
            </a:r>
          </a:p>
        </p:txBody>
      </p:sp>
      <p:cxnSp>
        <p:nvCxnSpPr>
          <p:cNvPr id="24" name="Connector 23"/>
          <p:cNvCxnSpPr/>
          <p:nvPr/>
        </p:nvCxnSpPr>
        <p:spPr>
          <a:xfrm>
            <a:off x="8797899" y="2240280"/>
            <a:ext cx="228600" cy="0"/>
          </a:xfrm>
          <a:prstGeom prst="line">
            <a:avLst/>
          </a:prstGeom>
          <a:ln w="22225">
            <a:solidFill>
              <a:srgbClr val="4F8F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step Rate"/>
          <p:cNvSpPr/>
          <p:nvPr/>
        </p:nvSpPr>
        <p:spPr>
          <a:xfrm>
            <a:off x="9063075" y="1600200"/>
            <a:ext cx="2514600" cy="2514600"/>
          </a:xfrm>
          <a:prstGeom prst="roundRect">
            <a:avLst>
              <a:gd name="adj" fmla="val 4363"/>
            </a:avLst>
          </a:prstGeom>
          <a:solidFill>
            <a:srgbClr val="F3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badge star"/>
          <p:cNvSpPr/>
          <p:nvPr/>
        </p:nvSpPr>
        <p:spPr>
          <a:xfrm>
            <a:off x="9337395" y="1874519"/>
            <a:ext cx="731520" cy="731520"/>
          </a:xfrm>
          <a:prstGeom prst="ellipse">
            <a:avLst/>
          </a:prstGeom>
          <a:solidFill>
            <a:srgbClr val="00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icon star" descr="star_w.png"/>
          <p:cNvPicPr>
            <a:picLocks noChangeAspect="1"/>
          </p:cNvPicPr>
          <p:nvPr/>
        </p:nvPicPr>
        <p:blipFill>
          <a:blip r:embed="rId5"/>
          <a:stretch>
            <a:fillRect/>
          </a:stretch>
        </p:blipFill>
        <p:spPr>
          <a:xfrm>
            <a:off x="9512960" y="2050084"/>
            <a:ext cx="380390" cy="380390"/>
          </a:xfrm>
          <a:prstGeom prst="rect">
            <a:avLst/>
          </a:prstGeom>
        </p:spPr>
      </p:pic>
      <p:sp>
        <p:nvSpPr>
          <p:cNvPr id="28" name="TextBox 27"/>
          <p:cNvSpPr txBox="1"/>
          <p:nvPr/>
        </p:nvSpPr>
        <p:spPr>
          <a:xfrm>
            <a:off x="10206075" y="1947672"/>
            <a:ext cx="1188720" cy="274320"/>
          </a:xfrm>
          <a:prstGeom prst="rect">
            <a:avLst/>
          </a:prstGeom>
          <a:noFill/>
        </p:spPr>
        <p:txBody>
          <a:bodyPr wrap="square" lIns="0" rIns="0" tIns="0" bIns="0" anchor="t">
            <a:spAutoFit/>
          </a:bodyPr>
          <a:lstStyle/>
          <a:p>
            <a:pPr algn="l">
              <a:spcAft>
                <a:spcPts val="0"/>
              </a:spcAft>
              <a:buNone/>
            </a:pPr>
            <a:r>
              <a:rPr sz="1200" b="1" i="0">
                <a:solidFill>
                  <a:srgbClr val="4F8F86"/>
                </a:solidFill>
                <a:latin typeface="Calibri"/>
              </a:rPr>
              <a:t>04</a:t>
            </a:r>
          </a:p>
        </p:txBody>
      </p:sp>
      <p:sp>
        <p:nvSpPr>
          <p:cNvPr id="29" name="TextBox 28"/>
          <p:cNvSpPr txBox="1"/>
          <p:nvPr/>
        </p:nvSpPr>
        <p:spPr>
          <a:xfrm>
            <a:off x="10206075" y="2167128"/>
            <a:ext cx="1280160" cy="411480"/>
          </a:xfrm>
          <a:prstGeom prst="rect">
            <a:avLst/>
          </a:prstGeom>
          <a:noFill/>
        </p:spPr>
        <p:txBody>
          <a:bodyPr wrap="square" lIns="0" rIns="0" tIns="0" bIns="0" anchor="t">
            <a:spAutoFit/>
          </a:bodyPr>
          <a:lstStyle/>
          <a:p>
            <a:pPr algn="l">
              <a:spcAft>
                <a:spcPts val="0"/>
              </a:spcAft>
              <a:buNone/>
            </a:pPr>
            <a:r>
              <a:rPr sz="2200" b="1" i="0">
                <a:solidFill>
                  <a:srgbClr val="1B2B28"/>
                </a:solidFill>
                <a:latin typeface="Arial"/>
              </a:rPr>
              <a:t>Rate</a:t>
            </a:r>
          </a:p>
        </p:txBody>
      </p:sp>
      <p:sp>
        <p:nvSpPr>
          <p:cNvPr id="30" name="TextBox 29"/>
          <p:cNvSpPr txBox="1"/>
          <p:nvPr/>
        </p:nvSpPr>
        <p:spPr>
          <a:xfrm>
            <a:off x="9337395" y="2834640"/>
            <a:ext cx="1965960" cy="1097280"/>
          </a:xfrm>
          <a:prstGeom prst="rect">
            <a:avLst/>
          </a:prstGeom>
          <a:noFill/>
        </p:spPr>
        <p:txBody>
          <a:bodyPr wrap="square" lIns="0" rIns="0" tIns="0" bIns="0" anchor="t">
            <a:spAutoFit/>
          </a:bodyPr>
          <a:lstStyle/>
          <a:p>
            <a:pPr algn="l">
              <a:spcAft>
                <a:spcPts val="0"/>
              </a:spcAft>
              <a:buNone/>
            </a:pPr>
            <a:r>
              <a:rPr sz="1500" b="0" i="0">
                <a:solidFill>
                  <a:srgbClr val="56676A"/>
                </a:solidFill>
                <a:latin typeface="Calibri"/>
              </a:rPr>
              <a:t>Leave a 1–5 star review that builds each user's reputation</a:t>
            </a:r>
          </a:p>
        </p:txBody>
      </p:sp>
      <p:sp>
        <p:nvSpPr>
          <p:cNvPr id="31" name="TextBox 30"/>
          <p:cNvSpPr txBox="1"/>
          <p:nvPr/>
        </p:nvSpPr>
        <p:spPr>
          <a:xfrm>
            <a:off x="548640" y="4526280"/>
            <a:ext cx="3454298" cy="868680"/>
          </a:xfrm>
          <a:prstGeom prst="rect">
            <a:avLst/>
          </a:prstGeom>
          <a:noFill/>
        </p:spPr>
        <p:txBody>
          <a:bodyPr wrap="square" lIns="0" rIns="0" tIns="0" bIns="0" anchor="b">
            <a:spAutoFit/>
          </a:bodyPr>
          <a:lstStyle/>
          <a:p>
            <a:pPr algn="l">
              <a:spcAft>
                <a:spcPts val="0"/>
              </a:spcAft>
              <a:buNone/>
            </a:pPr>
            <a:r>
              <a:rPr sz="5400" b="1" i="0">
                <a:solidFill>
                  <a:srgbClr val="006B5E"/>
                </a:solidFill>
                <a:latin typeface="Arial"/>
              </a:rPr>
              <a:t>6</a:t>
            </a:r>
          </a:p>
        </p:txBody>
      </p:sp>
      <p:sp>
        <p:nvSpPr>
          <p:cNvPr id="32" name="TextBox 31"/>
          <p:cNvSpPr txBox="1"/>
          <p:nvPr/>
        </p:nvSpPr>
        <p:spPr>
          <a:xfrm>
            <a:off x="548640" y="5486400"/>
            <a:ext cx="3179978" cy="640080"/>
          </a:xfrm>
          <a:prstGeom prst="rect">
            <a:avLst/>
          </a:prstGeom>
          <a:noFill/>
        </p:spPr>
        <p:txBody>
          <a:bodyPr wrap="square" lIns="0" rIns="0" tIns="0" bIns="0" anchor="t">
            <a:spAutoFit/>
          </a:bodyPr>
          <a:lstStyle/>
          <a:p>
            <a:pPr algn="l">
              <a:spcAft>
                <a:spcPts val="0"/>
              </a:spcAft>
              <a:buNone/>
            </a:pPr>
            <a:r>
              <a:rPr sz="1500" b="0" i="0">
                <a:solidFill>
                  <a:srgbClr val="56676A"/>
                </a:solidFill>
                <a:latin typeface="Calibri"/>
              </a:rPr>
              <a:t>main sections in the radial home menu</a:t>
            </a:r>
          </a:p>
        </p:txBody>
      </p:sp>
      <p:sp>
        <p:nvSpPr>
          <p:cNvPr id="33" name="TextBox 32"/>
          <p:cNvSpPr txBox="1"/>
          <p:nvPr/>
        </p:nvSpPr>
        <p:spPr>
          <a:xfrm>
            <a:off x="4368698" y="4526280"/>
            <a:ext cx="3454298" cy="868680"/>
          </a:xfrm>
          <a:prstGeom prst="rect">
            <a:avLst/>
          </a:prstGeom>
          <a:noFill/>
        </p:spPr>
        <p:txBody>
          <a:bodyPr wrap="square" lIns="0" rIns="0" tIns="0" bIns="0" anchor="b">
            <a:spAutoFit/>
          </a:bodyPr>
          <a:lstStyle/>
          <a:p>
            <a:pPr algn="l">
              <a:spcAft>
                <a:spcPts val="0"/>
              </a:spcAft>
              <a:buNone/>
            </a:pPr>
            <a:r>
              <a:rPr sz="5400" b="1" i="0">
                <a:solidFill>
                  <a:srgbClr val="006B5E"/>
                </a:solidFill>
                <a:latin typeface="Arial"/>
              </a:rPr>
              <a:t>20</a:t>
            </a:r>
          </a:p>
        </p:txBody>
      </p:sp>
      <p:sp>
        <p:nvSpPr>
          <p:cNvPr id="34" name="TextBox 33"/>
          <p:cNvSpPr txBox="1"/>
          <p:nvPr/>
        </p:nvSpPr>
        <p:spPr>
          <a:xfrm>
            <a:off x="4368698" y="5486400"/>
            <a:ext cx="3179978" cy="640080"/>
          </a:xfrm>
          <a:prstGeom prst="rect">
            <a:avLst/>
          </a:prstGeom>
          <a:noFill/>
        </p:spPr>
        <p:txBody>
          <a:bodyPr wrap="square" lIns="0" rIns="0" tIns="0" bIns="0" anchor="t">
            <a:spAutoFit/>
          </a:bodyPr>
          <a:lstStyle/>
          <a:p>
            <a:pPr algn="l">
              <a:spcAft>
                <a:spcPts val="0"/>
              </a:spcAft>
              <a:buNone/>
            </a:pPr>
            <a:r>
              <a:rPr sz="1500" b="0" i="0">
                <a:solidFill>
                  <a:srgbClr val="56676A"/>
                </a:solidFill>
                <a:latin typeface="Calibri"/>
              </a:rPr>
              <a:t>chat messages loaded per page, cached on-device</a:t>
            </a:r>
          </a:p>
        </p:txBody>
      </p:sp>
      <p:sp>
        <p:nvSpPr>
          <p:cNvPr id="35" name="TextBox 34"/>
          <p:cNvSpPr txBox="1"/>
          <p:nvPr/>
        </p:nvSpPr>
        <p:spPr>
          <a:xfrm>
            <a:off x="8188756" y="4526280"/>
            <a:ext cx="3454298" cy="868680"/>
          </a:xfrm>
          <a:prstGeom prst="rect">
            <a:avLst/>
          </a:prstGeom>
          <a:noFill/>
        </p:spPr>
        <p:txBody>
          <a:bodyPr wrap="square" lIns="0" rIns="0" tIns="0" bIns="0" anchor="b">
            <a:spAutoFit/>
          </a:bodyPr>
          <a:lstStyle/>
          <a:p>
            <a:pPr algn="l">
              <a:spcAft>
                <a:spcPts val="0"/>
              </a:spcAft>
              <a:buNone/>
            </a:pPr>
            <a:r>
              <a:rPr sz="5400" b="1" i="0">
                <a:solidFill>
                  <a:srgbClr val="006B5E"/>
                </a:solidFill>
                <a:latin typeface="Arial"/>
              </a:rPr>
              <a:t>2</a:t>
            </a:r>
          </a:p>
        </p:txBody>
      </p:sp>
      <p:sp>
        <p:nvSpPr>
          <p:cNvPr id="36" name="TextBox 35"/>
          <p:cNvSpPr txBox="1"/>
          <p:nvPr/>
        </p:nvSpPr>
        <p:spPr>
          <a:xfrm>
            <a:off x="8188756" y="5486400"/>
            <a:ext cx="3179978" cy="640080"/>
          </a:xfrm>
          <a:prstGeom prst="rect">
            <a:avLst/>
          </a:prstGeom>
          <a:noFill/>
        </p:spPr>
        <p:txBody>
          <a:bodyPr wrap="square" lIns="0" rIns="0" tIns="0" bIns="0" anchor="t">
            <a:spAutoFit/>
          </a:bodyPr>
          <a:lstStyle/>
          <a:p>
            <a:pPr algn="l">
              <a:spcAft>
                <a:spcPts val="0"/>
              </a:spcAft>
              <a:buNone/>
            </a:pPr>
            <a:r>
              <a:rPr sz="1500" b="0" i="0">
                <a:solidFill>
                  <a:srgbClr val="56676A"/>
                </a:solidFill>
                <a:latin typeface="Calibri"/>
              </a:rPr>
              <a:t>performance tiers, tuned for low-end phones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822960"/>
          </a:xfrm>
        </p:spPr>
        <p:txBody>
          <a:bodyPr lIns="0" rIns="0" tIns="0" bIns="0" anchor="ctr" wrap="square"/>
          <a:lstStyle/>
          <a:p>
            <a:pPr algn="l"/>
            <a:r>
              <a:rPr sz="3200" b="1">
                <a:solidFill>
                  <a:srgbClr val="1B2B28"/>
                </a:solidFill>
                <a:latin typeface="Arial"/>
              </a:rPr>
              <a:t>Four guarded steps between sign-up and the app</a:t>
            </a:r>
          </a:p>
        </p:txBody>
      </p:sp>
      <p:sp>
        <p:nvSpPr>
          <p:cNvPr id="3" name="kicker"/>
          <p:cNvSpPr txBox="1"/>
          <p:nvPr/>
        </p:nvSpPr>
        <p:spPr>
          <a:xfrm>
            <a:off x="548640" y="201168"/>
            <a:ext cx="7315200" cy="228600"/>
          </a:xfrm>
          <a:prstGeom prst="rect">
            <a:avLst/>
          </a:prstGeom>
          <a:noFill/>
        </p:spPr>
        <p:txBody>
          <a:bodyPr wrap="square" lIns="0" rIns="0" tIns="0" bIns="0" anchor="t">
            <a:spAutoFit/>
          </a:bodyPr>
          <a:lstStyle/>
          <a:p>
            <a:pPr algn="l">
              <a:spcAft>
                <a:spcPts val="0"/>
              </a:spcAft>
              <a:buNone/>
            </a:pPr>
            <a:r>
              <a:rPr sz="1100" b="1" i="0">
                <a:solidFill>
                  <a:srgbClr val="4F8F86"/>
                </a:solidFill>
                <a:latin typeface="Calibri"/>
              </a:rPr>
              <a:t>ACCOUNTS &amp; SECURITY</a:t>
            </a:r>
          </a:p>
        </p:txBody>
      </p:sp>
      <p:sp>
        <p:nvSpPr>
          <p:cNvPr id="4" name="step Sign up or sign in"/>
          <p:cNvSpPr/>
          <p:nvPr/>
        </p:nvSpPr>
        <p:spPr>
          <a:xfrm>
            <a:off x="563727" y="1554480"/>
            <a:ext cx="2560320" cy="2606040"/>
          </a:xfrm>
          <a:prstGeom prst="roundRect">
            <a:avLst>
              <a:gd name="adj" fmla="val 4285"/>
            </a:avLst>
          </a:prstGeom>
          <a:solidFill>
            <a:srgbClr val="F3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adge user-plus"/>
          <p:cNvSpPr/>
          <p:nvPr/>
        </p:nvSpPr>
        <p:spPr>
          <a:xfrm>
            <a:off x="838047" y="1828800"/>
            <a:ext cx="685800" cy="685800"/>
          </a:xfrm>
          <a:prstGeom prst="ellipse">
            <a:avLst/>
          </a:prstGeom>
          <a:solidFill>
            <a:srgbClr val="00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icon user-plus" descr="user-plus_w.png"/>
          <p:cNvPicPr>
            <a:picLocks noChangeAspect="1"/>
          </p:cNvPicPr>
          <p:nvPr/>
        </p:nvPicPr>
        <p:blipFill>
          <a:blip r:embed="rId2"/>
          <a:stretch>
            <a:fillRect/>
          </a:stretch>
        </p:blipFill>
        <p:spPr>
          <a:xfrm>
            <a:off x="1002639" y="1993392"/>
            <a:ext cx="356616" cy="356616"/>
          </a:xfrm>
          <a:prstGeom prst="rect">
            <a:avLst/>
          </a:prstGeom>
        </p:spPr>
      </p:pic>
      <p:sp>
        <p:nvSpPr>
          <p:cNvPr id="7" name="TextBox 6"/>
          <p:cNvSpPr txBox="1"/>
          <p:nvPr/>
        </p:nvSpPr>
        <p:spPr>
          <a:xfrm>
            <a:off x="838047" y="2651760"/>
            <a:ext cx="2011679" cy="365760"/>
          </a:xfrm>
          <a:prstGeom prst="rect">
            <a:avLst/>
          </a:prstGeom>
          <a:noFill/>
        </p:spPr>
        <p:txBody>
          <a:bodyPr wrap="square" lIns="0" rIns="0" tIns="0" bIns="0" anchor="t">
            <a:spAutoFit/>
          </a:bodyPr>
          <a:lstStyle/>
          <a:p>
            <a:pPr algn="l">
              <a:spcAft>
                <a:spcPts val="0"/>
              </a:spcAft>
              <a:buNone/>
            </a:pPr>
            <a:r>
              <a:rPr sz="1700" b="1" i="0">
                <a:solidFill>
                  <a:srgbClr val="1B2B28"/>
                </a:solidFill>
                <a:latin typeface="Arial"/>
              </a:rPr>
              <a:t>Sign up or sign in</a:t>
            </a:r>
          </a:p>
        </p:txBody>
      </p:sp>
      <p:sp>
        <p:nvSpPr>
          <p:cNvPr id="8" name="TextBox 7"/>
          <p:cNvSpPr txBox="1"/>
          <p:nvPr/>
        </p:nvSpPr>
        <p:spPr>
          <a:xfrm>
            <a:off x="838047" y="3035808"/>
            <a:ext cx="2057400" cy="1051560"/>
          </a:xfrm>
          <a:prstGeom prst="rect">
            <a:avLst/>
          </a:prstGeom>
          <a:noFill/>
        </p:spPr>
        <p:txBody>
          <a:bodyPr wrap="square" lIns="0" rIns="0" tIns="0" bIns="0" anchor="t">
            <a:spAutoFit/>
          </a:bodyPr>
          <a:lstStyle/>
          <a:p>
            <a:pPr algn="l">
              <a:spcAft>
                <a:spcPts val="0"/>
              </a:spcAft>
              <a:buNone/>
            </a:pPr>
            <a:r>
              <a:rPr sz="1400" b="0" i="0">
                <a:solidFill>
                  <a:srgbClr val="56676A"/>
                </a:solidFill>
                <a:latin typeface="Calibri"/>
              </a:rPr>
              <a:t>Email, password and display name; a math captcha must be solved first to stop bots</a:t>
            </a:r>
          </a:p>
        </p:txBody>
      </p:sp>
      <p:cxnSp>
        <p:nvCxnSpPr>
          <p:cNvPr id="9" name="Connector 8"/>
          <p:cNvCxnSpPr/>
          <p:nvPr/>
        </p:nvCxnSpPr>
        <p:spPr>
          <a:xfrm>
            <a:off x="3160623" y="2852928"/>
            <a:ext cx="201168" cy="0"/>
          </a:xfrm>
          <a:prstGeom prst="line">
            <a:avLst/>
          </a:prstGeom>
          <a:ln w="22225">
            <a:solidFill>
              <a:srgbClr val="4F8F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step Verify email"/>
          <p:cNvSpPr/>
          <p:nvPr/>
        </p:nvSpPr>
        <p:spPr>
          <a:xfrm>
            <a:off x="3398367" y="1554480"/>
            <a:ext cx="2560320" cy="2606040"/>
          </a:xfrm>
          <a:prstGeom prst="roundRect">
            <a:avLst>
              <a:gd name="adj" fmla="val 4285"/>
            </a:avLst>
          </a:prstGeom>
          <a:solidFill>
            <a:srgbClr val="F3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badge mail-check"/>
          <p:cNvSpPr/>
          <p:nvPr/>
        </p:nvSpPr>
        <p:spPr>
          <a:xfrm>
            <a:off x="3672687" y="1828800"/>
            <a:ext cx="685800" cy="685800"/>
          </a:xfrm>
          <a:prstGeom prst="ellipse">
            <a:avLst/>
          </a:prstGeom>
          <a:solidFill>
            <a:srgbClr val="00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icon mail-check" descr="mail-check_w.png"/>
          <p:cNvPicPr>
            <a:picLocks noChangeAspect="1"/>
          </p:cNvPicPr>
          <p:nvPr/>
        </p:nvPicPr>
        <p:blipFill>
          <a:blip r:embed="rId3"/>
          <a:stretch>
            <a:fillRect/>
          </a:stretch>
        </p:blipFill>
        <p:spPr>
          <a:xfrm>
            <a:off x="3837279" y="1993392"/>
            <a:ext cx="356616" cy="356616"/>
          </a:xfrm>
          <a:prstGeom prst="rect">
            <a:avLst/>
          </a:prstGeom>
        </p:spPr>
      </p:pic>
      <p:sp>
        <p:nvSpPr>
          <p:cNvPr id="13" name="TextBox 12"/>
          <p:cNvSpPr txBox="1"/>
          <p:nvPr/>
        </p:nvSpPr>
        <p:spPr>
          <a:xfrm>
            <a:off x="3672687" y="2651760"/>
            <a:ext cx="2011679" cy="365760"/>
          </a:xfrm>
          <a:prstGeom prst="rect">
            <a:avLst/>
          </a:prstGeom>
          <a:noFill/>
        </p:spPr>
        <p:txBody>
          <a:bodyPr wrap="square" lIns="0" rIns="0" tIns="0" bIns="0" anchor="t">
            <a:spAutoFit/>
          </a:bodyPr>
          <a:lstStyle/>
          <a:p>
            <a:pPr algn="l">
              <a:spcAft>
                <a:spcPts val="0"/>
              </a:spcAft>
              <a:buNone/>
            </a:pPr>
            <a:r>
              <a:rPr sz="1700" b="1" i="0">
                <a:solidFill>
                  <a:srgbClr val="1B2B28"/>
                </a:solidFill>
                <a:latin typeface="Arial"/>
              </a:rPr>
              <a:t>Verify email</a:t>
            </a:r>
          </a:p>
        </p:txBody>
      </p:sp>
      <p:sp>
        <p:nvSpPr>
          <p:cNvPr id="14" name="TextBox 13"/>
          <p:cNvSpPr txBox="1"/>
          <p:nvPr/>
        </p:nvSpPr>
        <p:spPr>
          <a:xfrm>
            <a:off x="3672687" y="3035808"/>
            <a:ext cx="2057400" cy="1051560"/>
          </a:xfrm>
          <a:prstGeom prst="rect">
            <a:avLst/>
          </a:prstGeom>
          <a:noFill/>
        </p:spPr>
        <p:txBody>
          <a:bodyPr wrap="square" lIns="0" rIns="0" tIns="0" bIns="0" anchor="t">
            <a:spAutoFit/>
          </a:bodyPr>
          <a:lstStyle/>
          <a:p>
            <a:pPr algn="l">
              <a:spcAft>
                <a:spcPts val="0"/>
              </a:spcAft>
              <a:buNone/>
            </a:pPr>
            <a:r>
              <a:rPr sz="1400" b="0" i="0">
                <a:solidFill>
                  <a:srgbClr val="56676A"/>
                </a:solidFill>
                <a:latin typeface="Calibri"/>
              </a:rPr>
              <a:t>Held on a “Verify email” screen until the link is tapped, then “I've verified”; Resend is available</a:t>
            </a:r>
          </a:p>
        </p:txBody>
      </p:sp>
      <p:cxnSp>
        <p:nvCxnSpPr>
          <p:cNvPr id="15" name="Connector 14"/>
          <p:cNvCxnSpPr/>
          <p:nvPr/>
        </p:nvCxnSpPr>
        <p:spPr>
          <a:xfrm>
            <a:off x="5995263" y="2852928"/>
            <a:ext cx="201168" cy="0"/>
          </a:xfrm>
          <a:prstGeom prst="line">
            <a:avLst/>
          </a:prstGeom>
          <a:ln w="22225">
            <a:solidFill>
              <a:srgbClr val="4F8F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step Accept the terms"/>
          <p:cNvSpPr/>
          <p:nvPr/>
        </p:nvSpPr>
        <p:spPr>
          <a:xfrm>
            <a:off x="6233007" y="1554480"/>
            <a:ext cx="2560320" cy="2606040"/>
          </a:xfrm>
          <a:prstGeom prst="roundRect">
            <a:avLst>
              <a:gd name="adj" fmla="val 4285"/>
            </a:avLst>
          </a:prstGeom>
          <a:solidFill>
            <a:srgbClr val="F3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badge file-check"/>
          <p:cNvSpPr/>
          <p:nvPr/>
        </p:nvSpPr>
        <p:spPr>
          <a:xfrm>
            <a:off x="6507327" y="1828800"/>
            <a:ext cx="685800" cy="685800"/>
          </a:xfrm>
          <a:prstGeom prst="ellipse">
            <a:avLst/>
          </a:prstGeom>
          <a:solidFill>
            <a:srgbClr val="00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icon file-check" descr="file-check_w.png"/>
          <p:cNvPicPr>
            <a:picLocks noChangeAspect="1"/>
          </p:cNvPicPr>
          <p:nvPr/>
        </p:nvPicPr>
        <p:blipFill>
          <a:blip r:embed="rId4"/>
          <a:stretch>
            <a:fillRect/>
          </a:stretch>
        </p:blipFill>
        <p:spPr>
          <a:xfrm>
            <a:off x="6671919" y="1993392"/>
            <a:ext cx="356616" cy="356616"/>
          </a:xfrm>
          <a:prstGeom prst="rect">
            <a:avLst/>
          </a:prstGeom>
        </p:spPr>
      </p:pic>
      <p:sp>
        <p:nvSpPr>
          <p:cNvPr id="19" name="TextBox 18"/>
          <p:cNvSpPr txBox="1"/>
          <p:nvPr/>
        </p:nvSpPr>
        <p:spPr>
          <a:xfrm>
            <a:off x="6507327" y="2651760"/>
            <a:ext cx="2011679" cy="365760"/>
          </a:xfrm>
          <a:prstGeom prst="rect">
            <a:avLst/>
          </a:prstGeom>
          <a:noFill/>
        </p:spPr>
        <p:txBody>
          <a:bodyPr wrap="square" lIns="0" rIns="0" tIns="0" bIns="0" anchor="t">
            <a:spAutoFit/>
          </a:bodyPr>
          <a:lstStyle/>
          <a:p>
            <a:pPr algn="l">
              <a:spcAft>
                <a:spcPts val="0"/>
              </a:spcAft>
              <a:buNone/>
            </a:pPr>
            <a:r>
              <a:rPr sz="1700" b="1" i="0">
                <a:solidFill>
                  <a:srgbClr val="1B2B28"/>
                </a:solidFill>
                <a:latin typeface="Arial"/>
              </a:rPr>
              <a:t>Accept the terms</a:t>
            </a:r>
          </a:p>
        </p:txBody>
      </p:sp>
      <p:sp>
        <p:nvSpPr>
          <p:cNvPr id="20" name="TextBox 19"/>
          <p:cNvSpPr txBox="1"/>
          <p:nvPr/>
        </p:nvSpPr>
        <p:spPr>
          <a:xfrm>
            <a:off x="6507327" y="3035808"/>
            <a:ext cx="2057400" cy="1051560"/>
          </a:xfrm>
          <a:prstGeom prst="rect">
            <a:avLst/>
          </a:prstGeom>
          <a:noFill/>
        </p:spPr>
        <p:txBody>
          <a:bodyPr wrap="square" lIns="0" rIns="0" tIns="0" bIns="0" anchor="t">
            <a:spAutoFit/>
          </a:bodyPr>
          <a:lstStyle/>
          <a:p>
            <a:pPr algn="l">
              <a:spcAft>
                <a:spcPts val="0"/>
              </a:spcAft>
              <a:buNone/>
            </a:pPr>
            <a:r>
              <a:rPr sz="1400" b="0" i="0">
                <a:solidFill>
                  <a:srgbClr val="56676A"/>
                </a:solidFill>
                <a:latin typeface="Calibri"/>
              </a:rPr>
              <a:t>Terms &amp; EULA acceptance is tracked per version; a new version must be accepted first</a:t>
            </a:r>
          </a:p>
        </p:txBody>
      </p:sp>
      <p:cxnSp>
        <p:nvCxnSpPr>
          <p:cNvPr id="21" name="Connector 20"/>
          <p:cNvCxnSpPr/>
          <p:nvPr/>
        </p:nvCxnSpPr>
        <p:spPr>
          <a:xfrm>
            <a:off x="8829903" y="2852928"/>
            <a:ext cx="201168" cy="0"/>
          </a:xfrm>
          <a:prstGeom prst="line">
            <a:avLst/>
          </a:prstGeom>
          <a:ln w="22225">
            <a:solidFill>
              <a:srgbClr val="4F8F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step Into the app"/>
          <p:cNvSpPr/>
          <p:nvPr/>
        </p:nvSpPr>
        <p:spPr>
          <a:xfrm>
            <a:off x="9067647" y="1554480"/>
            <a:ext cx="2560320" cy="2606040"/>
          </a:xfrm>
          <a:prstGeom prst="roundRect">
            <a:avLst>
              <a:gd name="adj" fmla="val 4285"/>
            </a:avLst>
          </a:prstGeom>
          <a:solidFill>
            <a:srgbClr val="00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badge check"/>
          <p:cNvSpPr/>
          <p:nvPr/>
        </p:nvSpPr>
        <p:spPr>
          <a:xfrm>
            <a:off x="9341967" y="1828800"/>
            <a:ext cx="685800" cy="6858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icon check" descr="check_t.png"/>
          <p:cNvPicPr>
            <a:picLocks noChangeAspect="1"/>
          </p:cNvPicPr>
          <p:nvPr/>
        </p:nvPicPr>
        <p:blipFill>
          <a:blip r:embed="rId5"/>
          <a:stretch>
            <a:fillRect/>
          </a:stretch>
        </p:blipFill>
        <p:spPr>
          <a:xfrm>
            <a:off x="9506559" y="1993392"/>
            <a:ext cx="356616" cy="356616"/>
          </a:xfrm>
          <a:prstGeom prst="rect">
            <a:avLst/>
          </a:prstGeom>
        </p:spPr>
      </p:pic>
      <p:sp>
        <p:nvSpPr>
          <p:cNvPr id="25" name="TextBox 24"/>
          <p:cNvSpPr txBox="1"/>
          <p:nvPr/>
        </p:nvSpPr>
        <p:spPr>
          <a:xfrm>
            <a:off x="9341967" y="2651760"/>
            <a:ext cx="2011679" cy="365760"/>
          </a:xfrm>
          <a:prstGeom prst="rect">
            <a:avLst/>
          </a:prstGeom>
          <a:noFill/>
        </p:spPr>
        <p:txBody>
          <a:bodyPr wrap="square" lIns="0" rIns="0" tIns="0" bIns="0" anchor="t">
            <a:spAutoFit/>
          </a:bodyPr>
          <a:lstStyle/>
          <a:p>
            <a:pPr algn="l">
              <a:spcAft>
                <a:spcPts val="0"/>
              </a:spcAft>
              <a:buNone/>
            </a:pPr>
            <a:r>
              <a:rPr sz="1700" b="1" i="0">
                <a:solidFill>
                  <a:srgbClr val="FFFFFF"/>
                </a:solidFill>
                <a:latin typeface="Arial"/>
              </a:rPr>
              <a:t>Into the app</a:t>
            </a:r>
          </a:p>
        </p:txBody>
      </p:sp>
      <p:sp>
        <p:nvSpPr>
          <p:cNvPr id="26" name="TextBox 25"/>
          <p:cNvSpPr txBox="1"/>
          <p:nvPr/>
        </p:nvSpPr>
        <p:spPr>
          <a:xfrm>
            <a:off x="9341967" y="3035808"/>
            <a:ext cx="2057400" cy="1051560"/>
          </a:xfrm>
          <a:prstGeom prst="rect">
            <a:avLst/>
          </a:prstGeom>
          <a:noFill/>
        </p:spPr>
        <p:txBody>
          <a:bodyPr wrap="square" lIns="0" rIns="0" tIns="0" bIns="0" anchor="t">
            <a:spAutoFit/>
          </a:bodyPr>
          <a:lstStyle/>
          <a:p>
            <a:pPr algn="l">
              <a:spcAft>
                <a:spcPts val="0"/>
              </a:spcAft>
              <a:buNone/>
            </a:pPr>
            <a:r>
              <a:rPr sz="1400" b="0" i="0">
                <a:solidFill>
                  <a:srgbClr val="DCEDEA"/>
                </a:solidFill>
                <a:latin typeface="Calibri"/>
              </a:rPr>
              <a:t>The session persists, so most users sign in once</a:t>
            </a:r>
          </a:p>
        </p:txBody>
      </p:sp>
      <p:sp>
        <p:nvSpPr>
          <p:cNvPr id="27" name="Never locked out"/>
          <p:cNvSpPr/>
          <p:nvPr/>
        </p:nvSpPr>
        <p:spPr>
          <a:xfrm>
            <a:off x="548640" y="4526280"/>
            <a:ext cx="5364327" cy="1325880"/>
          </a:xfrm>
          <a:prstGeom prst="roundRect">
            <a:avLst>
              <a:gd name="adj" fmla="val 8275"/>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badge shield-check"/>
          <p:cNvSpPr/>
          <p:nvPr/>
        </p:nvSpPr>
        <p:spPr>
          <a:xfrm>
            <a:off x="822959" y="4846320"/>
            <a:ext cx="685800" cy="685800"/>
          </a:xfrm>
          <a:prstGeom prst="ellipse">
            <a:avLst/>
          </a:prstGeom>
          <a:solidFill>
            <a:srgbClr val="FFB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icon shield-check" descr="shield-check_d.png"/>
          <p:cNvPicPr>
            <a:picLocks noChangeAspect="1"/>
          </p:cNvPicPr>
          <p:nvPr/>
        </p:nvPicPr>
        <p:blipFill>
          <a:blip r:embed="rId6"/>
          <a:stretch>
            <a:fillRect/>
          </a:stretch>
        </p:blipFill>
        <p:spPr>
          <a:xfrm>
            <a:off x="987551" y="5010912"/>
            <a:ext cx="356616" cy="356616"/>
          </a:xfrm>
          <a:prstGeom prst="rect">
            <a:avLst/>
          </a:prstGeom>
        </p:spPr>
      </p:pic>
      <p:sp>
        <p:nvSpPr>
          <p:cNvPr id="30" name="TextBox 29"/>
          <p:cNvSpPr txBox="1"/>
          <p:nvPr/>
        </p:nvSpPr>
        <p:spPr>
          <a:xfrm>
            <a:off x="1737360" y="4800600"/>
            <a:ext cx="3947007" cy="365760"/>
          </a:xfrm>
          <a:prstGeom prst="rect">
            <a:avLst/>
          </a:prstGeom>
          <a:noFill/>
        </p:spPr>
        <p:txBody>
          <a:bodyPr wrap="square" lIns="0" rIns="0" tIns="0" bIns="0" anchor="t">
            <a:spAutoFit/>
          </a:bodyPr>
          <a:lstStyle/>
          <a:p>
            <a:pPr algn="l">
              <a:spcAft>
                <a:spcPts val="0"/>
              </a:spcAft>
              <a:buNone/>
            </a:pPr>
            <a:r>
              <a:rPr sz="1700" b="1" i="0">
                <a:solidFill>
                  <a:srgbClr val="1B2B28"/>
                </a:solidFill>
                <a:latin typeface="Arial"/>
              </a:rPr>
              <a:t>Never locked out</a:t>
            </a:r>
          </a:p>
        </p:txBody>
      </p:sp>
      <p:sp>
        <p:nvSpPr>
          <p:cNvPr id="31" name="TextBox 30"/>
          <p:cNvSpPr txBox="1"/>
          <p:nvPr/>
        </p:nvSpPr>
        <p:spPr>
          <a:xfrm>
            <a:off x="1737360" y="5166360"/>
            <a:ext cx="3947007" cy="548640"/>
          </a:xfrm>
          <a:prstGeom prst="rect">
            <a:avLst/>
          </a:prstGeom>
          <a:noFill/>
        </p:spPr>
        <p:txBody>
          <a:bodyPr wrap="square" lIns="0" rIns="0" tIns="0" bIns="0" anchor="t">
            <a:spAutoFit/>
          </a:bodyPr>
          <a:lstStyle/>
          <a:p>
            <a:pPr algn="l">
              <a:spcAft>
                <a:spcPts val="0"/>
              </a:spcAft>
              <a:buNone/>
            </a:pPr>
            <a:r>
              <a:rPr sz="1400" b="0" i="0">
                <a:solidFill>
                  <a:srgbClr val="56676A"/>
                </a:solidFill>
                <a:latin typeface="Calibri"/>
              </a:rPr>
              <a:t>Loading or offline states don't block the user at any gate</a:t>
            </a:r>
          </a:p>
        </p:txBody>
      </p:sp>
      <p:sp>
        <p:nvSpPr>
          <p:cNvPr id="32" name="Clean sign-out"/>
          <p:cNvSpPr/>
          <p:nvPr/>
        </p:nvSpPr>
        <p:spPr>
          <a:xfrm>
            <a:off x="6278727" y="4526280"/>
            <a:ext cx="5364327" cy="1325880"/>
          </a:xfrm>
          <a:prstGeom prst="roundRect">
            <a:avLst>
              <a:gd name="adj" fmla="val 8275"/>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badge log-out"/>
          <p:cNvSpPr/>
          <p:nvPr/>
        </p:nvSpPr>
        <p:spPr>
          <a:xfrm>
            <a:off x="6553047" y="4846320"/>
            <a:ext cx="685800" cy="685800"/>
          </a:xfrm>
          <a:prstGeom prst="ellipse">
            <a:avLst/>
          </a:prstGeom>
          <a:solidFill>
            <a:srgbClr val="FFB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icon log-out" descr="log-out_d.png"/>
          <p:cNvPicPr>
            <a:picLocks noChangeAspect="1"/>
          </p:cNvPicPr>
          <p:nvPr/>
        </p:nvPicPr>
        <p:blipFill>
          <a:blip r:embed="rId7"/>
          <a:stretch>
            <a:fillRect/>
          </a:stretch>
        </p:blipFill>
        <p:spPr>
          <a:xfrm>
            <a:off x="6717639" y="5010912"/>
            <a:ext cx="356616" cy="356616"/>
          </a:xfrm>
          <a:prstGeom prst="rect">
            <a:avLst/>
          </a:prstGeom>
        </p:spPr>
      </p:pic>
      <p:sp>
        <p:nvSpPr>
          <p:cNvPr id="35" name="TextBox 34"/>
          <p:cNvSpPr txBox="1"/>
          <p:nvPr/>
        </p:nvSpPr>
        <p:spPr>
          <a:xfrm>
            <a:off x="7467447" y="4800600"/>
            <a:ext cx="3947007" cy="365760"/>
          </a:xfrm>
          <a:prstGeom prst="rect">
            <a:avLst/>
          </a:prstGeom>
          <a:noFill/>
        </p:spPr>
        <p:txBody>
          <a:bodyPr wrap="square" lIns="0" rIns="0" tIns="0" bIns="0" anchor="t">
            <a:spAutoFit/>
          </a:bodyPr>
          <a:lstStyle/>
          <a:p>
            <a:pPr algn="l">
              <a:spcAft>
                <a:spcPts val="0"/>
              </a:spcAft>
              <a:buNone/>
            </a:pPr>
            <a:r>
              <a:rPr sz="1700" b="1" i="0">
                <a:solidFill>
                  <a:srgbClr val="1B2B28"/>
                </a:solidFill>
                <a:latin typeface="Arial"/>
              </a:rPr>
              <a:t>Clean sign-out</a:t>
            </a:r>
          </a:p>
        </p:txBody>
      </p:sp>
      <p:sp>
        <p:nvSpPr>
          <p:cNvPr id="36" name="TextBox 35"/>
          <p:cNvSpPr txBox="1"/>
          <p:nvPr/>
        </p:nvSpPr>
        <p:spPr>
          <a:xfrm>
            <a:off x="7467447" y="5166360"/>
            <a:ext cx="3947007" cy="548640"/>
          </a:xfrm>
          <a:prstGeom prst="rect">
            <a:avLst/>
          </a:prstGeom>
          <a:noFill/>
        </p:spPr>
        <p:txBody>
          <a:bodyPr wrap="square" lIns="0" rIns="0" tIns="0" bIns="0" anchor="t">
            <a:spAutoFit/>
          </a:bodyPr>
          <a:lstStyle/>
          <a:p>
            <a:pPr algn="l">
              <a:spcAft>
                <a:spcPts val="0"/>
              </a:spcAft>
              <a:buNone/>
            </a:pPr>
            <a:r>
              <a:rPr sz="1400" b="0" i="0">
                <a:solidFill>
                  <a:srgbClr val="56676A"/>
                </a:solidFill>
                <a:latin typeface="Calibri"/>
              </a:rPr>
              <a:t>From Profile, with confirmation; cached chats and swipe history are wiped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822960"/>
          </a:xfrm>
        </p:spPr>
        <p:txBody>
          <a:bodyPr lIns="0" rIns="0" tIns="0" bIns="0" anchor="ctr" wrap="square"/>
          <a:lstStyle/>
          <a:p>
            <a:pPr algn="l"/>
            <a:r>
              <a:rPr sz="3200" b="1">
                <a:solidFill>
                  <a:srgbClr val="1B2B28"/>
                </a:solidFill>
                <a:latin typeface="Arial"/>
              </a:rPr>
              <a:t>A radial menu replaces the bottom navigation bar</a:t>
            </a:r>
          </a:p>
        </p:txBody>
      </p:sp>
      <p:sp>
        <p:nvSpPr>
          <p:cNvPr id="3" name="kicker"/>
          <p:cNvSpPr txBox="1"/>
          <p:nvPr/>
        </p:nvSpPr>
        <p:spPr>
          <a:xfrm>
            <a:off x="548640" y="201168"/>
            <a:ext cx="7315200" cy="228600"/>
          </a:xfrm>
          <a:prstGeom prst="rect">
            <a:avLst/>
          </a:prstGeom>
          <a:noFill/>
        </p:spPr>
        <p:txBody>
          <a:bodyPr wrap="square" lIns="0" rIns="0" tIns="0" bIns="0" anchor="t">
            <a:spAutoFit/>
          </a:bodyPr>
          <a:lstStyle/>
          <a:p>
            <a:pPr algn="l">
              <a:spcAft>
                <a:spcPts val="0"/>
              </a:spcAft>
              <a:buNone/>
            </a:pPr>
            <a:r>
              <a:rPr sz="1100" b="1" i="0">
                <a:solidFill>
                  <a:srgbClr val="4F8F86"/>
                </a:solidFill>
                <a:latin typeface="Calibri"/>
              </a:rPr>
              <a:t>HOME &amp; NAVIGATION</a:t>
            </a:r>
          </a:p>
        </p:txBody>
      </p:sp>
      <p:cxnSp>
        <p:nvCxnSpPr>
          <p:cNvPr id="4" name="Connector 3"/>
          <p:cNvCxnSpPr/>
          <p:nvPr/>
        </p:nvCxnSpPr>
        <p:spPr>
          <a:xfrm flipV="1">
            <a:off x="3063240" y="2148839"/>
            <a:ext cx="0" cy="1783081"/>
          </a:xfrm>
          <a:prstGeom prst="line">
            <a:avLst/>
          </a:prstGeom>
          <a:ln w="19050">
            <a:solidFill>
              <a:srgbClr val="B9D6D0"/>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3063240" y="3040380"/>
            <a:ext cx="1544192" cy="891540"/>
          </a:xfrm>
          <a:prstGeom prst="line">
            <a:avLst/>
          </a:prstGeom>
          <a:ln w="19050">
            <a:solidFill>
              <a:srgbClr val="B9D6D0"/>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063240" y="3931920"/>
            <a:ext cx="1544192" cy="891539"/>
          </a:xfrm>
          <a:prstGeom prst="line">
            <a:avLst/>
          </a:prstGeom>
          <a:ln w="19050">
            <a:solidFill>
              <a:srgbClr val="B9D6D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3063240" y="3931920"/>
            <a:ext cx="0" cy="1783080"/>
          </a:xfrm>
          <a:prstGeom prst="line">
            <a:avLst/>
          </a:prstGeom>
          <a:ln w="19050">
            <a:solidFill>
              <a:srgbClr val="B9D6D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1519047" y="3931920"/>
            <a:ext cx="1544193" cy="891539"/>
          </a:xfrm>
          <a:prstGeom prst="line">
            <a:avLst/>
          </a:prstGeom>
          <a:ln w="19050">
            <a:solidFill>
              <a:srgbClr val="B9D6D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flipV="1">
            <a:off x="1519047" y="3040379"/>
            <a:ext cx="1544193" cy="891541"/>
          </a:xfrm>
          <a:prstGeom prst="line">
            <a:avLst/>
          </a:prstGeom>
          <a:ln w="19050">
            <a:solidFill>
              <a:srgbClr val="B9D6D0"/>
            </a:solidFill>
          </a:ln>
        </p:spPr>
        <p:style>
          <a:lnRef idx="2">
            <a:schemeClr val="accent1"/>
          </a:lnRef>
          <a:fillRef idx="0">
            <a:schemeClr val="accent1"/>
          </a:fillRef>
          <a:effectRef idx="1">
            <a:schemeClr val="accent1"/>
          </a:effectRef>
          <a:fontRef idx="minor">
            <a:schemeClr val="tx1"/>
          </a:fontRef>
        </p:style>
      </p:cxnSp>
      <p:sp>
        <p:nvSpPr>
          <p:cNvPr id="10" name="badge compass"/>
          <p:cNvSpPr/>
          <p:nvPr/>
        </p:nvSpPr>
        <p:spPr>
          <a:xfrm>
            <a:off x="2674620" y="1760219"/>
            <a:ext cx="777240" cy="777240"/>
          </a:xfrm>
          <a:prstGeom prst="ellipse">
            <a:avLst/>
          </a:prstGeom>
          <a:solidFill>
            <a:srgbClr val="00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compass" descr="compass_w.png"/>
          <p:cNvPicPr>
            <a:picLocks noChangeAspect="1"/>
          </p:cNvPicPr>
          <p:nvPr/>
        </p:nvPicPr>
        <p:blipFill>
          <a:blip r:embed="rId2"/>
          <a:stretch>
            <a:fillRect/>
          </a:stretch>
        </p:blipFill>
        <p:spPr>
          <a:xfrm>
            <a:off x="2861157" y="1946757"/>
            <a:ext cx="404164" cy="404164"/>
          </a:xfrm>
          <a:prstGeom prst="rect">
            <a:avLst/>
          </a:prstGeom>
        </p:spPr>
      </p:pic>
      <p:sp>
        <p:nvSpPr>
          <p:cNvPr id="12" name="badge briefcase"/>
          <p:cNvSpPr/>
          <p:nvPr/>
        </p:nvSpPr>
        <p:spPr>
          <a:xfrm>
            <a:off x="4218812" y="2651760"/>
            <a:ext cx="777240" cy="777240"/>
          </a:xfrm>
          <a:prstGeom prst="ellipse">
            <a:avLst/>
          </a:prstGeom>
          <a:solidFill>
            <a:srgbClr val="00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icon briefcase" descr="briefcase_w.png"/>
          <p:cNvPicPr>
            <a:picLocks noChangeAspect="1"/>
          </p:cNvPicPr>
          <p:nvPr/>
        </p:nvPicPr>
        <p:blipFill>
          <a:blip r:embed="rId3"/>
          <a:stretch>
            <a:fillRect/>
          </a:stretch>
        </p:blipFill>
        <p:spPr>
          <a:xfrm>
            <a:off x="4405350" y="2838297"/>
            <a:ext cx="404164" cy="404164"/>
          </a:xfrm>
          <a:prstGeom prst="rect">
            <a:avLst/>
          </a:prstGeom>
        </p:spPr>
      </p:pic>
      <p:sp>
        <p:nvSpPr>
          <p:cNvPr id="14" name="badge shopping-bag"/>
          <p:cNvSpPr/>
          <p:nvPr/>
        </p:nvSpPr>
        <p:spPr>
          <a:xfrm>
            <a:off x="4218812" y="4434840"/>
            <a:ext cx="777240" cy="777240"/>
          </a:xfrm>
          <a:prstGeom prst="ellipse">
            <a:avLst/>
          </a:prstGeom>
          <a:solidFill>
            <a:srgbClr val="00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icon shopping-bag" descr="shopping-bag_w.png"/>
          <p:cNvPicPr>
            <a:picLocks noChangeAspect="1"/>
          </p:cNvPicPr>
          <p:nvPr/>
        </p:nvPicPr>
        <p:blipFill>
          <a:blip r:embed="rId4"/>
          <a:stretch>
            <a:fillRect/>
          </a:stretch>
        </p:blipFill>
        <p:spPr>
          <a:xfrm>
            <a:off x="4405350" y="4621377"/>
            <a:ext cx="404164" cy="404164"/>
          </a:xfrm>
          <a:prstGeom prst="rect">
            <a:avLst/>
          </a:prstGeom>
        </p:spPr>
      </p:pic>
      <p:sp>
        <p:nvSpPr>
          <p:cNvPr id="16" name="badge message-circle"/>
          <p:cNvSpPr/>
          <p:nvPr/>
        </p:nvSpPr>
        <p:spPr>
          <a:xfrm>
            <a:off x="2674620" y="5326380"/>
            <a:ext cx="777240" cy="777240"/>
          </a:xfrm>
          <a:prstGeom prst="ellipse">
            <a:avLst/>
          </a:prstGeom>
          <a:solidFill>
            <a:srgbClr val="00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icon message-circle" descr="message-circle_w.png"/>
          <p:cNvPicPr>
            <a:picLocks noChangeAspect="1"/>
          </p:cNvPicPr>
          <p:nvPr/>
        </p:nvPicPr>
        <p:blipFill>
          <a:blip r:embed="rId5"/>
          <a:stretch>
            <a:fillRect/>
          </a:stretch>
        </p:blipFill>
        <p:spPr>
          <a:xfrm>
            <a:off x="2861157" y="5512917"/>
            <a:ext cx="404164" cy="404164"/>
          </a:xfrm>
          <a:prstGeom prst="rect">
            <a:avLst/>
          </a:prstGeom>
        </p:spPr>
      </p:pic>
      <p:sp>
        <p:nvSpPr>
          <p:cNvPr id="18" name="badge heart"/>
          <p:cNvSpPr/>
          <p:nvPr/>
        </p:nvSpPr>
        <p:spPr>
          <a:xfrm>
            <a:off x="1130427" y="4434840"/>
            <a:ext cx="777240" cy="777240"/>
          </a:xfrm>
          <a:prstGeom prst="ellipse">
            <a:avLst/>
          </a:prstGeom>
          <a:solidFill>
            <a:srgbClr val="00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icon heart" descr="heart_w.png"/>
          <p:cNvPicPr>
            <a:picLocks noChangeAspect="1"/>
          </p:cNvPicPr>
          <p:nvPr/>
        </p:nvPicPr>
        <p:blipFill>
          <a:blip r:embed="rId6"/>
          <a:stretch>
            <a:fillRect/>
          </a:stretch>
        </p:blipFill>
        <p:spPr>
          <a:xfrm>
            <a:off x="1316965" y="4621377"/>
            <a:ext cx="404164" cy="404164"/>
          </a:xfrm>
          <a:prstGeom prst="rect">
            <a:avLst/>
          </a:prstGeom>
        </p:spPr>
      </p:pic>
      <p:sp>
        <p:nvSpPr>
          <p:cNvPr id="20" name="badge user"/>
          <p:cNvSpPr/>
          <p:nvPr/>
        </p:nvSpPr>
        <p:spPr>
          <a:xfrm>
            <a:off x="1130427" y="2651760"/>
            <a:ext cx="777240" cy="777240"/>
          </a:xfrm>
          <a:prstGeom prst="ellipse">
            <a:avLst/>
          </a:prstGeom>
          <a:solidFill>
            <a:srgbClr val="00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icon user" descr="user_w.png"/>
          <p:cNvPicPr>
            <a:picLocks noChangeAspect="1"/>
          </p:cNvPicPr>
          <p:nvPr/>
        </p:nvPicPr>
        <p:blipFill>
          <a:blip r:embed="rId7"/>
          <a:stretch>
            <a:fillRect/>
          </a:stretch>
        </p:blipFill>
        <p:spPr>
          <a:xfrm>
            <a:off x="1316965" y="2838297"/>
            <a:ext cx="404164" cy="404164"/>
          </a:xfrm>
          <a:prstGeom prst="rect">
            <a:avLst/>
          </a:prstGeom>
        </p:spPr>
      </p:pic>
      <p:sp>
        <p:nvSpPr>
          <p:cNvPr id="22" name="hub"/>
          <p:cNvSpPr/>
          <p:nvPr/>
        </p:nvSpPr>
        <p:spPr>
          <a:xfrm>
            <a:off x="2491740" y="3360420"/>
            <a:ext cx="1143000" cy="1143000"/>
          </a:xfrm>
          <a:prstGeom prst="ellipse">
            <a:avLst/>
          </a:prstGeom>
          <a:solidFill>
            <a:srgbClr val="FFB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2491740" y="3703320"/>
            <a:ext cx="1143000" cy="457200"/>
          </a:xfrm>
          <a:prstGeom prst="rect">
            <a:avLst/>
          </a:prstGeom>
          <a:noFill/>
        </p:spPr>
        <p:txBody>
          <a:bodyPr wrap="square" lIns="0" rIns="0" tIns="0" bIns="0" anchor="ctr">
            <a:spAutoFit/>
          </a:bodyPr>
          <a:lstStyle/>
          <a:p>
            <a:pPr algn="ctr">
              <a:spcAft>
                <a:spcPts val="0"/>
              </a:spcAft>
              <a:buNone/>
            </a:pPr>
            <a:r>
              <a:rPr sz="2000" b="1" i="0">
                <a:solidFill>
                  <a:srgbClr val="00332D"/>
                </a:solidFill>
                <a:latin typeface="Arial"/>
              </a:rPr>
              <a:t>Gigl</a:t>
            </a:r>
          </a:p>
        </p:txBody>
      </p:sp>
      <p:pic>
        <p:nvPicPr>
          <p:cNvPr id="24" name="icon compass" descr="compass_t.png"/>
          <p:cNvPicPr>
            <a:picLocks noChangeAspect="1"/>
          </p:cNvPicPr>
          <p:nvPr/>
        </p:nvPicPr>
        <p:blipFill>
          <a:blip r:embed="rId8"/>
          <a:stretch>
            <a:fillRect/>
          </a:stretch>
        </p:blipFill>
        <p:spPr>
          <a:xfrm>
            <a:off x="6035040" y="1536192"/>
            <a:ext cx="292608" cy="292608"/>
          </a:xfrm>
          <a:prstGeom prst="rect">
            <a:avLst/>
          </a:prstGeom>
        </p:spPr>
      </p:pic>
      <p:sp>
        <p:nvSpPr>
          <p:cNvPr id="25" name="TextBox 24"/>
          <p:cNvSpPr txBox="1"/>
          <p:nvPr/>
        </p:nvSpPr>
        <p:spPr>
          <a:xfrm>
            <a:off x="6492240" y="1463040"/>
            <a:ext cx="1234440" cy="457200"/>
          </a:xfrm>
          <a:prstGeom prst="rect">
            <a:avLst/>
          </a:prstGeom>
          <a:noFill/>
        </p:spPr>
        <p:txBody>
          <a:bodyPr wrap="square" lIns="0" rIns="0" tIns="0" bIns="0" anchor="ctr">
            <a:spAutoFit/>
          </a:bodyPr>
          <a:lstStyle/>
          <a:p>
            <a:pPr algn="l">
              <a:spcAft>
                <a:spcPts val="0"/>
              </a:spcAft>
              <a:buNone/>
            </a:pPr>
            <a:r>
              <a:rPr sz="1600" b="1" i="0">
                <a:solidFill>
                  <a:srgbClr val="1B2B28"/>
                </a:solidFill>
                <a:latin typeface="Arial"/>
              </a:rPr>
              <a:t>Discover</a:t>
            </a:r>
          </a:p>
        </p:txBody>
      </p:sp>
      <p:sp>
        <p:nvSpPr>
          <p:cNvPr id="26" name="TextBox 25"/>
          <p:cNvSpPr txBox="1"/>
          <p:nvPr/>
        </p:nvSpPr>
        <p:spPr>
          <a:xfrm>
            <a:off x="7772400" y="1463040"/>
            <a:ext cx="3870655" cy="457200"/>
          </a:xfrm>
          <a:prstGeom prst="rect">
            <a:avLst/>
          </a:prstGeom>
          <a:noFill/>
        </p:spPr>
        <p:txBody>
          <a:bodyPr wrap="square" lIns="0" rIns="0" tIns="0" bIns="0" anchor="ctr">
            <a:spAutoFit/>
          </a:bodyPr>
          <a:lstStyle/>
          <a:p>
            <a:pPr algn="l">
              <a:spcAft>
                <a:spcPts val="0"/>
              </a:spcAft>
              <a:buNone/>
            </a:pPr>
            <a:r>
              <a:rPr sz="1500" b="0" i="0">
                <a:solidFill>
                  <a:srgbClr val="56676A"/>
                </a:solidFill>
                <a:latin typeface="Calibri"/>
              </a:rPr>
              <a:t>Nearby · Trending · For you · Filters</a:t>
            </a:r>
          </a:p>
        </p:txBody>
      </p:sp>
      <p:pic>
        <p:nvPicPr>
          <p:cNvPr id="27" name="icon briefcase" descr="briefcase_t.png"/>
          <p:cNvPicPr>
            <a:picLocks noChangeAspect="1"/>
          </p:cNvPicPr>
          <p:nvPr/>
        </p:nvPicPr>
        <p:blipFill>
          <a:blip r:embed="rId9"/>
          <a:stretch>
            <a:fillRect/>
          </a:stretch>
        </p:blipFill>
        <p:spPr>
          <a:xfrm>
            <a:off x="6035040" y="2084832"/>
            <a:ext cx="292608" cy="292608"/>
          </a:xfrm>
          <a:prstGeom prst="rect">
            <a:avLst/>
          </a:prstGeom>
        </p:spPr>
      </p:pic>
      <p:sp>
        <p:nvSpPr>
          <p:cNvPr id="28" name="TextBox 27"/>
          <p:cNvSpPr txBox="1"/>
          <p:nvPr/>
        </p:nvSpPr>
        <p:spPr>
          <a:xfrm>
            <a:off x="6492240" y="2011680"/>
            <a:ext cx="1234440" cy="457200"/>
          </a:xfrm>
          <a:prstGeom prst="rect">
            <a:avLst/>
          </a:prstGeom>
          <a:noFill/>
        </p:spPr>
        <p:txBody>
          <a:bodyPr wrap="square" lIns="0" rIns="0" tIns="0" bIns="0" anchor="ctr">
            <a:spAutoFit/>
          </a:bodyPr>
          <a:lstStyle/>
          <a:p>
            <a:pPr algn="l">
              <a:spcAft>
                <a:spcPts val="0"/>
              </a:spcAft>
              <a:buNone/>
            </a:pPr>
            <a:r>
              <a:rPr sz="1600" b="1" i="0">
                <a:solidFill>
                  <a:srgbClr val="1B2B28"/>
                </a:solidFill>
                <a:latin typeface="Arial"/>
              </a:rPr>
              <a:t>Gigs</a:t>
            </a:r>
          </a:p>
        </p:txBody>
      </p:sp>
      <p:sp>
        <p:nvSpPr>
          <p:cNvPr id="29" name="TextBox 28"/>
          <p:cNvSpPr txBox="1"/>
          <p:nvPr/>
        </p:nvSpPr>
        <p:spPr>
          <a:xfrm>
            <a:off x="7772400" y="2011680"/>
            <a:ext cx="3870655" cy="457200"/>
          </a:xfrm>
          <a:prstGeom prst="rect">
            <a:avLst/>
          </a:prstGeom>
          <a:noFill/>
        </p:spPr>
        <p:txBody>
          <a:bodyPr wrap="square" lIns="0" rIns="0" tIns="0" bIns="0" anchor="ctr">
            <a:spAutoFit/>
          </a:bodyPr>
          <a:lstStyle/>
          <a:p>
            <a:pPr algn="l">
              <a:spcAft>
                <a:spcPts val="0"/>
              </a:spcAft>
              <a:buNone/>
            </a:pPr>
            <a:r>
              <a:rPr sz="1500" b="0" i="0">
                <a:solidFill>
                  <a:srgbClr val="56676A"/>
                </a:solidFill>
                <a:latin typeface="Calibri"/>
              </a:rPr>
              <a:t>Browse · My gigs · Reviews</a:t>
            </a:r>
          </a:p>
        </p:txBody>
      </p:sp>
      <p:pic>
        <p:nvPicPr>
          <p:cNvPr id="30" name="icon shopping-bag" descr="shopping-bag_t.png"/>
          <p:cNvPicPr>
            <a:picLocks noChangeAspect="1"/>
          </p:cNvPicPr>
          <p:nvPr/>
        </p:nvPicPr>
        <p:blipFill>
          <a:blip r:embed="rId10"/>
          <a:stretch>
            <a:fillRect/>
          </a:stretch>
        </p:blipFill>
        <p:spPr>
          <a:xfrm>
            <a:off x="6035040" y="2633472"/>
            <a:ext cx="292608" cy="292608"/>
          </a:xfrm>
          <a:prstGeom prst="rect">
            <a:avLst/>
          </a:prstGeom>
        </p:spPr>
      </p:pic>
      <p:sp>
        <p:nvSpPr>
          <p:cNvPr id="31" name="TextBox 30"/>
          <p:cNvSpPr txBox="1"/>
          <p:nvPr/>
        </p:nvSpPr>
        <p:spPr>
          <a:xfrm>
            <a:off x="6492240" y="2560320"/>
            <a:ext cx="1234440" cy="457200"/>
          </a:xfrm>
          <a:prstGeom prst="rect">
            <a:avLst/>
          </a:prstGeom>
          <a:noFill/>
        </p:spPr>
        <p:txBody>
          <a:bodyPr wrap="square" lIns="0" rIns="0" tIns="0" bIns="0" anchor="ctr">
            <a:spAutoFit/>
          </a:bodyPr>
          <a:lstStyle/>
          <a:p>
            <a:pPr algn="l">
              <a:spcAft>
                <a:spcPts val="0"/>
              </a:spcAft>
              <a:buNone/>
            </a:pPr>
            <a:r>
              <a:rPr sz="1600" b="1" i="0">
                <a:solidFill>
                  <a:srgbClr val="1B2B28"/>
                </a:solidFill>
                <a:latin typeface="Arial"/>
              </a:rPr>
              <a:t>Market</a:t>
            </a:r>
          </a:p>
        </p:txBody>
      </p:sp>
      <p:sp>
        <p:nvSpPr>
          <p:cNvPr id="32" name="TextBox 31"/>
          <p:cNvSpPr txBox="1"/>
          <p:nvPr/>
        </p:nvSpPr>
        <p:spPr>
          <a:xfrm>
            <a:off x="7772400" y="2560320"/>
            <a:ext cx="3870655" cy="457200"/>
          </a:xfrm>
          <a:prstGeom prst="rect">
            <a:avLst/>
          </a:prstGeom>
          <a:noFill/>
        </p:spPr>
        <p:txBody>
          <a:bodyPr wrap="square" lIns="0" rIns="0" tIns="0" bIns="0" anchor="ctr">
            <a:spAutoFit/>
          </a:bodyPr>
          <a:lstStyle/>
          <a:p>
            <a:pPr algn="l">
              <a:spcAft>
                <a:spcPts val="0"/>
              </a:spcAft>
              <a:buNone/>
            </a:pPr>
            <a:r>
              <a:rPr sz="1500" b="0" i="0">
                <a:solidFill>
                  <a:srgbClr val="56676A"/>
                </a:solidFill>
                <a:latin typeface="Calibri"/>
              </a:rPr>
              <a:t>All items · My listings · Deals</a:t>
            </a:r>
          </a:p>
        </p:txBody>
      </p:sp>
      <p:pic>
        <p:nvPicPr>
          <p:cNvPr id="33" name="icon message-circle" descr="message-circle_t.png"/>
          <p:cNvPicPr>
            <a:picLocks noChangeAspect="1"/>
          </p:cNvPicPr>
          <p:nvPr/>
        </p:nvPicPr>
        <p:blipFill>
          <a:blip r:embed="rId11"/>
          <a:stretch>
            <a:fillRect/>
          </a:stretch>
        </p:blipFill>
        <p:spPr>
          <a:xfrm>
            <a:off x="6035040" y="3182112"/>
            <a:ext cx="292608" cy="292608"/>
          </a:xfrm>
          <a:prstGeom prst="rect">
            <a:avLst/>
          </a:prstGeom>
        </p:spPr>
      </p:pic>
      <p:sp>
        <p:nvSpPr>
          <p:cNvPr id="34" name="TextBox 33"/>
          <p:cNvSpPr txBox="1"/>
          <p:nvPr/>
        </p:nvSpPr>
        <p:spPr>
          <a:xfrm>
            <a:off x="6492240" y="3108960"/>
            <a:ext cx="1234440" cy="457200"/>
          </a:xfrm>
          <a:prstGeom prst="rect">
            <a:avLst/>
          </a:prstGeom>
          <a:noFill/>
        </p:spPr>
        <p:txBody>
          <a:bodyPr wrap="square" lIns="0" rIns="0" tIns="0" bIns="0" anchor="ctr">
            <a:spAutoFit/>
          </a:bodyPr>
          <a:lstStyle/>
          <a:p>
            <a:pPr algn="l">
              <a:spcAft>
                <a:spcPts val="0"/>
              </a:spcAft>
              <a:buNone/>
            </a:pPr>
            <a:r>
              <a:rPr sz="1600" b="1" i="0">
                <a:solidFill>
                  <a:srgbClr val="1B2B28"/>
                </a:solidFill>
                <a:latin typeface="Arial"/>
              </a:rPr>
              <a:t>Chats</a:t>
            </a:r>
          </a:p>
        </p:txBody>
      </p:sp>
      <p:sp>
        <p:nvSpPr>
          <p:cNvPr id="35" name="TextBox 34"/>
          <p:cNvSpPr txBox="1"/>
          <p:nvPr/>
        </p:nvSpPr>
        <p:spPr>
          <a:xfrm>
            <a:off x="7772400" y="3108960"/>
            <a:ext cx="3870655" cy="457200"/>
          </a:xfrm>
          <a:prstGeom prst="rect">
            <a:avLst/>
          </a:prstGeom>
          <a:noFill/>
        </p:spPr>
        <p:txBody>
          <a:bodyPr wrap="square" lIns="0" rIns="0" tIns="0" bIns="0" anchor="ctr">
            <a:spAutoFit/>
          </a:bodyPr>
          <a:lstStyle/>
          <a:p>
            <a:pPr algn="l">
              <a:spcAft>
                <a:spcPts val="0"/>
              </a:spcAft>
              <a:buNone/>
            </a:pPr>
            <a:r>
              <a:rPr sz="1500" b="0" i="0">
                <a:solidFill>
                  <a:srgbClr val="56676A"/>
                </a:solidFill>
                <a:latin typeface="Calibri"/>
              </a:rPr>
              <a:t>Active · Requests · Archived</a:t>
            </a:r>
          </a:p>
        </p:txBody>
      </p:sp>
      <p:pic>
        <p:nvPicPr>
          <p:cNvPr id="36" name="icon heart" descr="heart_t.png"/>
          <p:cNvPicPr>
            <a:picLocks noChangeAspect="1"/>
          </p:cNvPicPr>
          <p:nvPr/>
        </p:nvPicPr>
        <p:blipFill>
          <a:blip r:embed="rId12"/>
          <a:stretch>
            <a:fillRect/>
          </a:stretch>
        </p:blipFill>
        <p:spPr>
          <a:xfrm>
            <a:off x="6035040" y="3730752"/>
            <a:ext cx="292608" cy="292608"/>
          </a:xfrm>
          <a:prstGeom prst="rect">
            <a:avLst/>
          </a:prstGeom>
        </p:spPr>
      </p:pic>
      <p:sp>
        <p:nvSpPr>
          <p:cNvPr id="37" name="TextBox 36"/>
          <p:cNvSpPr txBox="1"/>
          <p:nvPr/>
        </p:nvSpPr>
        <p:spPr>
          <a:xfrm>
            <a:off x="6492240" y="3657600"/>
            <a:ext cx="1234440" cy="457200"/>
          </a:xfrm>
          <a:prstGeom prst="rect">
            <a:avLst/>
          </a:prstGeom>
          <a:noFill/>
        </p:spPr>
        <p:txBody>
          <a:bodyPr wrap="square" lIns="0" rIns="0" tIns="0" bIns="0" anchor="ctr">
            <a:spAutoFit/>
          </a:bodyPr>
          <a:lstStyle/>
          <a:p>
            <a:pPr algn="l">
              <a:spcAft>
                <a:spcPts val="0"/>
              </a:spcAft>
              <a:buNone/>
            </a:pPr>
            <a:r>
              <a:rPr sz="1600" b="1" i="0">
                <a:solidFill>
                  <a:srgbClr val="1B2B28"/>
                </a:solidFill>
                <a:latin typeface="Arial"/>
              </a:rPr>
              <a:t>Saved</a:t>
            </a:r>
          </a:p>
        </p:txBody>
      </p:sp>
      <p:sp>
        <p:nvSpPr>
          <p:cNvPr id="38" name="TextBox 37"/>
          <p:cNvSpPr txBox="1"/>
          <p:nvPr/>
        </p:nvSpPr>
        <p:spPr>
          <a:xfrm>
            <a:off x="7772400" y="3657600"/>
            <a:ext cx="3870655" cy="457200"/>
          </a:xfrm>
          <a:prstGeom prst="rect">
            <a:avLst/>
          </a:prstGeom>
          <a:noFill/>
        </p:spPr>
        <p:txBody>
          <a:bodyPr wrap="square" lIns="0" rIns="0" tIns="0" bIns="0" anchor="ctr">
            <a:spAutoFit/>
          </a:bodyPr>
          <a:lstStyle/>
          <a:p>
            <a:pPr algn="l">
              <a:spcAft>
                <a:spcPts val="0"/>
              </a:spcAft>
              <a:buNone/>
            </a:pPr>
            <a:r>
              <a:rPr sz="1500" b="0" i="0">
                <a:solidFill>
                  <a:srgbClr val="56676A"/>
                </a:solidFill>
                <a:latin typeface="Calibri"/>
              </a:rPr>
              <a:t>Liked · Collections · History</a:t>
            </a:r>
          </a:p>
        </p:txBody>
      </p:sp>
      <p:pic>
        <p:nvPicPr>
          <p:cNvPr id="39" name="icon user" descr="user_t.png"/>
          <p:cNvPicPr>
            <a:picLocks noChangeAspect="1"/>
          </p:cNvPicPr>
          <p:nvPr/>
        </p:nvPicPr>
        <p:blipFill>
          <a:blip r:embed="rId13"/>
          <a:stretch>
            <a:fillRect/>
          </a:stretch>
        </p:blipFill>
        <p:spPr>
          <a:xfrm>
            <a:off x="6035040" y="4279392"/>
            <a:ext cx="292608" cy="292608"/>
          </a:xfrm>
          <a:prstGeom prst="rect">
            <a:avLst/>
          </a:prstGeom>
        </p:spPr>
      </p:pic>
      <p:sp>
        <p:nvSpPr>
          <p:cNvPr id="40" name="TextBox 39"/>
          <p:cNvSpPr txBox="1"/>
          <p:nvPr/>
        </p:nvSpPr>
        <p:spPr>
          <a:xfrm>
            <a:off x="6492240" y="4206240"/>
            <a:ext cx="1234440" cy="457200"/>
          </a:xfrm>
          <a:prstGeom prst="rect">
            <a:avLst/>
          </a:prstGeom>
          <a:noFill/>
        </p:spPr>
        <p:txBody>
          <a:bodyPr wrap="square" lIns="0" rIns="0" tIns="0" bIns="0" anchor="ctr">
            <a:spAutoFit/>
          </a:bodyPr>
          <a:lstStyle/>
          <a:p>
            <a:pPr algn="l">
              <a:spcAft>
                <a:spcPts val="0"/>
              </a:spcAft>
              <a:buNone/>
            </a:pPr>
            <a:r>
              <a:rPr sz="1600" b="1" i="0">
                <a:solidFill>
                  <a:srgbClr val="1B2B28"/>
                </a:solidFill>
                <a:latin typeface="Arial"/>
              </a:rPr>
              <a:t>Profile</a:t>
            </a:r>
          </a:p>
        </p:txBody>
      </p:sp>
      <p:sp>
        <p:nvSpPr>
          <p:cNvPr id="41" name="TextBox 40"/>
          <p:cNvSpPr txBox="1"/>
          <p:nvPr/>
        </p:nvSpPr>
        <p:spPr>
          <a:xfrm>
            <a:off x="7772400" y="4206240"/>
            <a:ext cx="3870655" cy="457200"/>
          </a:xfrm>
          <a:prstGeom prst="rect">
            <a:avLst/>
          </a:prstGeom>
          <a:noFill/>
        </p:spPr>
        <p:txBody>
          <a:bodyPr wrap="square" lIns="0" rIns="0" tIns="0" bIns="0" anchor="ctr">
            <a:spAutoFit/>
          </a:bodyPr>
          <a:lstStyle/>
          <a:p>
            <a:pPr algn="l">
              <a:spcAft>
                <a:spcPts val="0"/>
              </a:spcAft>
              <a:buNone/>
            </a:pPr>
            <a:r>
              <a:rPr sz="1500" b="0" i="0">
                <a:solidFill>
                  <a:srgbClr val="56676A"/>
                </a:solidFill>
                <a:latin typeface="Calibri"/>
              </a:rPr>
              <a:t>Profile · Ratings · Settings · Wallet</a:t>
            </a:r>
          </a:p>
        </p:txBody>
      </p:sp>
      <p:sp>
        <p:nvSpPr>
          <p:cNvPr id="42" name="nav rules"/>
          <p:cNvSpPr/>
          <p:nvPr/>
        </p:nvSpPr>
        <p:spPr>
          <a:xfrm>
            <a:off x="6035040" y="4937760"/>
            <a:ext cx="5608015" cy="1143000"/>
          </a:xfrm>
          <a:prstGeom prst="roundRect">
            <a:avLst>
              <a:gd name="adj" fmla="val 9600"/>
            </a:avLst>
          </a:prstGeom>
          <a:solidFill>
            <a:srgbClr val="F3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6309359" y="5074920"/>
            <a:ext cx="5059375" cy="914400"/>
          </a:xfrm>
          <a:prstGeom prst="rect">
            <a:avLst/>
          </a:prstGeom>
          <a:noFill/>
        </p:spPr>
        <p:txBody>
          <a:bodyPr wrap="square" lIns="0" rIns="0" tIns="0" bIns="0" anchor="t">
            <a:spAutoFit/>
          </a:bodyPr>
          <a:lstStyle/>
          <a:p>
            <a:pPr algn="l">
              <a:spcAft>
                <a:spcPts val="400"/>
              </a:spcAft>
              <a:buNone/>
            </a:pPr>
            <a:r>
              <a:rPr sz="1400" b="1" i="0">
                <a:solidFill>
                  <a:srgbClr val="1B2B28"/>
                </a:solidFill>
                <a:latin typeface="Calibri"/>
              </a:rPr>
              <a:t>Tap a leaf </a:t>
            </a:r>
            <a:r>
              <a:rPr sz="1400" b="0" i="0">
                <a:solidFill>
                  <a:srgbClr val="1B2B28"/>
                </a:solidFill>
                <a:latin typeface="Calibri"/>
              </a:rPr>
              <a:t>to open its screen; a breadcrumb shows where you are</a:t>
            </a:r>
          </a:p>
          <a:p>
            <a:pPr algn="l">
              <a:spcAft>
                <a:spcPts val="0"/>
              </a:spcAft>
              <a:buNone/>
            </a:pPr>
            <a:r>
              <a:rPr sz="1400" b="1" i="0">
                <a:solidFill>
                  <a:srgbClr val="1B2B28"/>
                </a:solidFill>
                <a:latin typeface="Calibri"/>
              </a:rPr>
              <a:t>Floating Post button </a:t>
            </a:r>
            <a:r>
              <a:rPr sz="1400" b="0" i="0">
                <a:solidFill>
                  <a:srgbClr val="1B2B28"/>
                </a:solidFill>
                <a:latin typeface="Calibri"/>
              </a:rPr>
              <a:t>on every main screen; system back always returns home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822960"/>
          </a:xfrm>
        </p:spPr>
        <p:txBody>
          <a:bodyPr lIns="0" rIns="0" tIns="0" bIns="0" anchor="ctr" wrap="square"/>
          <a:lstStyle/>
          <a:p>
            <a:pPr algn="l"/>
            <a:r>
              <a:rPr sz="3200" b="1">
                <a:solidFill>
                  <a:srgbClr val="1B2B28"/>
                </a:solidFill>
                <a:latin typeface="Arial"/>
              </a:rPr>
              <a:t>Swipe through listings, sorted and filtered your way</a:t>
            </a:r>
          </a:p>
        </p:txBody>
      </p:sp>
      <p:sp>
        <p:nvSpPr>
          <p:cNvPr id="3" name="kicker"/>
          <p:cNvSpPr txBox="1"/>
          <p:nvPr/>
        </p:nvSpPr>
        <p:spPr>
          <a:xfrm>
            <a:off x="548640" y="201168"/>
            <a:ext cx="7315200" cy="228600"/>
          </a:xfrm>
          <a:prstGeom prst="rect">
            <a:avLst/>
          </a:prstGeom>
          <a:noFill/>
        </p:spPr>
        <p:txBody>
          <a:bodyPr wrap="square" lIns="0" rIns="0" tIns="0" bIns="0" anchor="t">
            <a:spAutoFit/>
          </a:bodyPr>
          <a:lstStyle/>
          <a:p>
            <a:pPr algn="l">
              <a:spcAft>
                <a:spcPts val="0"/>
              </a:spcAft>
              <a:buNone/>
            </a:pPr>
            <a:r>
              <a:rPr sz="1100" b="1" i="0">
                <a:solidFill>
                  <a:srgbClr val="4F8F86"/>
                </a:solidFill>
                <a:latin typeface="Calibri"/>
              </a:rPr>
              <a:t>DISCOVERING LISTINGS</a:t>
            </a:r>
          </a:p>
        </p:txBody>
      </p:sp>
      <p:sp>
        <p:nvSpPr>
          <p:cNvPr id="4" name="phone"/>
          <p:cNvSpPr/>
          <p:nvPr/>
        </p:nvSpPr>
        <p:spPr>
          <a:xfrm>
            <a:off x="822959" y="1463040"/>
            <a:ext cx="3291840" cy="4754880"/>
          </a:xfrm>
          <a:prstGeom prst="roundRect">
            <a:avLst>
              <a:gd name="adj" fmla="val 9722"/>
            </a:avLst>
          </a:prstGeom>
          <a:solidFill>
            <a:srgbClr val="E6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card"/>
          <p:cNvSpPr/>
          <p:nvPr/>
        </p:nvSpPr>
        <p:spPr>
          <a:xfrm>
            <a:off x="1051560" y="1737360"/>
            <a:ext cx="2834640" cy="3017520"/>
          </a:xfrm>
          <a:prstGeom prst="roundRect">
            <a:avLst>
              <a:gd name="adj" fmla="val 645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photo"/>
          <p:cNvSpPr/>
          <p:nvPr/>
        </p:nvSpPr>
        <p:spPr>
          <a:xfrm>
            <a:off x="1234439" y="1920240"/>
            <a:ext cx="2468880" cy="1737360"/>
          </a:xfrm>
          <a:prstGeom prst="roundRect">
            <a:avLst>
              <a:gd name="adj" fmla="val 6315"/>
            </a:avLst>
          </a:prstGeom>
          <a:solidFill>
            <a:srgbClr val="CF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icon image" descr="image_t.png"/>
          <p:cNvPicPr>
            <a:picLocks noChangeAspect="1"/>
          </p:cNvPicPr>
          <p:nvPr/>
        </p:nvPicPr>
        <p:blipFill>
          <a:blip r:embed="rId2"/>
          <a:stretch>
            <a:fillRect/>
          </a:stretch>
        </p:blipFill>
        <p:spPr>
          <a:xfrm>
            <a:off x="2148840" y="2468880"/>
            <a:ext cx="640080" cy="640080"/>
          </a:xfrm>
          <a:prstGeom prst="rect">
            <a:avLst/>
          </a:prstGeom>
        </p:spPr>
      </p:pic>
      <p:sp>
        <p:nvSpPr>
          <p:cNvPr id="8" name="TextBox 7"/>
          <p:cNvSpPr txBox="1"/>
          <p:nvPr/>
        </p:nvSpPr>
        <p:spPr>
          <a:xfrm>
            <a:off x="1234439" y="3794760"/>
            <a:ext cx="2468880" cy="320040"/>
          </a:xfrm>
          <a:prstGeom prst="rect">
            <a:avLst/>
          </a:prstGeom>
          <a:noFill/>
        </p:spPr>
        <p:txBody>
          <a:bodyPr wrap="square" lIns="0" rIns="0" tIns="0" bIns="0" anchor="t">
            <a:spAutoFit/>
          </a:bodyPr>
          <a:lstStyle/>
          <a:p>
            <a:pPr algn="l">
              <a:spcAft>
                <a:spcPts val="0"/>
              </a:spcAft>
              <a:buNone/>
            </a:pPr>
            <a:r>
              <a:rPr sz="1600" b="1" i="0">
                <a:solidFill>
                  <a:srgbClr val="1B2B28"/>
                </a:solidFill>
                <a:latin typeface="Arial"/>
              </a:rPr>
              <a:t>Listing title</a:t>
            </a:r>
          </a:p>
        </p:txBody>
      </p:sp>
      <p:sp>
        <p:nvSpPr>
          <p:cNvPr id="9" name="TextBox 8"/>
          <p:cNvSpPr txBox="1"/>
          <p:nvPr/>
        </p:nvSpPr>
        <p:spPr>
          <a:xfrm>
            <a:off x="1234439" y="4114800"/>
            <a:ext cx="2468880" cy="320040"/>
          </a:xfrm>
          <a:prstGeom prst="rect">
            <a:avLst/>
          </a:prstGeom>
          <a:noFill/>
        </p:spPr>
        <p:txBody>
          <a:bodyPr wrap="square" lIns="0" rIns="0" tIns="0" bIns="0" anchor="t">
            <a:spAutoFit/>
          </a:bodyPr>
          <a:lstStyle/>
          <a:p>
            <a:pPr algn="l">
              <a:spcAft>
                <a:spcPts val="0"/>
              </a:spcAft>
              <a:buNone/>
            </a:pPr>
            <a:r>
              <a:rPr sz="1400" b="0" i="0">
                <a:solidFill>
                  <a:srgbClr val="56676A"/>
                </a:solidFill>
                <a:latin typeface="Calibri"/>
              </a:rPr>
              <a:t>₱ price  ·  location</a:t>
            </a:r>
          </a:p>
        </p:txBody>
      </p:sp>
      <p:sp>
        <p:nvSpPr>
          <p:cNvPr id="10" name="badge x"/>
          <p:cNvSpPr/>
          <p:nvPr/>
        </p:nvSpPr>
        <p:spPr>
          <a:xfrm>
            <a:off x="1417320" y="5074920"/>
            <a:ext cx="777240" cy="777240"/>
          </a:xfrm>
          <a:prstGeom prst="ellipse">
            <a:avLst/>
          </a:prstGeom>
          <a:solidFill>
            <a:srgbClr val="E539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x" descr="x_w.png"/>
          <p:cNvPicPr>
            <a:picLocks noChangeAspect="1"/>
          </p:cNvPicPr>
          <p:nvPr/>
        </p:nvPicPr>
        <p:blipFill>
          <a:blip r:embed="rId3"/>
          <a:stretch>
            <a:fillRect/>
          </a:stretch>
        </p:blipFill>
        <p:spPr>
          <a:xfrm>
            <a:off x="1603857" y="5261457"/>
            <a:ext cx="404164" cy="404164"/>
          </a:xfrm>
          <a:prstGeom prst="rect">
            <a:avLst/>
          </a:prstGeom>
        </p:spPr>
      </p:pic>
      <p:sp>
        <p:nvSpPr>
          <p:cNvPr id="12" name="badge heart"/>
          <p:cNvSpPr/>
          <p:nvPr/>
        </p:nvSpPr>
        <p:spPr>
          <a:xfrm>
            <a:off x="2743200" y="5074920"/>
            <a:ext cx="777240" cy="777240"/>
          </a:xfrm>
          <a:prstGeom prst="ellipse">
            <a:avLst/>
          </a:prstGeom>
          <a:solidFill>
            <a:srgbClr val="43A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icon heart" descr="heart_w.png"/>
          <p:cNvPicPr>
            <a:picLocks noChangeAspect="1"/>
          </p:cNvPicPr>
          <p:nvPr/>
        </p:nvPicPr>
        <p:blipFill>
          <a:blip r:embed="rId4"/>
          <a:stretch>
            <a:fillRect/>
          </a:stretch>
        </p:blipFill>
        <p:spPr>
          <a:xfrm>
            <a:off x="2929737" y="5261457"/>
            <a:ext cx="404164" cy="404164"/>
          </a:xfrm>
          <a:prstGeom prst="rect">
            <a:avLst/>
          </a:prstGeom>
        </p:spPr>
      </p:pic>
      <p:sp>
        <p:nvSpPr>
          <p:cNvPr id="14" name="TextBox 13"/>
          <p:cNvSpPr txBox="1"/>
          <p:nvPr/>
        </p:nvSpPr>
        <p:spPr>
          <a:xfrm>
            <a:off x="1280160" y="5870448"/>
            <a:ext cx="1051560" cy="274320"/>
          </a:xfrm>
          <a:prstGeom prst="rect">
            <a:avLst/>
          </a:prstGeom>
          <a:noFill/>
        </p:spPr>
        <p:txBody>
          <a:bodyPr wrap="square" lIns="0" rIns="0" tIns="0" bIns="0" anchor="t">
            <a:spAutoFit/>
          </a:bodyPr>
          <a:lstStyle/>
          <a:p>
            <a:pPr algn="ctr">
              <a:spcAft>
                <a:spcPts val="0"/>
              </a:spcAft>
              <a:buNone/>
            </a:pPr>
            <a:r>
              <a:rPr sz="1200" b="0" i="0">
                <a:solidFill>
                  <a:srgbClr val="56676A"/>
                </a:solidFill>
                <a:latin typeface="Calibri"/>
              </a:rPr>
              <a:t>Pass</a:t>
            </a:r>
          </a:p>
        </p:txBody>
      </p:sp>
      <p:sp>
        <p:nvSpPr>
          <p:cNvPr id="15" name="TextBox 14"/>
          <p:cNvSpPr txBox="1"/>
          <p:nvPr/>
        </p:nvSpPr>
        <p:spPr>
          <a:xfrm>
            <a:off x="2606040" y="5870448"/>
            <a:ext cx="1051560" cy="274320"/>
          </a:xfrm>
          <a:prstGeom prst="rect">
            <a:avLst/>
          </a:prstGeom>
          <a:noFill/>
        </p:spPr>
        <p:txBody>
          <a:bodyPr wrap="square" lIns="0" rIns="0" tIns="0" bIns="0" anchor="t">
            <a:spAutoFit/>
          </a:bodyPr>
          <a:lstStyle/>
          <a:p>
            <a:pPr algn="ctr">
              <a:spcAft>
                <a:spcPts val="0"/>
              </a:spcAft>
              <a:buNone/>
            </a:pPr>
            <a:r>
              <a:rPr sz="1200" b="0" i="0">
                <a:solidFill>
                  <a:srgbClr val="56676A"/>
                </a:solidFill>
                <a:latin typeface="Calibri"/>
              </a:rPr>
              <a:t>Save</a:t>
            </a:r>
          </a:p>
        </p:txBody>
      </p:sp>
      <p:sp>
        <p:nvSpPr>
          <p:cNvPr id="16" name="TextBox 15"/>
          <p:cNvSpPr txBox="1"/>
          <p:nvPr/>
        </p:nvSpPr>
        <p:spPr>
          <a:xfrm>
            <a:off x="4846320" y="1417320"/>
            <a:ext cx="6796735" cy="320040"/>
          </a:xfrm>
          <a:prstGeom prst="rect">
            <a:avLst/>
          </a:prstGeom>
          <a:noFill/>
        </p:spPr>
        <p:txBody>
          <a:bodyPr wrap="square" lIns="0" rIns="0" tIns="0" bIns="0" anchor="t">
            <a:spAutoFit/>
          </a:bodyPr>
          <a:lstStyle/>
          <a:p>
            <a:pPr algn="l">
              <a:spcAft>
                <a:spcPts val="0"/>
              </a:spcAft>
              <a:buNone/>
            </a:pPr>
            <a:r>
              <a:rPr sz="1700" b="1" i="0">
                <a:solidFill>
                  <a:srgbClr val="1B2B28"/>
                </a:solidFill>
                <a:latin typeface="Arial"/>
              </a:rPr>
              <a:t>Three feed orderings</a:t>
            </a:r>
          </a:p>
        </p:txBody>
      </p:sp>
      <p:sp>
        <p:nvSpPr>
          <p:cNvPr id="17" name="order Nearby"/>
          <p:cNvSpPr/>
          <p:nvPr/>
        </p:nvSpPr>
        <p:spPr>
          <a:xfrm>
            <a:off x="4846320" y="1828800"/>
            <a:ext cx="2143658" cy="914400"/>
          </a:xfrm>
          <a:prstGeom prst="roundRect">
            <a:avLst>
              <a:gd name="adj" fmla="val 12000"/>
            </a:avLst>
          </a:prstGeom>
          <a:solidFill>
            <a:srgbClr val="F3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badge map-pin"/>
          <p:cNvSpPr/>
          <p:nvPr/>
        </p:nvSpPr>
        <p:spPr>
          <a:xfrm>
            <a:off x="5029200" y="2011680"/>
            <a:ext cx="548640" cy="548640"/>
          </a:xfrm>
          <a:prstGeom prst="ellipse">
            <a:avLst/>
          </a:prstGeom>
          <a:solidFill>
            <a:srgbClr val="00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icon map-pin" descr="map-pin_w.png"/>
          <p:cNvPicPr>
            <a:picLocks noChangeAspect="1"/>
          </p:cNvPicPr>
          <p:nvPr/>
        </p:nvPicPr>
        <p:blipFill>
          <a:blip r:embed="rId5"/>
          <a:stretch>
            <a:fillRect/>
          </a:stretch>
        </p:blipFill>
        <p:spPr>
          <a:xfrm>
            <a:off x="5160873" y="2143353"/>
            <a:ext cx="285292" cy="285292"/>
          </a:xfrm>
          <a:prstGeom prst="rect">
            <a:avLst/>
          </a:prstGeom>
        </p:spPr>
      </p:pic>
      <p:sp>
        <p:nvSpPr>
          <p:cNvPr id="20" name="TextBox 19"/>
          <p:cNvSpPr txBox="1"/>
          <p:nvPr/>
        </p:nvSpPr>
        <p:spPr>
          <a:xfrm>
            <a:off x="5715000" y="1947672"/>
            <a:ext cx="1183538" cy="320040"/>
          </a:xfrm>
          <a:prstGeom prst="rect">
            <a:avLst/>
          </a:prstGeom>
          <a:noFill/>
        </p:spPr>
        <p:txBody>
          <a:bodyPr wrap="square" lIns="0" rIns="0" tIns="0" bIns="0" anchor="t">
            <a:spAutoFit/>
          </a:bodyPr>
          <a:lstStyle/>
          <a:p>
            <a:pPr algn="l">
              <a:spcAft>
                <a:spcPts val="0"/>
              </a:spcAft>
              <a:buNone/>
            </a:pPr>
            <a:r>
              <a:rPr sz="1500" b="1" i="0">
                <a:solidFill>
                  <a:srgbClr val="1B2B28"/>
                </a:solidFill>
                <a:latin typeface="Arial"/>
              </a:rPr>
              <a:t>Nearby</a:t>
            </a:r>
          </a:p>
        </p:txBody>
      </p:sp>
      <p:sp>
        <p:nvSpPr>
          <p:cNvPr id="21" name="TextBox 20"/>
          <p:cNvSpPr txBox="1"/>
          <p:nvPr/>
        </p:nvSpPr>
        <p:spPr>
          <a:xfrm>
            <a:off x="5715000" y="2267712"/>
            <a:ext cx="1183538" cy="365760"/>
          </a:xfrm>
          <a:prstGeom prst="rect">
            <a:avLst/>
          </a:prstGeom>
          <a:noFill/>
        </p:spPr>
        <p:txBody>
          <a:bodyPr wrap="square" lIns="0" rIns="0" tIns="0" bIns="0" anchor="t">
            <a:spAutoFit/>
          </a:bodyPr>
          <a:lstStyle/>
          <a:p>
            <a:pPr algn="l">
              <a:spcAft>
                <a:spcPts val="0"/>
              </a:spcAft>
              <a:buNone/>
            </a:pPr>
            <a:r>
              <a:rPr sz="1300" b="0" i="0">
                <a:solidFill>
                  <a:srgbClr val="56676A"/>
                </a:solidFill>
                <a:latin typeface="Calibri"/>
              </a:rPr>
              <a:t>sorted by location</a:t>
            </a:r>
          </a:p>
        </p:txBody>
      </p:sp>
      <p:sp>
        <p:nvSpPr>
          <p:cNvPr id="22" name="order Trending"/>
          <p:cNvSpPr/>
          <p:nvPr/>
        </p:nvSpPr>
        <p:spPr>
          <a:xfrm>
            <a:off x="7172858" y="1828800"/>
            <a:ext cx="2143658" cy="914400"/>
          </a:xfrm>
          <a:prstGeom prst="roundRect">
            <a:avLst>
              <a:gd name="adj" fmla="val 12000"/>
            </a:avLst>
          </a:prstGeom>
          <a:solidFill>
            <a:srgbClr val="F3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badge flame"/>
          <p:cNvSpPr/>
          <p:nvPr/>
        </p:nvSpPr>
        <p:spPr>
          <a:xfrm>
            <a:off x="7355738" y="2011680"/>
            <a:ext cx="548640" cy="548640"/>
          </a:xfrm>
          <a:prstGeom prst="ellipse">
            <a:avLst/>
          </a:prstGeom>
          <a:solidFill>
            <a:srgbClr val="00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icon flame" descr="flame_w.png"/>
          <p:cNvPicPr>
            <a:picLocks noChangeAspect="1"/>
          </p:cNvPicPr>
          <p:nvPr/>
        </p:nvPicPr>
        <p:blipFill>
          <a:blip r:embed="rId6"/>
          <a:stretch>
            <a:fillRect/>
          </a:stretch>
        </p:blipFill>
        <p:spPr>
          <a:xfrm>
            <a:off x="7487411" y="2143353"/>
            <a:ext cx="285292" cy="285292"/>
          </a:xfrm>
          <a:prstGeom prst="rect">
            <a:avLst/>
          </a:prstGeom>
        </p:spPr>
      </p:pic>
      <p:sp>
        <p:nvSpPr>
          <p:cNvPr id="25" name="TextBox 24"/>
          <p:cNvSpPr txBox="1"/>
          <p:nvPr/>
        </p:nvSpPr>
        <p:spPr>
          <a:xfrm>
            <a:off x="8041538" y="1947672"/>
            <a:ext cx="1183538" cy="320040"/>
          </a:xfrm>
          <a:prstGeom prst="rect">
            <a:avLst/>
          </a:prstGeom>
          <a:noFill/>
        </p:spPr>
        <p:txBody>
          <a:bodyPr wrap="square" lIns="0" rIns="0" tIns="0" bIns="0" anchor="t">
            <a:spAutoFit/>
          </a:bodyPr>
          <a:lstStyle/>
          <a:p>
            <a:pPr algn="l">
              <a:spcAft>
                <a:spcPts val="0"/>
              </a:spcAft>
              <a:buNone/>
            </a:pPr>
            <a:r>
              <a:rPr sz="1500" b="1" i="0">
                <a:solidFill>
                  <a:srgbClr val="1B2B28"/>
                </a:solidFill>
                <a:latin typeface="Arial"/>
              </a:rPr>
              <a:t>Trending</a:t>
            </a:r>
          </a:p>
        </p:txBody>
      </p:sp>
      <p:sp>
        <p:nvSpPr>
          <p:cNvPr id="26" name="TextBox 25"/>
          <p:cNvSpPr txBox="1"/>
          <p:nvPr/>
        </p:nvSpPr>
        <p:spPr>
          <a:xfrm>
            <a:off x="8041538" y="2267712"/>
            <a:ext cx="1183538" cy="365760"/>
          </a:xfrm>
          <a:prstGeom prst="rect">
            <a:avLst/>
          </a:prstGeom>
          <a:noFill/>
        </p:spPr>
        <p:txBody>
          <a:bodyPr wrap="square" lIns="0" rIns="0" tIns="0" bIns="0" anchor="t">
            <a:spAutoFit/>
          </a:bodyPr>
          <a:lstStyle/>
          <a:p>
            <a:pPr algn="l">
              <a:spcAft>
                <a:spcPts val="0"/>
              </a:spcAft>
              <a:buNone/>
            </a:pPr>
            <a:r>
              <a:rPr sz="1300" b="0" i="0">
                <a:solidFill>
                  <a:srgbClr val="56676A"/>
                </a:solidFill>
                <a:latin typeface="Calibri"/>
              </a:rPr>
              <a:t>highest price first</a:t>
            </a:r>
          </a:p>
        </p:txBody>
      </p:sp>
      <p:sp>
        <p:nvSpPr>
          <p:cNvPr id="27" name="order For you"/>
          <p:cNvSpPr/>
          <p:nvPr/>
        </p:nvSpPr>
        <p:spPr>
          <a:xfrm>
            <a:off x="9499396" y="1828800"/>
            <a:ext cx="2143658" cy="914400"/>
          </a:xfrm>
          <a:prstGeom prst="roundRect">
            <a:avLst>
              <a:gd name="adj" fmla="val 12000"/>
            </a:avLst>
          </a:prstGeom>
          <a:solidFill>
            <a:srgbClr val="F3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badge user"/>
          <p:cNvSpPr/>
          <p:nvPr/>
        </p:nvSpPr>
        <p:spPr>
          <a:xfrm>
            <a:off x="9682276" y="2011680"/>
            <a:ext cx="548640" cy="548640"/>
          </a:xfrm>
          <a:prstGeom prst="ellipse">
            <a:avLst/>
          </a:prstGeom>
          <a:solidFill>
            <a:srgbClr val="00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icon user" descr="user_w.png"/>
          <p:cNvPicPr>
            <a:picLocks noChangeAspect="1"/>
          </p:cNvPicPr>
          <p:nvPr/>
        </p:nvPicPr>
        <p:blipFill>
          <a:blip r:embed="rId7"/>
          <a:stretch>
            <a:fillRect/>
          </a:stretch>
        </p:blipFill>
        <p:spPr>
          <a:xfrm>
            <a:off x="9813950" y="2143353"/>
            <a:ext cx="285292" cy="285292"/>
          </a:xfrm>
          <a:prstGeom prst="rect">
            <a:avLst/>
          </a:prstGeom>
        </p:spPr>
      </p:pic>
      <p:sp>
        <p:nvSpPr>
          <p:cNvPr id="30" name="TextBox 29"/>
          <p:cNvSpPr txBox="1"/>
          <p:nvPr/>
        </p:nvSpPr>
        <p:spPr>
          <a:xfrm>
            <a:off x="10368076" y="1947672"/>
            <a:ext cx="1183538" cy="320040"/>
          </a:xfrm>
          <a:prstGeom prst="rect">
            <a:avLst/>
          </a:prstGeom>
          <a:noFill/>
        </p:spPr>
        <p:txBody>
          <a:bodyPr wrap="square" lIns="0" rIns="0" tIns="0" bIns="0" anchor="t">
            <a:spAutoFit/>
          </a:bodyPr>
          <a:lstStyle/>
          <a:p>
            <a:pPr algn="l">
              <a:spcAft>
                <a:spcPts val="0"/>
              </a:spcAft>
              <a:buNone/>
            </a:pPr>
            <a:r>
              <a:rPr sz="1500" b="1" i="0">
                <a:solidFill>
                  <a:srgbClr val="1B2B28"/>
                </a:solidFill>
                <a:latin typeface="Arial"/>
              </a:rPr>
              <a:t>For you</a:t>
            </a:r>
          </a:p>
        </p:txBody>
      </p:sp>
      <p:sp>
        <p:nvSpPr>
          <p:cNvPr id="31" name="TextBox 30"/>
          <p:cNvSpPr txBox="1"/>
          <p:nvPr/>
        </p:nvSpPr>
        <p:spPr>
          <a:xfrm>
            <a:off x="10368076" y="2267712"/>
            <a:ext cx="1183538" cy="365760"/>
          </a:xfrm>
          <a:prstGeom prst="rect">
            <a:avLst/>
          </a:prstGeom>
          <a:noFill/>
        </p:spPr>
        <p:txBody>
          <a:bodyPr wrap="square" lIns="0" rIns="0" tIns="0" bIns="0" anchor="t">
            <a:spAutoFit/>
          </a:bodyPr>
          <a:lstStyle/>
          <a:p>
            <a:pPr algn="l">
              <a:spcAft>
                <a:spcPts val="0"/>
              </a:spcAft>
              <a:buNone/>
            </a:pPr>
            <a:r>
              <a:rPr sz="1300" b="0" i="0">
                <a:solidFill>
                  <a:srgbClr val="56676A"/>
                </a:solidFill>
                <a:latin typeface="Calibri"/>
              </a:rPr>
              <a:t>default order</a:t>
            </a:r>
          </a:p>
        </p:txBody>
      </p:sp>
      <p:sp>
        <p:nvSpPr>
          <p:cNvPr id="32" name="TextBox 31"/>
          <p:cNvSpPr txBox="1"/>
          <p:nvPr/>
        </p:nvSpPr>
        <p:spPr>
          <a:xfrm>
            <a:off x="4846320" y="3017520"/>
            <a:ext cx="6796735" cy="320040"/>
          </a:xfrm>
          <a:prstGeom prst="rect">
            <a:avLst/>
          </a:prstGeom>
          <a:noFill/>
        </p:spPr>
        <p:txBody>
          <a:bodyPr wrap="square" lIns="0" rIns="0" tIns="0" bIns="0" anchor="t">
            <a:spAutoFit/>
          </a:bodyPr>
          <a:lstStyle/>
          <a:p>
            <a:pPr algn="l">
              <a:spcAft>
                <a:spcPts val="0"/>
              </a:spcAft>
              <a:buNone/>
            </a:pPr>
            <a:r>
              <a:rPr sz="1700" b="1" i="0">
                <a:solidFill>
                  <a:srgbClr val="1B2B28"/>
                </a:solidFill>
                <a:latin typeface="Arial"/>
              </a:rPr>
              <a:t>A dedicated filter screen</a:t>
            </a:r>
          </a:p>
        </p:txBody>
      </p:sp>
      <p:sp>
        <p:nvSpPr>
          <p:cNvPr id="33" name="filter Type"/>
          <p:cNvSpPr/>
          <p:nvPr/>
        </p:nvSpPr>
        <p:spPr>
          <a:xfrm>
            <a:off x="4846320" y="3429000"/>
            <a:ext cx="2143658" cy="868680"/>
          </a:xfrm>
          <a:prstGeom prst="roundRect">
            <a:avLst>
              <a:gd name="adj" fmla="val 12631"/>
            </a:avLst>
          </a:prstGeom>
          <a:solidFill>
            <a:srgbClr val="FFFFFF"/>
          </a:solidFill>
          <a:ln w="12700">
            <a:solidFill>
              <a:srgbClr val="B9D6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029200" y="3520440"/>
            <a:ext cx="1777898" cy="274320"/>
          </a:xfrm>
          <a:prstGeom prst="rect">
            <a:avLst/>
          </a:prstGeom>
          <a:noFill/>
        </p:spPr>
        <p:txBody>
          <a:bodyPr wrap="square" lIns="0" rIns="0" tIns="0" bIns="0" anchor="t">
            <a:spAutoFit/>
          </a:bodyPr>
          <a:lstStyle/>
          <a:p>
            <a:pPr algn="l">
              <a:spcAft>
                <a:spcPts val="0"/>
              </a:spcAft>
              <a:buNone/>
            </a:pPr>
            <a:r>
              <a:rPr sz="1300" b="1" i="0">
                <a:solidFill>
                  <a:srgbClr val="006B5E"/>
                </a:solidFill>
                <a:latin typeface="Calibri"/>
              </a:rPr>
              <a:t>Type</a:t>
            </a:r>
          </a:p>
        </p:txBody>
      </p:sp>
      <p:sp>
        <p:nvSpPr>
          <p:cNvPr id="35" name="TextBox 34"/>
          <p:cNvSpPr txBox="1"/>
          <p:nvPr/>
        </p:nvSpPr>
        <p:spPr>
          <a:xfrm>
            <a:off x="5029200" y="3794760"/>
            <a:ext cx="1777898" cy="411480"/>
          </a:xfrm>
          <a:prstGeom prst="rect">
            <a:avLst/>
          </a:prstGeom>
          <a:noFill/>
        </p:spPr>
        <p:txBody>
          <a:bodyPr wrap="square" lIns="0" rIns="0" tIns="0" bIns="0" anchor="t">
            <a:spAutoFit/>
          </a:bodyPr>
          <a:lstStyle/>
          <a:p>
            <a:pPr algn="l">
              <a:spcAft>
                <a:spcPts val="0"/>
              </a:spcAft>
              <a:buNone/>
            </a:pPr>
            <a:r>
              <a:rPr sz="1400" b="0" i="0">
                <a:solidFill>
                  <a:srgbClr val="1B2B28"/>
                </a:solidFill>
                <a:latin typeface="Calibri"/>
              </a:rPr>
              <a:t>All / Items / Gigs</a:t>
            </a:r>
          </a:p>
        </p:txBody>
      </p:sp>
      <p:sp>
        <p:nvSpPr>
          <p:cNvPr id="36" name="filter Category"/>
          <p:cNvSpPr/>
          <p:nvPr/>
        </p:nvSpPr>
        <p:spPr>
          <a:xfrm>
            <a:off x="7172858" y="3429000"/>
            <a:ext cx="2143658" cy="868680"/>
          </a:xfrm>
          <a:prstGeom prst="roundRect">
            <a:avLst>
              <a:gd name="adj" fmla="val 12631"/>
            </a:avLst>
          </a:prstGeom>
          <a:solidFill>
            <a:srgbClr val="FFFFFF"/>
          </a:solidFill>
          <a:ln w="12700">
            <a:solidFill>
              <a:srgbClr val="B9D6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7355738" y="3520440"/>
            <a:ext cx="1777898" cy="274320"/>
          </a:xfrm>
          <a:prstGeom prst="rect">
            <a:avLst/>
          </a:prstGeom>
          <a:noFill/>
        </p:spPr>
        <p:txBody>
          <a:bodyPr wrap="square" lIns="0" rIns="0" tIns="0" bIns="0" anchor="t">
            <a:spAutoFit/>
          </a:bodyPr>
          <a:lstStyle/>
          <a:p>
            <a:pPr algn="l">
              <a:spcAft>
                <a:spcPts val="0"/>
              </a:spcAft>
              <a:buNone/>
            </a:pPr>
            <a:r>
              <a:rPr sz="1300" b="1" i="0">
                <a:solidFill>
                  <a:srgbClr val="006B5E"/>
                </a:solidFill>
                <a:latin typeface="Calibri"/>
              </a:rPr>
              <a:t>Category</a:t>
            </a:r>
          </a:p>
        </p:txBody>
      </p:sp>
      <p:sp>
        <p:nvSpPr>
          <p:cNvPr id="38" name="TextBox 37"/>
          <p:cNvSpPr txBox="1"/>
          <p:nvPr/>
        </p:nvSpPr>
        <p:spPr>
          <a:xfrm>
            <a:off x="7355738" y="3794760"/>
            <a:ext cx="1777898" cy="411480"/>
          </a:xfrm>
          <a:prstGeom prst="rect">
            <a:avLst/>
          </a:prstGeom>
          <a:noFill/>
        </p:spPr>
        <p:txBody>
          <a:bodyPr wrap="square" lIns="0" rIns="0" tIns="0" bIns="0" anchor="t">
            <a:spAutoFit/>
          </a:bodyPr>
          <a:lstStyle/>
          <a:p>
            <a:pPr algn="l">
              <a:spcAft>
                <a:spcPts val="0"/>
              </a:spcAft>
              <a:buNone/>
            </a:pPr>
            <a:r>
              <a:rPr sz="1400" b="0" i="0">
                <a:solidFill>
                  <a:srgbClr val="1B2B28"/>
                </a:solidFill>
                <a:latin typeface="Calibri"/>
              </a:rPr>
              <a:t>General, Services, Electronics</a:t>
            </a:r>
          </a:p>
        </p:txBody>
      </p:sp>
      <p:sp>
        <p:nvSpPr>
          <p:cNvPr id="39" name="filter Price range"/>
          <p:cNvSpPr/>
          <p:nvPr/>
        </p:nvSpPr>
        <p:spPr>
          <a:xfrm>
            <a:off x="9499396" y="3429000"/>
            <a:ext cx="2143658" cy="868680"/>
          </a:xfrm>
          <a:prstGeom prst="roundRect">
            <a:avLst>
              <a:gd name="adj" fmla="val 12631"/>
            </a:avLst>
          </a:prstGeom>
          <a:solidFill>
            <a:srgbClr val="FFFFFF"/>
          </a:solidFill>
          <a:ln w="12700">
            <a:solidFill>
              <a:srgbClr val="B9D6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9682276" y="3520440"/>
            <a:ext cx="1777898" cy="274320"/>
          </a:xfrm>
          <a:prstGeom prst="rect">
            <a:avLst/>
          </a:prstGeom>
          <a:noFill/>
        </p:spPr>
        <p:txBody>
          <a:bodyPr wrap="square" lIns="0" rIns="0" tIns="0" bIns="0" anchor="t">
            <a:spAutoFit/>
          </a:bodyPr>
          <a:lstStyle/>
          <a:p>
            <a:pPr algn="l">
              <a:spcAft>
                <a:spcPts val="0"/>
              </a:spcAft>
              <a:buNone/>
            </a:pPr>
            <a:r>
              <a:rPr sz="1300" b="1" i="0">
                <a:solidFill>
                  <a:srgbClr val="006B5E"/>
                </a:solidFill>
                <a:latin typeface="Calibri"/>
              </a:rPr>
              <a:t>Price range</a:t>
            </a:r>
          </a:p>
        </p:txBody>
      </p:sp>
      <p:sp>
        <p:nvSpPr>
          <p:cNvPr id="41" name="TextBox 40"/>
          <p:cNvSpPr txBox="1"/>
          <p:nvPr/>
        </p:nvSpPr>
        <p:spPr>
          <a:xfrm>
            <a:off x="9682276" y="3794760"/>
            <a:ext cx="1777898" cy="411480"/>
          </a:xfrm>
          <a:prstGeom prst="rect">
            <a:avLst/>
          </a:prstGeom>
          <a:noFill/>
        </p:spPr>
        <p:txBody>
          <a:bodyPr wrap="square" lIns="0" rIns="0" tIns="0" bIns="0" anchor="t">
            <a:spAutoFit/>
          </a:bodyPr>
          <a:lstStyle/>
          <a:p>
            <a:pPr algn="l">
              <a:spcAft>
                <a:spcPts val="0"/>
              </a:spcAft>
              <a:buNone/>
            </a:pPr>
            <a:r>
              <a:rPr sz="1400" b="0" i="0">
                <a:solidFill>
                  <a:srgbClr val="1B2B28"/>
                </a:solidFill>
                <a:latin typeface="Calibri"/>
              </a:rPr>
              <a:t>in ₱</a:t>
            </a:r>
          </a:p>
        </p:txBody>
      </p:sp>
      <p:sp>
        <p:nvSpPr>
          <p:cNvPr id="42" name="TextBox 41"/>
          <p:cNvSpPr txBox="1"/>
          <p:nvPr/>
        </p:nvSpPr>
        <p:spPr>
          <a:xfrm>
            <a:off x="4846320" y="4434840"/>
            <a:ext cx="6796735" cy="320040"/>
          </a:xfrm>
          <a:prstGeom prst="rect">
            <a:avLst/>
          </a:prstGeom>
          <a:noFill/>
        </p:spPr>
        <p:txBody>
          <a:bodyPr wrap="square" lIns="0" rIns="0" tIns="0" bIns="0" anchor="t">
            <a:spAutoFit/>
          </a:bodyPr>
          <a:lstStyle/>
          <a:p>
            <a:pPr algn="l">
              <a:spcAft>
                <a:spcPts val="0"/>
              </a:spcAft>
              <a:buNone/>
            </a:pPr>
            <a:r>
              <a:rPr sz="1400" b="0" i="1">
                <a:solidFill>
                  <a:srgbClr val="56676A"/>
                </a:solidFill>
                <a:latin typeface="Calibri"/>
              </a:rPr>
              <a:t>“Show results” applies and returns to the feed; Reset clears everything</a:t>
            </a:r>
          </a:p>
        </p:txBody>
      </p:sp>
      <p:sp>
        <p:nvSpPr>
          <p:cNvPr id="43" name="passed history"/>
          <p:cNvSpPr/>
          <p:nvPr/>
        </p:nvSpPr>
        <p:spPr>
          <a:xfrm>
            <a:off x="4846320" y="5074920"/>
            <a:ext cx="6796735" cy="1143000"/>
          </a:xfrm>
          <a:prstGeom prst="roundRect">
            <a:avLst>
              <a:gd name="adj" fmla="val 9600"/>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badge rotate-ccw"/>
          <p:cNvSpPr/>
          <p:nvPr/>
        </p:nvSpPr>
        <p:spPr>
          <a:xfrm>
            <a:off x="5120640" y="5303520"/>
            <a:ext cx="685800" cy="685800"/>
          </a:xfrm>
          <a:prstGeom prst="ellipse">
            <a:avLst/>
          </a:prstGeom>
          <a:solidFill>
            <a:srgbClr val="FFB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5" name="icon rotate-ccw" descr="rotate-ccw_d.png"/>
          <p:cNvPicPr>
            <a:picLocks noChangeAspect="1"/>
          </p:cNvPicPr>
          <p:nvPr/>
        </p:nvPicPr>
        <p:blipFill>
          <a:blip r:embed="rId8"/>
          <a:stretch>
            <a:fillRect/>
          </a:stretch>
        </p:blipFill>
        <p:spPr>
          <a:xfrm>
            <a:off x="5285231" y="5468112"/>
            <a:ext cx="356616" cy="356616"/>
          </a:xfrm>
          <a:prstGeom prst="rect">
            <a:avLst/>
          </a:prstGeom>
        </p:spPr>
      </p:pic>
      <p:sp>
        <p:nvSpPr>
          <p:cNvPr id="46" name="TextBox 45"/>
          <p:cNvSpPr txBox="1"/>
          <p:nvPr/>
        </p:nvSpPr>
        <p:spPr>
          <a:xfrm>
            <a:off x="6035040" y="5230368"/>
            <a:ext cx="5425135" cy="365760"/>
          </a:xfrm>
          <a:prstGeom prst="rect">
            <a:avLst/>
          </a:prstGeom>
          <a:noFill/>
        </p:spPr>
        <p:txBody>
          <a:bodyPr wrap="square" lIns="0" rIns="0" tIns="0" bIns="0" anchor="t">
            <a:spAutoFit/>
          </a:bodyPr>
          <a:lstStyle/>
          <a:p>
            <a:pPr algn="l">
              <a:spcAft>
                <a:spcPts val="0"/>
              </a:spcAft>
              <a:buNone/>
            </a:pPr>
            <a:r>
              <a:rPr sz="1700" b="1" i="0">
                <a:solidFill>
                  <a:srgbClr val="1B2B28"/>
                </a:solidFill>
                <a:latin typeface="Arial"/>
              </a:rPr>
              <a:t>Passed history</a:t>
            </a:r>
          </a:p>
        </p:txBody>
      </p:sp>
      <p:sp>
        <p:nvSpPr>
          <p:cNvPr id="47" name="TextBox 46"/>
          <p:cNvSpPr txBox="1"/>
          <p:nvPr/>
        </p:nvSpPr>
        <p:spPr>
          <a:xfrm>
            <a:off x="6035040" y="5577840"/>
            <a:ext cx="5425135" cy="548640"/>
          </a:xfrm>
          <a:prstGeom prst="rect">
            <a:avLst/>
          </a:prstGeom>
          <a:noFill/>
        </p:spPr>
        <p:txBody>
          <a:bodyPr wrap="square" lIns="0" rIns="0" tIns="0" bIns="0" anchor="t">
            <a:spAutoFit/>
          </a:bodyPr>
          <a:lstStyle/>
          <a:p>
            <a:pPr algn="l">
              <a:spcAft>
                <a:spcPts val="0"/>
              </a:spcAft>
              <a:buNone/>
            </a:pPr>
            <a:r>
              <a:rPr sz="1400" b="0" i="0">
                <a:solidFill>
                  <a:srgbClr val="56676A"/>
                </a:solidFill>
                <a:latin typeface="Calibri"/>
              </a:rPr>
              <a:t>Listings you swiped past are kept, so you can restore them later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822960"/>
          </a:xfrm>
        </p:spPr>
        <p:txBody>
          <a:bodyPr lIns="0" rIns="0" tIns="0" bIns="0" anchor="ctr" wrap="square"/>
          <a:lstStyle/>
          <a:p>
            <a:pPr algn="l"/>
            <a:r>
              <a:rPr sz="3200" b="1">
                <a:solidFill>
                  <a:srgbClr val="1B2B28"/>
                </a:solidFill>
                <a:latin typeface="Arial"/>
              </a:rPr>
              <a:t>Items and gigs share one listing model</a:t>
            </a:r>
          </a:p>
        </p:txBody>
      </p:sp>
      <p:sp>
        <p:nvSpPr>
          <p:cNvPr id="3" name="kicker"/>
          <p:cNvSpPr txBox="1"/>
          <p:nvPr/>
        </p:nvSpPr>
        <p:spPr>
          <a:xfrm>
            <a:off x="548640" y="201168"/>
            <a:ext cx="7315200" cy="228600"/>
          </a:xfrm>
          <a:prstGeom prst="rect">
            <a:avLst/>
          </a:prstGeom>
          <a:noFill/>
        </p:spPr>
        <p:txBody>
          <a:bodyPr wrap="square" lIns="0" rIns="0" tIns="0" bIns="0" anchor="t">
            <a:spAutoFit/>
          </a:bodyPr>
          <a:lstStyle/>
          <a:p>
            <a:pPr algn="l">
              <a:spcAft>
                <a:spcPts val="0"/>
              </a:spcAft>
              <a:buNone/>
            </a:pPr>
            <a:r>
              <a:rPr sz="1100" b="1" i="0">
                <a:solidFill>
                  <a:srgbClr val="4F8F86"/>
                </a:solidFill>
                <a:latin typeface="Calibri"/>
              </a:rPr>
              <a:t>MARKET &amp; GIGS</a:t>
            </a:r>
          </a:p>
        </p:txBody>
      </p:sp>
      <p:sp>
        <p:nvSpPr>
          <p:cNvPr id="4" name="Market"/>
          <p:cNvSpPr/>
          <p:nvPr/>
        </p:nvSpPr>
        <p:spPr>
          <a:xfrm>
            <a:off x="548640" y="1463040"/>
            <a:ext cx="5364327" cy="2697480"/>
          </a:xfrm>
          <a:prstGeom prst="roundRect">
            <a:avLst>
              <a:gd name="adj" fmla="val 4067"/>
            </a:avLst>
          </a:prstGeom>
          <a:solidFill>
            <a:srgbClr val="F3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adge shopping-bag"/>
          <p:cNvSpPr/>
          <p:nvPr/>
        </p:nvSpPr>
        <p:spPr>
          <a:xfrm>
            <a:off x="822959" y="1691640"/>
            <a:ext cx="685800" cy="685800"/>
          </a:xfrm>
          <a:prstGeom prst="ellipse">
            <a:avLst/>
          </a:prstGeom>
          <a:solidFill>
            <a:srgbClr val="00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icon shopping-bag" descr="shopping-bag_w.png"/>
          <p:cNvPicPr>
            <a:picLocks noChangeAspect="1"/>
          </p:cNvPicPr>
          <p:nvPr/>
        </p:nvPicPr>
        <p:blipFill>
          <a:blip r:embed="rId2"/>
          <a:stretch>
            <a:fillRect/>
          </a:stretch>
        </p:blipFill>
        <p:spPr>
          <a:xfrm>
            <a:off x="987551" y="1856232"/>
            <a:ext cx="356616" cy="356616"/>
          </a:xfrm>
          <a:prstGeom prst="rect">
            <a:avLst/>
          </a:prstGeom>
        </p:spPr>
      </p:pic>
      <p:sp>
        <p:nvSpPr>
          <p:cNvPr id="7" name="TextBox 6"/>
          <p:cNvSpPr txBox="1"/>
          <p:nvPr/>
        </p:nvSpPr>
        <p:spPr>
          <a:xfrm>
            <a:off x="1691640" y="1691640"/>
            <a:ext cx="3992727" cy="365760"/>
          </a:xfrm>
          <a:prstGeom prst="rect">
            <a:avLst/>
          </a:prstGeom>
          <a:noFill/>
        </p:spPr>
        <p:txBody>
          <a:bodyPr wrap="square" lIns="0" rIns="0" tIns="0" bIns="0" anchor="t">
            <a:spAutoFit/>
          </a:bodyPr>
          <a:lstStyle/>
          <a:p>
            <a:pPr algn="l">
              <a:spcAft>
                <a:spcPts val="0"/>
              </a:spcAft>
              <a:buNone/>
            </a:pPr>
            <a:r>
              <a:rPr sz="2000" b="1" i="0">
                <a:solidFill>
                  <a:srgbClr val="1B2B28"/>
                </a:solidFill>
                <a:latin typeface="Arial"/>
              </a:rPr>
              <a:t>Market</a:t>
            </a:r>
          </a:p>
        </p:txBody>
      </p:sp>
      <p:sp>
        <p:nvSpPr>
          <p:cNvPr id="8" name="TextBox 7"/>
          <p:cNvSpPr txBox="1"/>
          <p:nvPr/>
        </p:nvSpPr>
        <p:spPr>
          <a:xfrm>
            <a:off x="1691640" y="2057400"/>
            <a:ext cx="3992727" cy="320040"/>
          </a:xfrm>
          <a:prstGeom prst="rect">
            <a:avLst/>
          </a:prstGeom>
          <a:noFill/>
        </p:spPr>
        <p:txBody>
          <a:bodyPr wrap="square" lIns="0" rIns="0" tIns="0" bIns="0" anchor="t">
            <a:spAutoFit/>
          </a:bodyPr>
          <a:lstStyle/>
          <a:p>
            <a:pPr algn="l">
              <a:spcAft>
                <a:spcPts val="0"/>
              </a:spcAft>
              <a:buNone/>
            </a:pPr>
            <a:r>
              <a:rPr sz="1400" b="0" i="0">
                <a:solidFill>
                  <a:srgbClr val="56676A"/>
                </a:solidFill>
                <a:latin typeface="Calibri"/>
              </a:rPr>
              <a:t>Buy &amp; sell items</a:t>
            </a:r>
          </a:p>
        </p:txBody>
      </p:sp>
      <p:sp>
        <p:nvSpPr>
          <p:cNvPr id="9" name="TextBox 8"/>
          <p:cNvSpPr txBox="1"/>
          <p:nvPr/>
        </p:nvSpPr>
        <p:spPr>
          <a:xfrm>
            <a:off x="822959" y="2606040"/>
            <a:ext cx="4815687" cy="457200"/>
          </a:xfrm>
          <a:prstGeom prst="rect">
            <a:avLst/>
          </a:prstGeom>
          <a:noFill/>
        </p:spPr>
        <p:txBody>
          <a:bodyPr wrap="square" lIns="0" rIns="0" tIns="0" bIns="0" anchor="t">
            <a:spAutoFit/>
          </a:bodyPr>
          <a:lstStyle/>
          <a:p>
            <a:pPr algn="l">
              <a:spcAft>
                <a:spcPts val="0"/>
              </a:spcAft>
              <a:buNone/>
            </a:pPr>
            <a:r>
              <a:rPr sz="1500" b="1" i="0">
                <a:solidFill>
                  <a:srgbClr val="006B5E"/>
                </a:solidFill>
                <a:latin typeface="Calibri"/>
              </a:rPr>
              <a:t>All items  </a:t>
            </a:r>
            <a:r>
              <a:rPr sz="1500" b="0" i="0">
                <a:solidFill>
                  <a:srgbClr val="1B2B28"/>
                </a:solidFill>
                <a:latin typeface="Calibri"/>
              </a:rPr>
              <a:t>every listing of type item for sale</a:t>
            </a:r>
          </a:p>
        </p:txBody>
      </p:sp>
      <p:sp>
        <p:nvSpPr>
          <p:cNvPr id="10" name="TextBox 9"/>
          <p:cNvSpPr txBox="1"/>
          <p:nvPr/>
        </p:nvSpPr>
        <p:spPr>
          <a:xfrm>
            <a:off x="822959" y="3090672"/>
            <a:ext cx="4815687" cy="457200"/>
          </a:xfrm>
          <a:prstGeom prst="rect">
            <a:avLst/>
          </a:prstGeom>
          <a:noFill/>
        </p:spPr>
        <p:txBody>
          <a:bodyPr wrap="square" lIns="0" rIns="0" tIns="0" bIns="0" anchor="t">
            <a:spAutoFit/>
          </a:bodyPr>
          <a:lstStyle/>
          <a:p>
            <a:pPr algn="l">
              <a:spcAft>
                <a:spcPts val="0"/>
              </a:spcAft>
              <a:buNone/>
            </a:pPr>
            <a:r>
              <a:rPr sz="1500" b="1" i="0">
                <a:solidFill>
                  <a:srgbClr val="006B5E"/>
                </a:solidFill>
                <a:latin typeface="Calibri"/>
              </a:rPr>
              <a:t>My listings  </a:t>
            </a:r>
            <a:r>
              <a:rPr sz="1500" b="0" i="0">
                <a:solidFill>
                  <a:srgbClr val="1B2B28"/>
                </a:solidFill>
                <a:latin typeface="Calibri"/>
              </a:rPr>
              <a:t>what you posted, with Active / Completed badges</a:t>
            </a:r>
          </a:p>
        </p:txBody>
      </p:sp>
      <p:sp>
        <p:nvSpPr>
          <p:cNvPr id="11" name="TextBox 10"/>
          <p:cNvSpPr txBox="1"/>
          <p:nvPr/>
        </p:nvSpPr>
        <p:spPr>
          <a:xfrm>
            <a:off x="822959" y="3575304"/>
            <a:ext cx="4815687" cy="457200"/>
          </a:xfrm>
          <a:prstGeom prst="rect">
            <a:avLst/>
          </a:prstGeom>
          <a:noFill/>
        </p:spPr>
        <p:txBody>
          <a:bodyPr wrap="square" lIns="0" rIns="0" tIns="0" bIns="0" anchor="t">
            <a:spAutoFit/>
          </a:bodyPr>
          <a:lstStyle/>
          <a:p>
            <a:pPr algn="l">
              <a:spcAft>
                <a:spcPts val="0"/>
              </a:spcAft>
              <a:buNone/>
            </a:pPr>
            <a:r>
              <a:rPr sz="1500" b="1" i="0">
                <a:solidFill>
                  <a:srgbClr val="006B5E"/>
                </a:solidFill>
                <a:latin typeface="Calibri"/>
              </a:rPr>
              <a:t>Deals  </a:t>
            </a:r>
            <a:r>
              <a:rPr sz="1500" b="0" i="0">
                <a:solidFill>
                  <a:srgbClr val="1B2B28"/>
                </a:solidFill>
                <a:latin typeface="Calibri"/>
              </a:rPr>
              <a:t>all items sorted cheapest first</a:t>
            </a:r>
          </a:p>
        </p:txBody>
      </p:sp>
      <p:sp>
        <p:nvSpPr>
          <p:cNvPr id="12" name="Gigs"/>
          <p:cNvSpPr/>
          <p:nvPr/>
        </p:nvSpPr>
        <p:spPr>
          <a:xfrm>
            <a:off x="6278727" y="1463040"/>
            <a:ext cx="5364327" cy="2697480"/>
          </a:xfrm>
          <a:prstGeom prst="roundRect">
            <a:avLst>
              <a:gd name="adj" fmla="val 4067"/>
            </a:avLst>
          </a:prstGeom>
          <a:solidFill>
            <a:srgbClr val="F3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badge briefcase"/>
          <p:cNvSpPr/>
          <p:nvPr/>
        </p:nvSpPr>
        <p:spPr>
          <a:xfrm>
            <a:off x="6553047" y="1691640"/>
            <a:ext cx="685800" cy="685800"/>
          </a:xfrm>
          <a:prstGeom prst="ellipse">
            <a:avLst/>
          </a:prstGeom>
          <a:solidFill>
            <a:srgbClr val="00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icon briefcase" descr="briefcase_w.png"/>
          <p:cNvPicPr>
            <a:picLocks noChangeAspect="1"/>
          </p:cNvPicPr>
          <p:nvPr/>
        </p:nvPicPr>
        <p:blipFill>
          <a:blip r:embed="rId3"/>
          <a:stretch>
            <a:fillRect/>
          </a:stretch>
        </p:blipFill>
        <p:spPr>
          <a:xfrm>
            <a:off x="6717639" y="1856232"/>
            <a:ext cx="356616" cy="356616"/>
          </a:xfrm>
          <a:prstGeom prst="rect">
            <a:avLst/>
          </a:prstGeom>
        </p:spPr>
      </p:pic>
      <p:sp>
        <p:nvSpPr>
          <p:cNvPr id="15" name="TextBox 14"/>
          <p:cNvSpPr txBox="1"/>
          <p:nvPr/>
        </p:nvSpPr>
        <p:spPr>
          <a:xfrm>
            <a:off x="7421727" y="1691640"/>
            <a:ext cx="3992727" cy="365760"/>
          </a:xfrm>
          <a:prstGeom prst="rect">
            <a:avLst/>
          </a:prstGeom>
          <a:noFill/>
        </p:spPr>
        <p:txBody>
          <a:bodyPr wrap="square" lIns="0" rIns="0" tIns="0" bIns="0" anchor="t">
            <a:spAutoFit/>
          </a:bodyPr>
          <a:lstStyle/>
          <a:p>
            <a:pPr algn="l">
              <a:spcAft>
                <a:spcPts val="0"/>
              </a:spcAft>
              <a:buNone/>
            </a:pPr>
            <a:r>
              <a:rPr sz="2000" b="1" i="0">
                <a:solidFill>
                  <a:srgbClr val="1B2B28"/>
                </a:solidFill>
                <a:latin typeface="Arial"/>
              </a:rPr>
              <a:t>Gigs</a:t>
            </a:r>
          </a:p>
        </p:txBody>
      </p:sp>
      <p:sp>
        <p:nvSpPr>
          <p:cNvPr id="16" name="TextBox 15"/>
          <p:cNvSpPr txBox="1"/>
          <p:nvPr/>
        </p:nvSpPr>
        <p:spPr>
          <a:xfrm>
            <a:off x="7421727" y="2057400"/>
            <a:ext cx="3992727" cy="320040"/>
          </a:xfrm>
          <a:prstGeom prst="rect">
            <a:avLst/>
          </a:prstGeom>
          <a:noFill/>
        </p:spPr>
        <p:txBody>
          <a:bodyPr wrap="square" lIns="0" rIns="0" tIns="0" bIns="0" anchor="t">
            <a:spAutoFit/>
          </a:bodyPr>
          <a:lstStyle/>
          <a:p>
            <a:pPr algn="l">
              <a:spcAft>
                <a:spcPts val="0"/>
              </a:spcAft>
              <a:buNone/>
            </a:pPr>
            <a:r>
              <a:rPr sz="1400" b="0" i="0">
                <a:solidFill>
                  <a:srgbClr val="56676A"/>
                </a:solidFill>
                <a:latin typeface="Calibri"/>
              </a:rPr>
              <a:t>Services offered or wanted</a:t>
            </a:r>
          </a:p>
        </p:txBody>
      </p:sp>
      <p:sp>
        <p:nvSpPr>
          <p:cNvPr id="17" name="TextBox 16"/>
          <p:cNvSpPr txBox="1"/>
          <p:nvPr/>
        </p:nvSpPr>
        <p:spPr>
          <a:xfrm>
            <a:off x="6553047" y="2606040"/>
            <a:ext cx="4815687" cy="457200"/>
          </a:xfrm>
          <a:prstGeom prst="rect">
            <a:avLst/>
          </a:prstGeom>
          <a:noFill/>
        </p:spPr>
        <p:txBody>
          <a:bodyPr wrap="square" lIns="0" rIns="0" tIns="0" bIns="0" anchor="t">
            <a:spAutoFit/>
          </a:bodyPr>
          <a:lstStyle/>
          <a:p>
            <a:pPr algn="l">
              <a:spcAft>
                <a:spcPts val="0"/>
              </a:spcAft>
              <a:buNone/>
            </a:pPr>
            <a:r>
              <a:rPr sz="1500" b="1" i="0">
                <a:solidFill>
                  <a:srgbClr val="006B5E"/>
                </a:solidFill>
                <a:latin typeface="Calibri"/>
              </a:rPr>
              <a:t>Browse gigs  </a:t>
            </a:r>
            <a:r>
              <a:rPr sz="1500" b="0" i="0">
                <a:solidFill>
                  <a:srgbClr val="1B2B28"/>
                </a:solidFill>
                <a:latin typeface="Calibri"/>
              </a:rPr>
              <a:t>every listing of type gig</a:t>
            </a:r>
          </a:p>
        </p:txBody>
      </p:sp>
      <p:sp>
        <p:nvSpPr>
          <p:cNvPr id="18" name="TextBox 17"/>
          <p:cNvSpPr txBox="1"/>
          <p:nvPr/>
        </p:nvSpPr>
        <p:spPr>
          <a:xfrm>
            <a:off x="6553047" y="3090672"/>
            <a:ext cx="4815687" cy="457200"/>
          </a:xfrm>
          <a:prstGeom prst="rect">
            <a:avLst/>
          </a:prstGeom>
          <a:noFill/>
        </p:spPr>
        <p:txBody>
          <a:bodyPr wrap="square" lIns="0" rIns="0" tIns="0" bIns="0" anchor="t">
            <a:spAutoFit/>
          </a:bodyPr>
          <a:lstStyle/>
          <a:p>
            <a:pPr algn="l">
              <a:spcAft>
                <a:spcPts val="0"/>
              </a:spcAft>
              <a:buNone/>
            </a:pPr>
            <a:r>
              <a:rPr sz="1500" b="1" i="0">
                <a:solidFill>
                  <a:srgbClr val="006B5E"/>
                </a:solidFill>
                <a:latin typeface="Calibri"/>
              </a:rPr>
              <a:t>My gigs  </a:t>
            </a:r>
            <a:r>
              <a:rPr sz="1500" b="0" i="0">
                <a:solidFill>
                  <a:srgbClr val="1B2B28"/>
                </a:solidFill>
                <a:latin typeface="Calibri"/>
              </a:rPr>
              <a:t>gigs you posted, with status</a:t>
            </a:r>
          </a:p>
        </p:txBody>
      </p:sp>
      <p:sp>
        <p:nvSpPr>
          <p:cNvPr id="19" name="TextBox 18"/>
          <p:cNvSpPr txBox="1"/>
          <p:nvPr/>
        </p:nvSpPr>
        <p:spPr>
          <a:xfrm>
            <a:off x="6553047" y="3575304"/>
            <a:ext cx="4815687" cy="457200"/>
          </a:xfrm>
          <a:prstGeom prst="rect">
            <a:avLst/>
          </a:prstGeom>
          <a:noFill/>
        </p:spPr>
        <p:txBody>
          <a:bodyPr wrap="square" lIns="0" rIns="0" tIns="0" bIns="0" anchor="t">
            <a:spAutoFit/>
          </a:bodyPr>
          <a:lstStyle/>
          <a:p>
            <a:pPr algn="l">
              <a:spcAft>
                <a:spcPts val="0"/>
              </a:spcAft>
              <a:buNone/>
            </a:pPr>
            <a:r>
              <a:rPr sz="1500" b="1" i="0">
                <a:solidFill>
                  <a:srgbClr val="006B5E"/>
                </a:solidFill>
                <a:latin typeface="Calibri"/>
              </a:rPr>
              <a:t>Gig reviews  </a:t>
            </a:r>
            <a:r>
              <a:rPr sz="1500" b="0" i="0">
                <a:solidFill>
                  <a:srgbClr val="1B2B28"/>
                </a:solidFill>
                <a:latin typeface="Calibri"/>
              </a:rPr>
              <a:t>reviews you've received, as a star distribution</a:t>
            </a:r>
          </a:p>
        </p:txBody>
      </p:sp>
      <p:sp>
        <p:nvSpPr>
          <p:cNvPr id="20" name="listing detail"/>
          <p:cNvSpPr/>
          <p:nvPr/>
        </p:nvSpPr>
        <p:spPr>
          <a:xfrm>
            <a:off x="548640" y="4434840"/>
            <a:ext cx="11094415" cy="1783080"/>
          </a:xfrm>
          <a:prstGeom prst="roundRect">
            <a:avLst>
              <a:gd name="adj" fmla="val 6153"/>
            </a:avLst>
          </a:prstGeom>
          <a:solidFill>
            <a:srgbClr val="00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68680" y="4617720"/>
            <a:ext cx="3108960" cy="365760"/>
          </a:xfrm>
          <a:prstGeom prst="rect">
            <a:avLst/>
          </a:prstGeom>
          <a:noFill/>
        </p:spPr>
        <p:txBody>
          <a:bodyPr wrap="square" lIns="0" rIns="0" tIns="0" bIns="0" anchor="t">
            <a:spAutoFit/>
          </a:bodyPr>
          <a:lstStyle/>
          <a:p>
            <a:pPr algn="l">
              <a:spcAft>
                <a:spcPts val="0"/>
              </a:spcAft>
              <a:buNone/>
            </a:pPr>
            <a:r>
              <a:rPr sz="2000" b="1" i="0">
                <a:solidFill>
                  <a:srgbClr val="FFFFFF"/>
                </a:solidFill>
                <a:latin typeface="Arial"/>
              </a:rPr>
              <a:t>Listing detail</a:t>
            </a:r>
          </a:p>
        </p:txBody>
      </p:sp>
      <p:sp>
        <p:nvSpPr>
          <p:cNvPr id="22" name="TextBox 21"/>
          <p:cNvSpPr txBox="1"/>
          <p:nvPr/>
        </p:nvSpPr>
        <p:spPr>
          <a:xfrm>
            <a:off x="868680" y="5029200"/>
            <a:ext cx="3017520" cy="1097280"/>
          </a:xfrm>
          <a:prstGeom prst="rect">
            <a:avLst/>
          </a:prstGeom>
          <a:noFill/>
        </p:spPr>
        <p:txBody>
          <a:bodyPr wrap="square" lIns="0" rIns="0" tIns="0" bIns="0" anchor="t">
            <a:spAutoFit/>
          </a:bodyPr>
          <a:lstStyle/>
          <a:p>
            <a:pPr algn="l">
              <a:spcAft>
                <a:spcPts val="0"/>
              </a:spcAft>
              <a:buNone/>
            </a:pPr>
            <a:r>
              <a:rPr sz="1400" b="0" i="0">
                <a:solidFill>
                  <a:srgbClr val="CFE5E0"/>
                </a:solidFill>
                <a:latin typeface="Calibri"/>
              </a:rPr>
              <a:t>Shown for both items and gigs</a:t>
            </a:r>
          </a:p>
        </p:txBody>
      </p:sp>
      <p:sp>
        <p:nvSpPr>
          <p:cNvPr id="23" name="field Photos"/>
          <p:cNvSpPr/>
          <p:nvPr/>
        </p:nvSpPr>
        <p:spPr>
          <a:xfrm>
            <a:off x="4114800" y="4663440"/>
            <a:ext cx="868680" cy="384048"/>
          </a:xfrm>
          <a:prstGeom prst="roundRect">
            <a:avLst>
              <a:gd name="adj" fmla="val 50000"/>
            </a:avLst>
          </a:prstGeom>
          <a:solidFill>
            <a:srgbClr val="0F5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4114800" y="4663440"/>
            <a:ext cx="868680" cy="384048"/>
          </a:xfrm>
          <a:prstGeom prst="rect">
            <a:avLst/>
          </a:prstGeom>
          <a:noFill/>
        </p:spPr>
        <p:txBody>
          <a:bodyPr wrap="square" lIns="0" rIns="0" tIns="0" bIns="0" anchor="ctr">
            <a:spAutoFit/>
          </a:bodyPr>
          <a:lstStyle/>
          <a:p>
            <a:pPr algn="ctr">
              <a:spcAft>
                <a:spcPts val="0"/>
              </a:spcAft>
              <a:buNone/>
            </a:pPr>
            <a:r>
              <a:rPr sz="1300" b="0" i="0">
                <a:solidFill>
                  <a:srgbClr val="FFFFFF"/>
                </a:solidFill>
                <a:latin typeface="Calibri"/>
              </a:rPr>
              <a:t>Photos</a:t>
            </a:r>
          </a:p>
        </p:txBody>
      </p:sp>
      <p:sp>
        <p:nvSpPr>
          <p:cNvPr id="25" name="field Price"/>
          <p:cNvSpPr/>
          <p:nvPr/>
        </p:nvSpPr>
        <p:spPr>
          <a:xfrm>
            <a:off x="5120640" y="4663440"/>
            <a:ext cx="777240" cy="384048"/>
          </a:xfrm>
          <a:prstGeom prst="roundRect">
            <a:avLst>
              <a:gd name="adj" fmla="val 50000"/>
            </a:avLst>
          </a:prstGeom>
          <a:solidFill>
            <a:srgbClr val="0F5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5120640" y="4663440"/>
            <a:ext cx="777240" cy="384048"/>
          </a:xfrm>
          <a:prstGeom prst="rect">
            <a:avLst/>
          </a:prstGeom>
          <a:noFill/>
        </p:spPr>
        <p:txBody>
          <a:bodyPr wrap="square" lIns="0" rIns="0" tIns="0" bIns="0" anchor="ctr">
            <a:spAutoFit/>
          </a:bodyPr>
          <a:lstStyle/>
          <a:p>
            <a:pPr algn="ctr">
              <a:spcAft>
                <a:spcPts val="0"/>
              </a:spcAft>
              <a:buNone/>
            </a:pPr>
            <a:r>
              <a:rPr sz="1300" b="0" i="0">
                <a:solidFill>
                  <a:srgbClr val="FFFFFF"/>
                </a:solidFill>
                <a:latin typeface="Calibri"/>
              </a:rPr>
              <a:t>Price</a:t>
            </a:r>
          </a:p>
        </p:txBody>
      </p:sp>
      <p:sp>
        <p:nvSpPr>
          <p:cNvPr id="27" name="field Description"/>
          <p:cNvSpPr/>
          <p:nvPr/>
        </p:nvSpPr>
        <p:spPr>
          <a:xfrm>
            <a:off x="6035040" y="4663440"/>
            <a:ext cx="1234440" cy="384048"/>
          </a:xfrm>
          <a:prstGeom prst="roundRect">
            <a:avLst>
              <a:gd name="adj" fmla="val 50000"/>
            </a:avLst>
          </a:prstGeom>
          <a:solidFill>
            <a:srgbClr val="0F5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035040" y="4663440"/>
            <a:ext cx="1234440" cy="384048"/>
          </a:xfrm>
          <a:prstGeom prst="rect">
            <a:avLst/>
          </a:prstGeom>
          <a:noFill/>
        </p:spPr>
        <p:txBody>
          <a:bodyPr wrap="square" lIns="0" rIns="0" tIns="0" bIns="0" anchor="ctr">
            <a:spAutoFit/>
          </a:bodyPr>
          <a:lstStyle/>
          <a:p>
            <a:pPr algn="ctr">
              <a:spcAft>
                <a:spcPts val="0"/>
              </a:spcAft>
              <a:buNone/>
            </a:pPr>
            <a:r>
              <a:rPr sz="1300" b="0" i="0">
                <a:solidFill>
                  <a:srgbClr val="FFFFFF"/>
                </a:solidFill>
                <a:latin typeface="Calibri"/>
              </a:rPr>
              <a:t>Description</a:t>
            </a:r>
          </a:p>
        </p:txBody>
      </p:sp>
      <p:sp>
        <p:nvSpPr>
          <p:cNvPr id="29" name="field Category"/>
          <p:cNvSpPr/>
          <p:nvPr/>
        </p:nvSpPr>
        <p:spPr>
          <a:xfrm>
            <a:off x="7406640" y="4663440"/>
            <a:ext cx="1051560" cy="384048"/>
          </a:xfrm>
          <a:prstGeom prst="roundRect">
            <a:avLst>
              <a:gd name="adj" fmla="val 50000"/>
            </a:avLst>
          </a:prstGeom>
          <a:solidFill>
            <a:srgbClr val="0F5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406640" y="4663440"/>
            <a:ext cx="1051560" cy="384048"/>
          </a:xfrm>
          <a:prstGeom prst="rect">
            <a:avLst/>
          </a:prstGeom>
          <a:noFill/>
        </p:spPr>
        <p:txBody>
          <a:bodyPr wrap="square" lIns="0" rIns="0" tIns="0" bIns="0" anchor="ctr">
            <a:spAutoFit/>
          </a:bodyPr>
          <a:lstStyle/>
          <a:p>
            <a:pPr algn="ctr">
              <a:spcAft>
                <a:spcPts val="0"/>
              </a:spcAft>
              <a:buNone/>
            </a:pPr>
            <a:r>
              <a:rPr sz="1300" b="0" i="0">
                <a:solidFill>
                  <a:srgbClr val="FFFFFF"/>
                </a:solidFill>
                <a:latin typeface="Calibri"/>
              </a:rPr>
              <a:t>Category</a:t>
            </a:r>
          </a:p>
        </p:txBody>
      </p:sp>
      <p:sp>
        <p:nvSpPr>
          <p:cNvPr id="31" name="field Location"/>
          <p:cNvSpPr/>
          <p:nvPr/>
        </p:nvSpPr>
        <p:spPr>
          <a:xfrm>
            <a:off x="8595359" y="4663440"/>
            <a:ext cx="1005840" cy="384048"/>
          </a:xfrm>
          <a:prstGeom prst="roundRect">
            <a:avLst>
              <a:gd name="adj" fmla="val 50000"/>
            </a:avLst>
          </a:prstGeom>
          <a:solidFill>
            <a:srgbClr val="0F5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595359" y="4663440"/>
            <a:ext cx="1005840" cy="384048"/>
          </a:xfrm>
          <a:prstGeom prst="rect">
            <a:avLst/>
          </a:prstGeom>
          <a:noFill/>
        </p:spPr>
        <p:txBody>
          <a:bodyPr wrap="square" lIns="0" rIns="0" tIns="0" bIns="0" anchor="ctr">
            <a:spAutoFit/>
          </a:bodyPr>
          <a:lstStyle/>
          <a:p>
            <a:pPr algn="ctr">
              <a:spcAft>
                <a:spcPts val="0"/>
              </a:spcAft>
              <a:buNone/>
            </a:pPr>
            <a:r>
              <a:rPr sz="1300" b="0" i="0">
                <a:solidFill>
                  <a:srgbClr val="FFFFFF"/>
                </a:solidFill>
                <a:latin typeface="Calibri"/>
              </a:rPr>
              <a:t>Location</a:t>
            </a:r>
          </a:p>
        </p:txBody>
      </p:sp>
      <p:sp>
        <p:nvSpPr>
          <p:cNvPr id="33" name="field Remote-only flag"/>
          <p:cNvSpPr/>
          <p:nvPr/>
        </p:nvSpPr>
        <p:spPr>
          <a:xfrm>
            <a:off x="9738359" y="4663440"/>
            <a:ext cx="1600200" cy="384048"/>
          </a:xfrm>
          <a:prstGeom prst="roundRect">
            <a:avLst>
              <a:gd name="adj" fmla="val 50000"/>
            </a:avLst>
          </a:prstGeom>
          <a:solidFill>
            <a:srgbClr val="0F5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738359" y="4663440"/>
            <a:ext cx="1600200" cy="384048"/>
          </a:xfrm>
          <a:prstGeom prst="rect">
            <a:avLst/>
          </a:prstGeom>
          <a:noFill/>
        </p:spPr>
        <p:txBody>
          <a:bodyPr wrap="square" lIns="0" rIns="0" tIns="0" bIns="0" anchor="ctr">
            <a:spAutoFit/>
          </a:bodyPr>
          <a:lstStyle/>
          <a:p>
            <a:pPr algn="ctr">
              <a:spcAft>
                <a:spcPts val="0"/>
              </a:spcAft>
              <a:buNone/>
            </a:pPr>
            <a:r>
              <a:rPr sz="1300" b="0" i="0">
                <a:solidFill>
                  <a:srgbClr val="FFFFFF"/>
                </a:solidFill>
                <a:latin typeface="Calibri"/>
              </a:rPr>
              <a:t>Remote-only flag</a:t>
            </a:r>
          </a:p>
        </p:txBody>
      </p:sp>
      <p:sp>
        <p:nvSpPr>
          <p:cNvPr id="35" name="field Seller profile card"/>
          <p:cNvSpPr/>
          <p:nvPr/>
        </p:nvSpPr>
        <p:spPr>
          <a:xfrm>
            <a:off x="4114800" y="5166359"/>
            <a:ext cx="1783080" cy="384048"/>
          </a:xfrm>
          <a:prstGeom prst="roundRect">
            <a:avLst>
              <a:gd name="adj" fmla="val 50000"/>
            </a:avLst>
          </a:prstGeom>
          <a:solidFill>
            <a:srgbClr val="0F5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4114800" y="5166359"/>
            <a:ext cx="1783080" cy="384048"/>
          </a:xfrm>
          <a:prstGeom prst="rect">
            <a:avLst/>
          </a:prstGeom>
          <a:noFill/>
        </p:spPr>
        <p:txBody>
          <a:bodyPr wrap="square" lIns="0" rIns="0" tIns="0" bIns="0" anchor="ctr">
            <a:spAutoFit/>
          </a:bodyPr>
          <a:lstStyle/>
          <a:p>
            <a:pPr algn="ctr">
              <a:spcAft>
                <a:spcPts val="0"/>
              </a:spcAft>
              <a:buNone/>
            </a:pPr>
            <a:r>
              <a:rPr sz="1300" b="0" i="0">
                <a:solidFill>
                  <a:srgbClr val="FFFFFF"/>
                </a:solidFill>
                <a:latin typeface="Calibri"/>
              </a:rPr>
              <a:t>Seller profile card</a:t>
            </a:r>
          </a:p>
        </p:txBody>
      </p:sp>
      <p:sp>
        <p:nvSpPr>
          <p:cNvPr id="37" name="TextBox 36"/>
          <p:cNvSpPr txBox="1"/>
          <p:nvPr/>
        </p:nvSpPr>
        <p:spPr>
          <a:xfrm>
            <a:off x="4114800" y="5733288"/>
            <a:ext cx="7253935" cy="365760"/>
          </a:xfrm>
          <a:prstGeom prst="rect">
            <a:avLst/>
          </a:prstGeom>
          <a:noFill/>
        </p:spPr>
        <p:txBody>
          <a:bodyPr wrap="square" lIns="0" rIns="0" tIns="0" bIns="0" anchor="t">
            <a:spAutoFit/>
          </a:bodyPr>
          <a:lstStyle/>
          <a:p>
            <a:pPr algn="l">
              <a:spcAft>
                <a:spcPts val="0"/>
              </a:spcAft>
              <a:buNone/>
            </a:pPr>
            <a:r>
              <a:rPr sz="1400" b="1" i="0">
                <a:solidFill>
                  <a:srgbClr val="FFB300"/>
                </a:solidFill>
                <a:latin typeface="Calibri"/>
              </a:rPr>
              <a:t>Actions: </a:t>
            </a:r>
            <a:r>
              <a:rPr sz="1400" b="0" i="0">
                <a:solidFill>
                  <a:srgbClr val="FFFFFF"/>
                </a:solidFill>
                <a:latin typeface="Calibri"/>
              </a:rPr>
              <a:t>Pass · Save (adds to likes) · open the seller's public profile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822960"/>
          </a:xfrm>
        </p:spPr>
        <p:txBody>
          <a:bodyPr lIns="0" rIns="0" tIns="0" bIns="0" anchor="ctr" wrap="square"/>
          <a:lstStyle/>
          <a:p>
            <a:pPr algn="l"/>
            <a:r>
              <a:rPr sz="3200" b="1">
                <a:solidFill>
                  <a:srgbClr val="1B2B28"/>
                </a:solidFill>
                <a:latin typeface="Arial"/>
              </a:rPr>
              <a:t>Post an item or a gig from one bottom sheet</a:t>
            </a:r>
          </a:p>
        </p:txBody>
      </p:sp>
      <p:sp>
        <p:nvSpPr>
          <p:cNvPr id="3" name="kicker"/>
          <p:cNvSpPr txBox="1"/>
          <p:nvPr/>
        </p:nvSpPr>
        <p:spPr>
          <a:xfrm>
            <a:off x="548640" y="201168"/>
            <a:ext cx="7315200" cy="228600"/>
          </a:xfrm>
          <a:prstGeom prst="rect">
            <a:avLst/>
          </a:prstGeom>
          <a:noFill/>
        </p:spPr>
        <p:txBody>
          <a:bodyPr wrap="square" lIns="0" rIns="0" tIns="0" bIns="0" anchor="t">
            <a:spAutoFit/>
          </a:bodyPr>
          <a:lstStyle/>
          <a:p>
            <a:pPr algn="l">
              <a:spcAft>
                <a:spcPts val="0"/>
              </a:spcAft>
              <a:buNone/>
            </a:pPr>
            <a:r>
              <a:rPr sz="1100" b="1" i="0">
                <a:solidFill>
                  <a:srgbClr val="4F8F86"/>
                </a:solidFill>
                <a:latin typeface="Calibri"/>
              </a:rPr>
              <a:t>POSTING</a:t>
            </a:r>
          </a:p>
        </p:txBody>
      </p:sp>
      <p:sp>
        <p:nvSpPr>
          <p:cNvPr id="4" name="bottom sheet"/>
          <p:cNvSpPr/>
          <p:nvPr/>
        </p:nvSpPr>
        <p:spPr>
          <a:xfrm>
            <a:off x="822959" y="1463040"/>
            <a:ext cx="3931920" cy="4800600"/>
          </a:xfrm>
          <a:prstGeom prst="roundRect">
            <a:avLst>
              <a:gd name="adj" fmla="val 6976"/>
            </a:avLst>
          </a:prstGeom>
          <a:solidFill>
            <a:srgbClr val="F3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grabber"/>
          <p:cNvSpPr/>
          <p:nvPr/>
        </p:nvSpPr>
        <p:spPr>
          <a:xfrm>
            <a:off x="2423160" y="1600200"/>
            <a:ext cx="731520" cy="64008"/>
          </a:xfrm>
          <a:prstGeom prst="roundRect">
            <a:avLst>
              <a:gd name="adj" fmla="val 42857"/>
            </a:avLst>
          </a:prstGeom>
          <a:solidFill>
            <a:srgbClr val="B9D6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oggle"/>
          <p:cNvSpPr/>
          <p:nvPr/>
        </p:nvSpPr>
        <p:spPr>
          <a:xfrm>
            <a:off x="1143000" y="1874520"/>
            <a:ext cx="3291839" cy="457200"/>
          </a:xfrm>
          <a:prstGeom prst="roundRect">
            <a:avLst>
              <a:gd name="adj" fmla="val 50000"/>
            </a:avLst>
          </a:prstGeom>
          <a:solidFill>
            <a:srgbClr val="CF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oggle item"/>
          <p:cNvSpPr/>
          <p:nvPr/>
        </p:nvSpPr>
        <p:spPr>
          <a:xfrm>
            <a:off x="1170431" y="1901952"/>
            <a:ext cx="1618488" cy="402336"/>
          </a:xfrm>
          <a:prstGeom prst="roundRect">
            <a:avLst>
              <a:gd name="adj" fmla="val 50000"/>
            </a:avLst>
          </a:prstGeom>
          <a:solidFill>
            <a:srgbClr val="00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170431" y="1901952"/>
            <a:ext cx="1618488" cy="402336"/>
          </a:xfrm>
          <a:prstGeom prst="rect">
            <a:avLst/>
          </a:prstGeom>
          <a:noFill/>
        </p:spPr>
        <p:txBody>
          <a:bodyPr wrap="square" lIns="0" rIns="0" tIns="0" bIns="0" anchor="ctr">
            <a:spAutoFit/>
          </a:bodyPr>
          <a:lstStyle/>
          <a:p>
            <a:pPr algn="ctr">
              <a:spcAft>
                <a:spcPts val="0"/>
              </a:spcAft>
              <a:buNone/>
            </a:pPr>
            <a:r>
              <a:rPr sz="1400" b="1" i="0">
                <a:solidFill>
                  <a:srgbClr val="FFFFFF"/>
                </a:solidFill>
                <a:latin typeface="Calibri"/>
              </a:rPr>
              <a:t>Item</a:t>
            </a:r>
          </a:p>
        </p:txBody>
      </p:sp>
      <p:sp>
        <p:nvSpPr>
          <p:cNvPr id="9" name="TextBox 8"/>
          <p:cNvSpPr txBox="1"/>
          <p:nvPr/>
        </p:nvSpPr>
        <p:spPr>
          <a:xfrm>
            <a:off x="2788920" y="1901952"/>
            <a:ext cx="1618488" cy="402336"/>
          </a:xfrm>
          <a:prstGeom prst="rect">
            <a:avLst/>
          </a:prstGeom>
          <a:noFill/>
        </p:spPr>
        <p:txBody>
          <a:bodyPr wrap="square" lIns="0" rIns="0" tIns="0" bIns="0" anchor="ctr">
            <a:spAutoFit/>
          </a:bodyPr>
          <a:lstStyle/>
          <a:p>
            <a:pPr algn="ctr">
              <a:spcAft>
                <a:spcPts val="0"/>
              </a:spcAft>
              <a:buNone/>
            </a:pPr>
            <a:r>
              <a:rPr sz="1400" b="1" i="0">
                <a:solidFill>
                  <a:srgbClr val="006B5E"/>
                </a:solidFill>
                <a:latin typeface="Calibri"/>
              </a:rPr>
              <a:t>Gig</a:t>
            </a:r>
          </a:p>
        </p:txBody>
      </p:sp>
      <p:sp>
        <p:nvSpPr>
          <p:cNvPr id="10" name="field Title"/>
          <p:cNvSpPr/>
          <p:nvPr/>
        </p:nvSpPr>
        <p:spPr>
          <a:xfrm>
            <a:off x="1143000" y="2560320"/>
            <a:ext cx="3291839" cy="457200"/>
          </a:xfrm>
          <a:prstGeom prst="roundRect">
            <a:avLst>
              <a:gd name="adj" fmla="val 16000"/>
            </a:avLst>
          </a:prstGeom>
          <a:solidFill>
            <a:srgbClr val="FFFFFF"/>
          </a:solidFill>
          <a:ln w="12700">
            <a:solidFill>
              <a:srgbClr val="CFE5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325880" y="2560320"/>
            <a:ext cx="3017520" cy="457200"/>
          </a:xfrm>
          <a:prstGeom prst="rect">
            <a:avLst/>
          </a:prstGeom>
          <a:noFill/>
        </p:spPr>
        <p:txBody>
          <a:bodyPr wrap="square" lIns="0" rIns="0" tIns="0" bIns="0" anchor="ctr">
            <a:spAutoFit/>
          </a:bodyPr>
          <a:lstStyle/>
          <a:p>
            <a:pPr algn="l">
              <a:spcAft>
                <a:spcPts val="0"/>
              </a:spcAft>
              <a:buNone/>
            </a:pPr>
            <a:r>
              <a:rPr sz="1400" b="0" i="0">
                <a:solidFill>
                  <a:srgbClr val="56676A"/>
                </a:solidFill>
                <a:latin typeface="Calibri"/>
              </a:rPr>
              <a:t>Title</a:t>
            </a:r>
          </a:p>
        </p:txBody>
      </p:sp>
      <p:sp>
        <p:nvSpPr>
          <p:cNvPr id="12" name="field Price / Budget"/>
          <p:cNvSpPr/>
          <p:nvPr/>
        </p:nvSpPr>
        <p:spPr>
          <a:xfrm>
            <a:off x="1143000" y="3127248"/>
            <a:ext cx="3291839" cy="457200"/>
          </a:xfrm>
          <a:prstGeom prst="roundRect">
            <a:avLst>
              <a:gd name="adj" fmla="val 16000"/>
            </a:avLst>
          </a:prstGeom>
          <a:solidFill>
            <a:srgbClr val="FFFFFF"/>
          </a:solidFill>
          <a:ln w="12700">
            <a:solidFill>
              <a:srgbClr val="CFE5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325880" y="3127248"/>
            <a:ext cx="3017520" cy="457200"/>
          </a:xfrm>
          <a:prstGeom prst="rect">
            <a:avLst/>
          </a:prstGeom>
          <a:noFill/>
        </p:spPr>
        <p:txBody>
          <a:bodyPr wrap="square" lIns="0" rIns="0" tIns="0" bIns="0" anchor="ctr">
            <a:spAutoFit/>
          </a:bodyPr>
          <a:lstStyle/>
          <a:p>
            <a:pPr algn="l">
              <a:spcAft>
                <a:spcPts val="0"/>
              </a:spcAft>
              <a:buNone/>
            </a:pPr>
            <a:r>
              <a:rPr sz="1400" b="0" i="0">
                <a:solidFill>
                  <a:srgbClr val="56676A"/>
                </a:solidFill>
                <a:latin typeface="Calibri"/>
              </a:rPr>
              <a:t>Price / Budget</a:t>
            </a:r>
          </a:p>
        </p:txBody>
      </p:sp>
      <p:sp>
        <p:nvSpPr>
          <p:cNvPr id="14" name="field Location"/>
          <p:cNvSpPr/>
          <p:nvPr/>
        </p:nvSpPr>
        <p:spPr>
          <a:xfrm>
            <a:off x="1143000" y="3694176"/>
            <a:ext cx="3291839" cy="457200"/>
          </a:xfrm>
          <a:prstGeom prst="roundRect">
            <a:avLst>
              <a:gd name="adj" fmla="val 16000"/>
            </a:avLst>
          </a:prstGeom>
          <a:solidFill>
            <a:srgbClr val="FFFFFF"/>
          </a:solidFill>
          <a:ln w="12700">
            <a:solidFill>
              <a:srgbClr val="CFE5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325880" y="3694176"/>
            <a:ext cx="3017520" cy="457200"/>
          </a:xfrm>
          <a:prstGeom prst="rect">
            <a:avLst/>
          </a:prstGeom>
          <a:noFill/>
        </p:spPr>
        <p:txBody>
          <a:bodyPr wrap="square" lIns="0" rIns="0" tIns="0" bIns="0" anchor="ctr">
            <a:spAutoFit/>
          </a:bodyPr>
          <a:lstStyle/>
          <a:p>
            <a:pPr algn="l">
              <a:spcAft>
                <a:spcPts val="0"/>
              </a:spcAft>
              <a:buNone/>
            </a:pPr>
            <a:r>
              <a:rPr sz="1400" b="0" i="0">
                <a:solidFill>
                  <a:srgbClr val="56676A"/>
                </a:solidFill>
                <a:latin typeface="Calibri"/>
              </a:rPr>
              <a:t>Location</a:t>
            </a:r>
          </a:p>
        </p:txBody>
      </p:sp>
      <p:sp>
        <p:nvSpPr>
          <p:cNvPr id="16" name="field Description"/>
          <p:cNvSpPr/>
          <p:nvPr/>
        </p:nvSpPr>
        <p:spPr>
          <a:xfrm>
            <a:off x="1143000" y="4261104"/>
            <a:ext cx="3291839" cy="457200"/>
          </a:xfrm>
          <a:prstGeom prst="roundRect">
            <a:avLst>
              <a:gd name="adj" fmla="val 16000"/>
            </a:avLst>
          </a:prstGeom>
          <a:solidFill>
            <a:srgbClr val="FFFFFF"/>
          </a:solidFill>
          <a:ln w="12700">
            <a:solidFill>
              <a:srgbClr val="CFE5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325880" y="4261104"/>
            <a:ext cx="3017520" cy="457200"/>
          </a:xfrm>
          <a:prstGeom prst="rect">
            <a:avLst/>
          </a:prstGeom>
          <a:noFill/>
        </p:spPr>
        <p:txBody>
          <a:bodyPr wrap="square" lIns="0" rIns="0" tIns="0" bIns="0" anchor="ctr">
            <a:spAutoFit/>
          </a:bodyPr>
          <a:lstStyle/>
          <a:p>
            <a:pPr algn="l">
              <a:spcAft>
                <a:spcPts val="0"/>
              </a:spcAft>
              <a:buNone/>
            </a:pPr>
            <a:r>
              <a:rPr sz="1400" b="0" i="0">
                <a:solidFill>
                  <a:srgbClr val="56676A"/>
                </a:solidFill>
                <a:latin typeface="Calibri"/>
              </a:rPr>
              <a:t>Description</a:t>
            </a:r>
          </a:p>
        </p:txBody>
      </p:sp>
      <p:sp>
        <p:nvSpPr>
          <p:cNvPr id="18" name="photo 1"/>
          <p:cNvSpPr/>
          <p:nvPr/>
        </p:nvSpPr>
        <p:spPr>
          <a:xfrm>
            <a:off x="1143000" y="4983480"/>
            <a:ext cx="1005839" cy="914400"/>
          </a:xfrm>
          <a:prstGeom prst="roundRect">
            <a:avLst>
              <a:gd name="adj" fmla="val 10000"/>
            </a:avLst>
          </a:prstGeom>
          <a:solidFill>
            <a:srgbClr val="CF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icon camera" descr="camera_t.png"/>
          <p:cNvPicPr>
            <a:picLocks noChangeAspect="1"/>
          </p:cNvPicPr>
          <p:nvPr/>
        </p:nvPicPr>
        <p:blipFill>
          <a:blip r:embed="rId2"/>
          <a:stretch>
            <a:fillRect/>
          </a:stretch>
        </p:blipFill>
        <p:spPr>
          <a:xfrm>
            <a:off x="1444751" y="5239512"/>
            <a:ext cx="402336" cy="402336"/>
          </a:xfrm>
          <a:prstGeom prst="rect">
            <a:avLst/>
          </a:prstGeom>
        </p:spPr>
      </p:pic>
      <p:sp>
        <p:nvSpPr>
          <p:cNvPr id="20" name="photo 2"/>
          <p:cNvSpPr/>
          <p:nvPr/>
        </p:nvSpPr>
        <p:spPr>
          <a:xfrm>
            <a:off x="2286000" y="4983480"/>
            <a:ext cx="1005839" cy="914400"/>
          </a:xfrm>
          <a:prstGeom prst="roundRect">
            <a:avLst>
              <a:gd name="adj" fmla="val 10000"/>
            </a:avLst>
          </a:prstGeom>
          <a:solidFill>
            <a:srgbClr val="CF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icon camera" descr="camera_t.png"/>
          <p:cNvPicPr>
            <a:picLocks noChangeAspect="1"/>
          </p:cNvPicPr>
          <p:nvPr/>
        </p:nvPicPr>
        <p:blipFill>
          <a:blip r:embed="rId2"/>
          <a:stretch>
            <a:fillRect/>
          </a:stretch>
        </p:blipFill>
        <p:spPr>
          <a:xfrm>
            <a:off x="2587751" y="5239512"/>
            <a:ext cx="402336" cy="402336"/>
          </a:xfrm>
          <a:prstGeom prst="rect">
            <a:avLst/>
          </a:prstGeom>
        </p:spPr>
      </p:pic>
      <p:sp>
        <p:nvSpPr>
          <p:cNvPr id="22" name="photo 3"/>
          <p:cNvSpPr/>
          <p:nvPr/>
        </p:nvSpPr>
        <p:spPr>
          <a:xfrm>
            <a:off x="3428999" y="4983480"/>
            <a:ext cx="1005839" cy="914400"/>
          </a:xfrm>
          <a:prstGeom prst="roundRect">
            <a:avLst>
              <a:gd name="adj" fmla="val 10000"/>
            </a:avLst>
          </a:prstGeom>
          <a:solidFill>
            <a:srgbClr val="CF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icon camera" descr="camera_t.png"/>
          <p:cNvPicPr>
            <a:picLocks noChangeAspect="1"/>
          </p:cNvPicPr>
          <p:nvPr/>
        </p:nvPicPr>
        <p:blipFill>
          <a:blip r:embed="rId2"/>
          <a:stretch>
            <a:fillRect/>
          </a:stretch>
        </p:blipFill>
        <p:spPr>
          <a:xfrm>
            <a:off x="3730752" y="5239512"/>
            <a:ext cx="402336" cy="402336"/>
          </a:xfrm>
          <a:prstGeom prst="rect">
            <a:avLst/>
          </a:prstGeom>
        </p:spPr>
      </p:pic>
      <p:sp>
        <p:nvSpPr>
          <p:cNvPr id="24" name="badge tag"/>
          <p:cNvSpPr/>
          <p:nvPr/>
        </p:nvSpPr>
        <p:spPr>
          <a:xfrm>
            <a:off x="5394960" y="1508760"/>
            <a:ext cx="685800" cy="685800"/>
          </a:xfrm>
          <a:prstGeom prst="ellipse">
            <a:avLst/>
          </a:prstGeom>
          <a:solidFill>
            <a:srgbClr val="00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icon tag" descr="tag_w.png"/>
          <p:cNvPicPr>
            <a:picLocks noChangeAspect="1"/>
          </p:cNvPicPr>
          <p:nvPr/>
        </p:nvPicPr>
        <p:blipFill>
          <a:blip r:embed="rId3"/>
          <a:stretch>
            <a:fillRect/>
          </a:stretch>
        </p:blipFill>
        <p:spPr>
          <a:xfrm>
            <a:off x="5559552" y="1673351"/>
            <a:ext cx="356616" cy="356616"/>
          </a:xfrm>
          <a:prstGeom prst="rect">
            <a:avLst/>
          </a:prstGeom>
        </p:spPr>
      </p:pic>
      <p:sp>
        <p:nvSpPr>
          <p:cNvPr id="26" name="TextBox 25"/>
          <p:cNvSpPr txBox="1"/>
          <p:nvPr/>
        </p:nvSpPr>
        <p:spPr>
          <a:xfrm>
            <a:off x="6309360" y="1490472"/>
            <a:ext cx="5333695" cy="365760"/>
          </a:xfrm>
          <a:prstGeom prst="rect">
            <a:avLst/>
          </a:prstGeom>
          <a:noFill/>
        </p:spPr>
        <p:txBody>
          <a:bodyPr wrap="square" lIns="0" rIns="0" tIns="0" bIns="0" anchor="t">
            <a:spAutoFit/>
          </a:bodyPr>
          <a:lstStyle/>
          <a:p>
            <a:pPr algn="l">
              <a:spcAft>
                <a:spcPts val="0"/>
              </a:spcAft>
              <a:buNone/>
            </a:pPr>
            <a:r>
              <a:rPr sz="1700" b="1" i="0">
                <a:solidFill>
                  <a:srgbClr val="1B2B28"/>
                </a:solidFill>
                <a:latin typeface="Arial"/>
              </a:rPr>
              <a:t>Type toggle</a:t>
            </a:r>
          </a:p>
        </p:txBody>
      </p:sp>
      <p:sp>
        <p:nvSpPr>
          <p:cNvPr id="27" name="TextBox 26"/>
          <p:cNvSpPr txBox="1"/>
          <p:nvPr/>
        </p:nvSpPr>
        <p:spPr>
          <a:xfrm>
            <a:off x="6309360" y="1856231"/>
            <a:ext cx="5333695" cy="685800"/>
          </a:xfrm>
          <a:prstGeom prst="rect">
            <a:avLst/>
          </a:prstGeom>
          <a:noFill/>
        </p:spPr>
        <p:txBody>
          <a:bodyPr wrap="square" lIns="0" rIns="0" tIns="0" bIns="0" anchor="t">
            <a:spAutoFit/>
          </a:bodyPr>
          <a:lstStyle/>
          <a:p>
            <a:pPr algn="l">
              <a:spcAft>
                <a:spcPts val="0"/>
              </a:spcAft>
              <a:buNone/>
            </a:pPr>
            <a:r>
              <a:rPr sz="1500" b="0" i="0">
                <a:solidFill>
                  <a:srgbClr val="56676A"/>
                </a:solidFill>
                <a:latin typeface="Calibri"/>
              </a:rPr>
              <a:t>Item (sell) or Gig (service); fields: title, price or budget, location, description</a:t>
            </a:r>
          </a:p>
        </p:txBody>
      </p:sp>
      <p:sp>
        <p:nvSpPr>
          <p:cNvPr id="28" name="badge briefcase"/>
          <p:cNvSpPr/>
          <p:nvPr/>
        </p:nvSpPr>
        <p:spPr>
          <a:xfrm>
            <a:off x="5394960" y="2697480"/>
            <a:ext cx="685800" cy="685800"/>
          </a:xfrm>
          <a:prstGeom prst="ellipse">
            <a:avLst/>
          </a:prstGeom>
          <a:solidFill>
            <a:srgbClr val="00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icon briefcase" descr="briefcase_w.png"/>
          <p:cNvPicPr>
            <a:picLocks noChangeAspect="1"/>
          </p:cNvPicPr>
          <p:nvPr/>
        </p:nvPicPr>
        <p:blipFill>
          <a:blip r:embed="rId4"/>
          <a:stretch>
            <a:fillRect/>
          </a:stretch>
        </p:blipFill>
        <p:spPr>
          <a:xfrm>
            <a:off x="5559552" y="2862072"/>
            <a:ext cx="356616" cy="356616"/>
          </a:xfrm>
          <a:prstGeom prst="rect">
            <a:avLst/>
          </a:prstGeom>
        </p:spPr>
      </p:pic>
      <p:sp>
        <p:nvSpPr>
          <p:cNvPr id="30" name="TextBox 29"/>
          <p:cNvSpPr txBox="1"/>
          <p:nvPr/>
        </p:nvSpPr>
        <p:spPr>
          <a:xfrm>
            <a:off x="6309360" y="2679192"/>
            <a:ext cx="5333695" cy="365760"/>
          </a:xfrm>
          <a:prstGeom prst="rect">
            <a:avLst/>
          </a:prstGeom>
          <a:noFill/>
        </p:spPr>
        <p:txBody>
          <a:bodyPr wrap="square" lIns="0" rIns="0" tIns="0" bIns="0" anchor="t">
            <a:spAutoFit/>
          </a:bodyPr>
          <a:lstStyle/>
          <a:p>
            <a:pPr algn="l">
              <a:spcAft>
                <a:spcPts val="0"/>
              </a:spcAft>
              <a:buNone/>
            </a:pPr>
            <a:r>
              <a:rPr sz="1700" b="1" i="0">
                <a:solidFill>
                  <a:srgbClr val="1B2B28"/>
                </a:solidFill>
                <a:latin typeface="Arial"/>
              </a:rPr>
              <a:t>Gig extras</a:t>
            </a:r>
          </a:p>
        </p:txBody>
      </p:sp>
      <p:sp>
        <p:nvSpPr>
          <p:cNvPr id="31" name="TextBox 30"/>
          <p:cNvSpPr txBox="1"/>
          <p:nvPr/>
        </p:nvSpPr>
        <p:spPr>
          <a:xfrm>
            <a:off x="6309360" y="3044952"/>
            <a:ext cx="5333695" cy="685800"/>
          </a:xfrm>
          <a:prstGeom prst="rect">
            <a:avLst/>
          </a:prstGeom>
          <a:noFill/>
        </p:spPr>
        <p:txBody>
          <a:bodyPr wrap="square" lIns="0" rIns="0" tIns="0" bIns="0" anchor="t">
            <a:spAutoFit/>
          </a:bodyPr>
          <a:lstStyle/>
          <a:p>
            <a:pPr algn="l">
              <a:spcAft>
                <a:spcPts val="0"/>
              </a:spcAft>
              <a:buNone/>
            </a:pPr>
            <a:r>
              <a:rPr sz="1500" b="0" i="0">
                <a:solidFill>
                  <a:srgbClr val="56676A"/>
                </a:solidFill>
                <a:latin typeface="Calibri"/>
              </a:rPr>
              <a:t>Duration and remote-only options appear for gigs</a:t>
            </a:r>
          </a:p>
        </p:txBody>
      </p:sp>
      <p:sp>
        <p:nvSpPr>
          <p:cNvPr id="32" name="badge camera"/>
          <p:cNvSpPr/>
          <p:nvPr/>
        </p:nvSpPr>
        <p:spPr>
          <a:xfrm>
            <a:off x="5394960" y="3886200"/>
            <a:ext cx="685800" cy="685800"/>
          </a:xfrm>
          <a:prstGeom prst="ellipse">
            <a:avLst/>
          </a:prstGeom>
          <a:solidFill>
            <a:srgbClr val="00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3" name="icon camera" descr="camera_w.png"/>
          <p:cNvPicPr>
            <a:picLocks noChangeAspect="1"/>
          </p:cNvPicPr>
          <p:nvPr/>
        </p:nvPicPr>
        <p:blipFill>
          <a:blip r:embed="rId5"/>
          <a:stretch>
            <a:fillRect/>
          </a:stretch>
        </p:blipFill>
        <p:spPr>
          <a:xfrm>
            <a:off x="5559552" y="4050791"/>
            <a:ext cx="356616" cy="356616"/>
          </a:xfrm>
          <a:prstGeom prst="rect">
            <a:avLst/>
          </a:prstGeom>
        </p:spPr>
      </p:pic>
      <p:sp>
        <p:nvSpPr>
          <p:cNvPr id="34" name="TextBox 33"/>
          <p:cNvSpPr txBox="1"/>
          <p:nvPr/>
        </p:nvSpPr>
        <p:spPr>
          <a:xfrm>
            <a:off x="6309360" y="3867912"/>
            <a:ext cx="5333695" cy="365760"/>
          </a:xfrm>
          <a:prstGeom prst="rect">
            <a:avLst/>
          </a:prstGeom>
          <a:noFill/>
        </p:spPr>
        <p:txBody>
          <a:bodyPr wrap="square" lIns="0" rIns="0" tIns="0" bIns="0" anchor="t">
            <a:spAutoFit/>
          </a:bodyPr>
          <a:lstStyle/>
          <a:p>
            <a:pPr algn="l">
              <a:spcAft>
                <a:spcPts val="0"/>
              </a:spcAft>
              <a:buNone/>
            </a:pPr>
            <a:r>
              <a:rPr sz="1700" b="1" i="0">
                <a:solidFill>
                  <a:srgbClr val="1B2B28"/>
                </a:solidFill>
                <a:latin typeface="Arial"/>
              </a:rPr>
              <a:t>Photos</a:t>
            </a:r>
          </a:p>
        </p:txBody>
      </p:sp>
      <p:sp>
        <p:nvSpPr>
          <p:cNvPr id="35" name="TextBox 34"/>
          <p:cNvSpPr txBox="1"/>
          <p:nvPr/>
        </p:nvSpPr>
        <p:spPr>
          <a:xfrm>
            <a:off x="6309360" y="4233672"/>
            <a:ext cx="5333695" cy="685800"/>
          </a:xfrm>
          <a:prstGeom prst="rect">
            <a:avLst/>
          </a:prstGeom>
          <a:noFill/>
        </p:spPr>
        <p:txBody>
          <a:bodyPr wrap="square" lIns="0" rIns="0" tIns="0" bIns="0" anchor="t">
            <a:spAutoFit/>
          </a:bodyPr>
          <a:lstStyle/>
          <a:p>
            <a:pPr algn="l">
              <a:spcAft>
                <a:spcPts val="0"/>
              </a:spcAft>
              <a:buNone/>
            </a:pPr>
            <a:r>
              <a:rPr sz="1500" b="0" i="0">
                <a:solidFill>
                  <a:srgbClr val="56676A"/>
                </a:solidFill>
                <a:latin typeface="Calibri"/>
              </a:rPr>
              <a:t>Multi-photo grid upload to Cloudinary; required photos are validated before submitting</a:t>
            </a:r>
          </a:p>
        </p:txBody>
      </p:sp>
      <p:sp>
        <p:nvSpPr>
          <p:cNvPr id="36" name="badge pencil"/>
          <p:cNvSpPr/>
          <p:nvPr/>
        </p:nvSpPr>
        <p:spPr>
          <a:xfrm>
            <a:off x="5394960" y="5074920"/>
            <a:ext cx="685800" cy="685800"/>
          </a:xfrm>
          <a:prstGeom prst="ellipse">
            <a:avLst/>
          </a:prstGeom>
          <a:solidFill>
            <a:srgbClr val="00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7" name="icon pencil" descr="pencil_w.png"/>
          <p:cNvPicPr>
            <a:picLocks noChangeAspect="1"/>
          </p:cNvPicPr>
          <p:nvPr/>
        </p:nvPicPr>
        <p:blipFill>
          <a:blip r:embed="rId6"/>
          <a:stretch>
            <a:fillRect/>
          </a:stretch>
        </p:blipFill>
        <p:spPr>
          <a:xfrm>
            <a:off x="5559552" y="5239512"/>
            <a:ext cx="356616" cy="356616"/>
          </a:xfrm>
          <a:prstGeom prst="rect">
            <a:avLst/>
          </a:prstGeom>
        </p:spPr>
      </p:pic>
      <p:sp>
        <p:nvSpPr>
          <p:cNvPr id="38" name="TextBox 37"/>
          <p:cNvSpPr txBox="1"/>
          <p:nvPr/>
        </p:nvSpPr>
        <p:spPr>
          <a:xfrm>
            <a:off x="6309360" y="5056632"/>
            <a:ext cx="5333695" cy="365760"/>
          </a:xfrm>
          <a:prstGeom prst="rect">
            <a:avLst/>
          </a:prstGeom>
          <a:noFill/>
        </p:spPr>
        <p:txBody>
          <a:bodyPr wrap="square" lIns="0" rIns="0" tIns="0" bIns="0" anchor="t">
            <a:spAutoFit/>
          </a:bodyPr>
          <a:lstStyle/>
          <a:p>
            <a:pPr algn="l">
              <a:spcAft>
                <a:spcPts val="0"/>
              </a:spcAft>
              <a:buNone/>
            </a:pPr>
            <a:r>
              <a:rPr sz="1700" b="1" i="0">
                <a:solidFill>
                  <a:srgbClr val="1B2B28"/>
                </a:solidFill>
                <a:latin typeface="Arial"/>
              </a:rPr>
              <a:t>Edit &amp; delete</a:t>
            </a:r>
          </a:p>
        </p:txBody>
      </p:sp>
      <p:sp>
        <p:nvSpPr>
          <p:cNvPr id="39" name="TextBox 38"/>
          <p:cNvSpPr txBox="1"/>
          <p:nvPr/>
        </p:nvSpPr>
        <p:spPr>
          <a:xfrm>
            <a:off x="6309360" y="5422392"/>
            <a:ext cx="5333695" cy="685800"/>
          </a:xfrm>
          <a:prstGeom prst="rect">
            <a:avLst/>
          </a:prstGeom>
          <a:noFill/>
        </p:spPr>
        <p:txBody>
          <a:bodyPr wrap="square" lIns="0" rIns="0" tIns="0" bIns="0" anchor="t">
            <a:spAutoFit/>
          </a:bodyPr>
          <a:lstStyle/>
          <a:p>
            <a:pPr algn="l">
              <a:spcAft>
                <a:spcPts val="0"/>
              </a:spcAft>
              <a:buNone/>
            </a:pPr>
            <a:r>
              <a:rPr sz="1500" b="0" i="0">
                <a:solidFill>
                  <a:srgbClr val="56676A"/>
                </a:solidFill>
                <a:latin typeface="Calibri"/>
              </a:rPr>
              <a:t>Owners edit a listing, mark it Completed, or delete it from the listing's menu</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822960"/>
          </a:xfrm>
        </p:spPr>
        <p:txBody>
          <a:bodyPr lIns="0" rIns="0" tIns="0" bIns="0" anchor="ctr" wrap="square"/>
          <a:lstStyle/>
          <a:p>
            <a:pPr algn="l"/>
            <a:r>
              <a:rPr sz="3200" b="1">
                <a:solidFill>
                  <a:srgbClr val="1B2B28"/>
                </a:solidFill>
                <a:latin typeface="Arial"/>
              </a:rPr>
              <a:t>Realtime chat that keeps working offline</a:t>
            </a:r>
          </a:p>
        </p:txBody>
      </p:sp>
      <p:sp>
        <p:nvSpPr>
          <p:cNvPr id="3" name="kicker"/>
          <p:cNvSpPr txBox="1"/>
          <p:nvPr/>
        </p:nvSpPr>
        <p:spPr>
          <a:xfrm>
            <a:off x="548640" y="201168"/>
            <a:ext cx="7315200" cy="228600"/>
          </a:xfrm>
          <a:prstGeom prst="rect">
            <a:avLst/>
          </a:prstGeom>
          <a:noFill/>
        </p:spPr>
        <p:txBody>
          <a:bodyPr wrap="square" lIns="0" rIns="0" tIns="0" bIns="0" anchor="t">
            <a:spAutoFit/>
          </a:bodyPr>
          <a:lstStyle/>
          <a:p>
            <a:pPr algn="l">
              <a:spcAft>
                <a:spcPts val="0"/>
              </a:spcAft>
              <a:buNone/>
            </a:pPr>
            <a:r>
              <a:rPr sz="1100" b="1" i="0">
                <a:solidFill>
                  <a:srgbClr val="4F8F86"/>
                </a:solidFill>
                <a:latin typeface="Calibri"/>
              </a:rPr>
              <a:t>CHAT &amp; INBOX</a:t>
            </a:r>
          </a:p>
        </p:txBody>
      </p:sp>
      <p:sp>
        <p:nvSpPr>
          <p:cNvPr id="4" name="stat"/>
          <p:cNvSpPr/>
          <p:nvPr/>
        </p:nvSpPr>
        <p:spPr>
          <a:xfrm>
            <a:off x="548640" y="1463040"/>
            <a:ext cx="3017520" cy="4754880"/>
          </a:xfrm>
          <a:prstGeom prst="roundRect">
            <a:avLst>
              <a:gd name="adj" fmla="val 3636"/>
            </a:avLst>
          </a:prstGeom>
          <a:solidFill>
            <a:srgbClr val="00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68680" y="1783080"/>
            <a:ext cx="2468880" cy="1280160"/>
          </a:xfrm>
          <a:prstGeom prst="rect">
            <a:avLst/>
          </a:prstGeom>
          <a:noFill/>
        </p:spPr>
        <p:txBody>
          <a:bodyPr wrap="square" lIns="0" rIns="0" tIns="0" bIns="0" anchor="t">
            <a:spAutoFit/>
          </a:bodyPr>
          <a:lstStyle/>
          <a:p>
            <a:pPr algn="l">
              <a:spcAft>
                <a:spcPts val="0"/>
              </a:spcAft>
              <a:buNone/>
            </a:pPr>
            <a:r>
              <a:rPr sz="9600" b="1" i="0">
                <a:solidFill>
                  <a:srgbClr val="FFFFFF"/>
                </a:solidFill>
                <a:latin typeface="Arial"/>
              </a:rPr>
              <a:t>20</a:t>
            </a:r>
          </a:p>
        </p:txBody>
      </p:sp>
      <p:sp>
        <p:nvSpPr>
          <p:cNvPr id="6" name="TextBox 5"/>
          <p:cNvSpPr txBox="1"/>
          <p:nvPr/>
        </p:nvSpPr>
        <p:spPr>
          <a:xfrm>
            <a:off x="868680" y="3108960"/>
            <a:ext cx="2468880" cy="731520"/>
          </a:xfrm>
          <a:prstGeom prst="rect">
            <a:avLst/>
          </a:prstGeom>
          <a:noFill/>
        </p:spPr>
        <p:txBody>
          <a:bodyPr wrap="square" lIns="0" rIns="0" tIns="0" bIns="0" anchor="t">
            <a:spAutoFit/>
          </a:bodyPr>
          <a:lstStyle/>
          <a:p>
            <a:pPr algn="l">
              <a:spcAft>
                <a:spcPts val="0"/>
              </a:spcAft>
              <a:buNone/>
            </a:pPr>
            <a:r>
              <a:rPr sz="1600" b="0" i="0">
                <a:solidFill>
                  <a:srgbClr val="DCEDEA"/>
                </a:solidFill>
                <a:latin typeface="Calibri"/>
              </a:rPr>
              <a:t>messages per page; scroll up to load older ones</a:t>
            </a:r>
          </a:p>
        </p:txBody>
      </p:sp>
      <p:sp>
        <p:nvSpPr>
          <p:cNvPr id="7" name="badge wifi-off"/>
          <p:cNvSpPr/>
          <p:nvPr/>
        </p:nvSpPr>
        <p:spPr>
          <a:xfrm>
            <a:off x="868680" y="4343400"/>
            <a:ext cx="685800" cy="685800"/>
          </a:xfrm>
          <a:prstGeom prst="ellipse">
            <a:avLst/>
          </a:prstGeom>
          <a:solidFill>
            <a:srgbClr val="FFB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icon wifi-off" descr="wifi-off_d.png"/>
          <p:cNvPicPr>
            <a:picLocks noChangeAspect="1"/>
          </p:cNvPicPr>
          <p:nvPr/>
        </p:nvPicPr>
        <p:blipFill>
          <a:blip r:embed="rId2"/>
          <a:stretch>
            <a:fillRect/>
          </a:stretch>
        </p:blipFill>
        <p:spPr>
          <a:xfrm>
            <a:off x="1033271" y="4507992"/>
            <a:ext cx="356616" cy="356616"/>
          </a:xfrm>
          <a:prstGeom prst="rect">
            <a:avLst/>
          </a:prstGeom>
        </p:spPr>
      </p:pic>
      <p:sp>
        <p:nvSpPr>
          <p:cNvPr id="9" name="TextBox 8"/>
          <p:cNvSpPr txBox="1"/>
          <p:nvPr/>
        </p:nvSpPr>
        <p:spPr>
          <a:xfrm>
            <a:off x="868680" y="5166360"/>
            <a:ext cx="2514600" cy="914400"/>
          </a:xfrm>
          <a:prstGeom prst="rect">
            <a:avLst/>
          </a:prstGeom>
          <a:noFill/>
        </p:spPr>
        <p:txBody>
          <a:bodyPr wrap="square" lIns="0" rIns="0" tIns="0" bIns="0" anchor="t">
            <a:spAutoFit/>
          </a:bodyPr>
          <a:lstStyle/>
          <a:p>
            <a:pPr algn="l">
              <a:spcAft>
                <a:spcPts val="0"/>
              </a:spcAft>
              <a:buNone/>
            </a:pPr>
            <a:r>
              <a:rPr sz="1400" b="0" i="0">
                <a:solidFill>
                  <a:srgbClr val="DCEDEA"/>
                </a:solidFill>
                <a:latin typeface="Calibri"/>
              </a:rPr>
              <a:t>History is cached on the phone and reads instantly without a connection</a:t>
            </a:r>
          </a:p>
        </p:txBody>
      </p:sp>
      <p:sp>
        <p:nvSpPr>
          <p:cNvPr id="10" name="Start a chat"/>
          <p:cNvSpPr/>
          <p:nvPr/>
        </p:nvSpPr>
        <p:spPr>
          <a:xfrm>
            <a:off x="3931920" y="1463040"/>
            <a:ext cx="3718407" cy="1402080"/>
          </a:xfrm>
          <a:prstGeom prst="roundRect">
            <a:avLst>
              <a:gd name="adj" fmla="val 7826"/>
            </a:avLst>
          </a:prstGeom>
          <a:solidFill>
            <a:srgbClr val="F3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badge message-circle"/>
          <p:cNvSpPr/>
          <p:nvPr/>
        </p:nvSpPr>
        <p:spPr>
          <a:xfrm>
            <a:off x="4160520" y="1691640"/>
            <a:ext cx="548640" cy="548640"/>
          </a:xfrm>
          <a:prstGeom prst="ellipse">
            <a:avLst/>
          </a:prstGeom>
          <a:solidFill>
            <a:srgbClr val="00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icon message-circle" descr="message-circle_w.png"/>
          <p:cNvPicPr>
            <a:picLocks noChangeAspect="1"/>
          </p:cNvPicPr>
          <p:nvPr/>
        </p:nvPicPr>
        <p:blipFill>
          <a:blip r:embed="rId3"/>
          <a:stretch>
            <a:fillRect/>
          </a:stretch>
        </p:blipFill>
        <p:spPr>
          <a:xfrm>
            <a:off x="4292193" y="1823313"/>
            <a:ext cx="285292" cy="285292"/>
          </a:xfrm>
          <a:prstGeom prst="rect">
            <a:avLst/>
          </a:prstGeom>
        </p:spPr>
      </p:pic>
      <p:sp>
        <p:nvSpPr>
          <p:cNvPr id="13" name="TextBox 12"/>
          <p:cNvSpPr txBox="1"/>
          <p:nvPr/>
        </p:nvSpPr>
        <p:spPr>
          <a:xfrm>
            <a:off x="4892040" y="1664208"/>
            <a:ext cx="2575407" cy="320040"/>
          </a:xfrm>
          <a:prstGeom prst="rect">
            <a:avLst/>
          </a:prstGeom>
          <a:noFill/>
        </p:spPr>
        <p:txBody>
          <a:bodyPr wrap="square" lIns="0" rIns="0" tIns="0" bIns="0" anchor="t">
            <a:spAutoFit/>
          </a:bodyPr>
          <a:lstStyle/>
          <a:p>
            <a:pPr algn="l">
              <a:spcAft>
                <a:spcPts val="0"/>
              </a:spcAft>
              <a:buNone/>
            </a:pPr>
            <a:r>
              <a:rPr sz="1600" b="1" i="0">
                <a:solidFill>
                  <a:srgbClr val="1B2B28"/>
                </a:solidFill>
                <a:latin typeface="Arial"/>
              </a:rPr>
              <a:t>Start a chat</a:t>
            </a:r>
          </a:p>
        </p:txBody>
      </p:sp>
      <p:sp>
        <p:nvSpPr>
          <p:cNvPr id="14" name="TextBox 13"/>
          <p:cNvSpPr txBox="1"/>
          <p:nvPr/>
        </p:nvSpPr>
        <p:spPr>
          <a:xfrm>
            <a:off x="4892040" y="1993392"/>
            <a:ext cx="2575407" cy="777240"/>
          </a:xfrm>
          <a:prstGeom prst="rect">
            <a:avLst/>
          </a:prstGeom>
          <a:noFill/>
        </p:spPr>
        <p:txBody>
          <a:bodyPr wrap="square" lIns="0" rIns="0" tIns="0" bIns="0" anchor="t">
            <a:spAutoFit/>
          </a:bodyPr>
          <a:lstStyle/>
          <a:p>
            <a:pPr algn="l">
              <a:spcAft>
                <a:spcPts val="0"/>
              </a:spcAft>
              <a:buNone/>
            </a:pPr>
            <a:r>
              <a:rPr sz="1400" b="0" i="0">
                <a:solidFill>
                  <a:srgbClr val="56676A"/>
                </a:solidFill>
                <a:latin typeface="Calibri"/>
              </a:rPr>
              <a:t>“Message seller” or “Message poster” opens a thread; tapping again reopens it</a:t>
            </a:r>
          </a:p>
        </p:txBody>
      </p:sp>
      <p:sp>
        <p:nvSpPr>
          <p:cNvPr id="15" name="Conversation list"/>
          <p:cNvSpPr/>
          <p:nvPr/>
        </p:nvSpPr>
        <p:spPr>
          <a:xfrm>
            <a:off x="7924647" y="1463040"/>
            <a:ext cx="3718407" cy="1402080"/>
          </a:xfrm>
          <a:prstGeom prst="roundRect">
            <a:avLst>
              <a:gd name="adj" fmla="val 7826"/>
            </a:avLst>
          </a:prstGeom>
          <a:solidFill>
            <a:srgbClr val="F3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badge search"/>
          <p:cNvSpPr/>
          <p:nvPr/>
        </p:nvSpPr>
        <p:spPr>
          <a:xfrm>
            <a:off x="8153247" y="1691640"/>
            <a:ext cx="548640" cy="548640"/>
          </a:xfrm>
          <a:prstGeom prst="ellipse">
            <a:avLst/>
          </a:prstGeom>
          <a:solidFill>
            <a:srgbClr val="00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icon search" descr="search_w.png"/>
          <p:cNvPicPr>
            <a:picLocks noChangeAspect="1"/>
          </p:cNvPicPr>
          <p:nvPr/>
        </p:nvPicPr>
        <p:blipFill>
          <a:blip r:embed="rId4"/>
          <a:stretch>
            <a:fillRect/>
          </a:stretch>
        </p:blipFill>
        <p:spPr>
          <a:xfrm>
            <a:off x="8284921" y="1823313"/>
            <a:ext cx="285292" cy="285292"/>
          </a:xfrm>
          <a:prstGeom prst="rect">
            <a:avLst/>
          </a:prstGeom>
        </p:spPr>
      </p:pic>
      <p:sp>
        <p:nvSpPr>
          <p:cNvPr id="18" name="TextBox 17"/>
          <p:cNvSpPr txBox="1"/>
          <p:nvPr/>
        </p:nvSpPr>
        <p:spPr>
          <a:xfrm>
            <a:off x="8884767" y="1664208"/>
            <a:ext cx="2575407" cy="320040"/>
          </a:xfrm>
          <a:prstGeom prst="rect">
            <a:avLst/>
          </a:prstGeom>
          <a:noFill/>
        </p:spPr>
        <p:txBody>
          <a:bodyPr wrap="square" lIns="0" rIns="0" tIns="0" bIns="0" anchor="t">
            <a:spAutoFit/>
          </a:bodyPr>
          <a:lstStyle/>
          <a:p>
            <a:pPr algn="l">
              <a:spcAft>
                <a:spcPts val="0"/>
              </a:spcAft>
              <a:buNone/>
            </a:pPr>
            <a:r>
              <a:rPr sz="1600" b="1" i="0">
                <a:solidFill>
                  <a:srgbClr val="1B2B28"/>
                </a:solidFill>
                <a:latin typeface="Arial"/>
              </a:rPr>
              <a:t>Conversation list</a:t>
            </a:r>
          </a:p>
        </p:txBody>
      </p:sp>
      <p:sp>
        <p:nvSpPr>
          <p:cNvPr id="19" name="TextBox 18"/>
          <p:cNvSpPr txBox="1"/>
          <p:nvPr/>
        </p:nvSpPr>
        <p:spPr>
          <a:xfrm>
            <a:off x="8884767" y="1993392"/>
            <a:ext cx="2575407" cy="777240"/>
          </a:xfrm>
          <a:prstGeom prst="rect">
            <a:avLst/>
          </a:prstGeom>
          <a:noFill/>
        </p:spPr>
        <p:txBody>
          <a:bodyPr wrap="square" lIns="0" rIns="0" tIns="0" bIns="0" anchor="t">
            <a:spAutoFit/>
          </a:bodyPr>
          <a:lstStyle/>
          <a:p>
            <a:pPr algn="l">
              <a:spcAft>
                <a:spcPts val="0"/>
              </a:spcAft>
              <a:buNone/>
            </a:pPr>
            <a:r>
              <a:rPr sz="1400" b="0" i="0">
                <a:solidFill>
                  <a:srgbClr val="56676A"/>
                </a:solidFill>
                <a:latin typeface="Calibri"/>
              </a:rPr>
              <a:t>Searchable inbox: name, listing, last message, time, unread badge</a:t>
            </a:r>
          </a:p>
        </p:txBody>
      </p:sp>
      <p:sp>
        <p:nvSpPr>
          <p:cNvPr id="20" name="Thread view"/>
          <p:cNvSpPr/>
          <p:nvPr/>
        </p:nvSpPr>
        <p:spPr>
          <a:xfrm>
            <a:off x="3931920" y="3139440"/>
            <a:ext cx="3718407" cy="1402080"/>
          </a:xfrm>
          <a:prstGeom prst="roundRect">
            <a:avLst>
              <a:gd name="adj" fmla="val 7826"/>
            </a:avLst>
          </a:prstGeom>
          <a:solidFill>
            <a:srgbClr val="F3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badge users"/>
          <p:cNvSpPr/>
          <p:nvPr/>
        </p:nvSpPr>
        <p:spPr>
          <a:xfrm>
            <a:off x="4160520" y="3368040"/>
            <a:ext cx="548640" cy="548640"/>
          </a:xfrm>
          <a:prstGeom prst="ellipse">
            <a:avLst/>
          </a:prstGeom>
          <a:solidFill>
            <a:srgbClr val="00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icon users" descr="users_w.png"/>
          <p:cNvPicPr>
            <a:picLocks noChangeAspect="1"/>
          </p:cNvPicPr>
          <p:nvPr/>
        </p:nvPicPr>
        <p:blipFill>
          <a:blip r:embed="rId5"/>
          <a:stretch>
            <a:fillRect/>
          </a:stretch>
        </p:blipFill>
        <p:spPr>
          <a:xfrm>
            <a:off x="4292193" y="3499713"/>
            <a:ext cx="285292" cy="285292"/>
          </a:xfrm>
          <a:prstGeom prst="rect">
            <a:avLst/>
          </a:prstGeom>
        </p:spPr>
      </p:pic>
      <p:sp>
        <p:nvSpPr>
          <p:cNvPr id="23" name="TextBox 22"/>
          <p:cNvSpPr txBox="1"/>
          <p:nvPr/>
        </p:nvSpPr>
        <p:spPr>
          <a:xfrm>
            <a:off x="4892040" y="3340608"/>
            <a:ext cx="2575407" cy="320040"/>
          </a:xfrm>
          <a:prstGeom prst="rect">
            <a:avLst/>
          </a:prstGeom>
          <a:noFill/>
        </p:spPr>
        <p:txBody>
          <a:bodyPr wrap="square" lIns="0" rIns="0" tIns="0" bIns="0" anchor="t">
            <a:spAutoFit/>
          </a:bodyPr>
          <a:lstStyle/>
          <a:p>
            <a:pPr algn="l">
              <a:spcAft>
                <a:spcPts val="0"/>
              </a:spcAft>
              <a:buNone/>
            </a:pPr>
            <a:r>
              <a:rPr sz="1600" b="1" i="0">
                <a:solidFill>
                  <a:srgbClr val="1B2B28"/>
                </a:solidFill>
                <a:latin typeface="Arial"/>
              </a:rPr>
              <a:t>Thread view</a:t>
            </a:r>
          </a:p>
        </p:txBody>
      </p:sp>
      <p:sp>
        <p:nvSpPr>
          <p:cNvPr id="24" name="TextBox 23"/>
          <p:cNvSpPr txBox="1"/>
          <p:nvPr/>
        </p:nvSpPr>
        <p:spPr>
          <a:xfrm>
            <a:off x="4892040" y="3669792"/>
            <a:ext cx="2575407" cy="777240"/>
          </a:xfrm>
          <a:prstGeom prst="rect">
            <a:avLst/>
          </a:prstGeom>
          <a:noFill/>
        </p:spPr>
        <p:txBody>
          <a:bodyPr wrap="square" lIns="0" rIns="0" tIns="0" bIns="0" anchor="t">
            <a:spAutoFit/>
          </a:bodyPr>
          <a:lstStyle/>
          <a:p>
            <a:pPr algn="l">
              <a:spcAft>
                <a:spcPts val="0"/>
              </a:spcAft>
              <a:buNone/>
            </a:pPr>
            <a:r>
              <a:rPr sz="1400" b="0" i="0">
                <a:solidFill>
                  <a:srgbClr val="56676A"/>
                </a:solidFill>
                <a:latin typeface="Calibri"/>
              </a:rPr>
              <a:t>Realtime 1-to-1 messaging with a typing indicator</a:t>
            </a:r>
          </a:p>
        </p:txBody>
      </p:sp>
      <p:sp>
        <p:nvSpPr>
          <p:cNvPr id="25" name="Requests"/>
          <p:cNvSpPr/>
          <p:nvPr/>
        </p:nvSpPr>
        <p:spPr>
          <a:xfrm>
            <a:off x="7924647" y="3139440"/>
            <a:ext cx="3718407" cy="1402080"/>
          </a:xfrm>
          <a:prstGeom prst="roundRect">
            <a:avLst>
              <a:gd name="adj" fmla="val 7826"/>
            </a:avLst>
          </a:prstGeom>
          <a:solidFill>
            <a:srgbClr val="F3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badge inbox"/>
          <p:cNvSpPr/>
          <p:nvPr/>
        </p:nvSpPr>
        <p:spPr>
          <a:xfrm>
            <a:off x="8153247" y="3368040"/>
            <a:ext cx="548640" cy="548640"/>
          </a:xfrm>
          <a:prstGeom prst="ellipse">
            <a:avLst/>
          </a:prstGeom>
          <a:solidFill>
            <a:srgbClr val="00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icon inbox" descr="inbox_w.png"/>
          <p:cNvPicPr>
            <a:picLocks noChangeAspect="1"/>
          </p:cNvPicPr>
          <p:nvPr/>
        </p:nvPicPr>
        <p:blipFill>
          <a:blip r:embed="rId6"/>
          <a:stretch>
            <a:fillRect/>
          </a:stretch>
        </p:blipFill>
        <p:spPr>
          <a:xfrm>
            <a:off x="8284921" y="3499713"/>
            <a:ext cx="285292" cy="285292"/>
          </a:xfrm>
          <a:prstGeom prst="rect">
            <a:avLst/>
          </a:prstGeom>
        </p:spPr>
      </p:pic>
      <p:sp>
        <p:nvSpPr>
          <p:cNvPr id="28" name="TextBox 27"/>
          <p:cNvSpPr txBox="1"/>
          <p:nvPr/>
        </p:nvSpPr>
        <p:spPr>
          <a:xfrm>
            <a:off x="8884767" y="3340608"/>
            <a:ext cx="2575407" cy="320040"/>
          </a:xfrm>
          <a:prstGeom prst="rect">
            <a:avLst/>
          </a:prstGeom>
          <a:noFill/>
        </p:spPr>
        <p:txBody>
          <a:bodyPr wrap="square" lIns="0" rIns="0" tIns="0" bIns="0" anchor="t">
            <a:spAutoFit/>
          </a:bodyPr>
          <a:lstStyle/>
          <a:p>
            <a:pPr algn="l">
              <a:spcAft>
                <a:spcPts val="0"/>
              </a:spcAft>
              <a:buNone/>
            </a:pPr>
            <a:r>
              <a:rPr sz="1600" b="1" i="0">
                <a:solidFill>
                  <a:srgbClr val="1B2B28"/>
                </a:solidFill>
                <a:latin typeface="Arial"/>
              </a:rPr>
              <a:t>Requests</a:t>
            </a:r>
          </a:p>
        </p:txBody>
      </p:sp>
      <p:sp>
        <p:nvSpPr>
          <p:cNvPr id="29" name="TextBox 28"/>
          <p:cNvSpPr txBox="1"/>
          <p:nvPr/>
        </p:nvSpPr>
        <p:spPr>
          <a:xfrm>
            <a:off x="8884767" y="3669792"/>
            <a:ext cx="2575407" cy="777240"/>
          </a:xfrm>
          <a:prstGeom prst="rect">
            <a:avLst/>
          </a:prstGeom>
          <a:noFill/>
        </p:spPr>
        <p:txBody>
          <a:bodyPr wrap="square" lIns="0" rIns="0" tIns="0" bIns="0" anchor="t">
            <a:spAutoFit/>
          </a:bodyPr>
          <a:lstStyle/>
          <a:p>
            <a:pPr algn="l">
              <a:spcAft>
                <a:spcPts val="0"/>
              </a:spcAft>
              <a:buNone/>
            </a:pPr>
            <a:r>
              <a:rPr sz="1400" b="0" i="0">
                <a:solidFill>
                  <a:srgbClr val="56676A"/>
                </a:solidFill>
                <a:latin typeface="Calibri"/>
              </a:rPr>
              <a:t>Conversations with unread messages, for triage</a:t>
            </a:r>
          </a:p>
        </p:txBody>
      </p:sp>
      <p:sp>
        <p:nvSpPr>
          <p:cNvPr id="30" name="Offline sending"/>
          <p:cNvSpPr/>
          <p:nvPr/>
        </p:nvSpPr>
        <p:spPr>
          <a:xfrm>
            <a:off x="3931920" y="4815840"/>
            <a:ext cx="3718407" cy="1402080"/>
          </a:xfrm>
          <a:prstGeom prst="roundRect">
            <a:avLst>
              <a:gd name="adj" fmla="val 7826"/>
            </a:avLst>
          </a:prstGeom>
          <a:solidFill>
            <a:srgbClr val="F3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badge cloud"/>
          <p:cNvSpPr/>
          <p:nvPr/>
        </p:nvSpPr>
        <p:spPr>
          <a:xfrm>
            <a:off x="4160520" y="5044440"/>
            <a:ext cx="548640" cy="548640"/>
          </a:xfrm>
          <a:prstGeom prst="ellipse">
            <a:avLst/>
          </a:prstGeom>
          <a:solidFill>
            <a:srgbClr val="00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icon cloud" descr="cloud_w.png"/>
          <p:cNvPicPr>
            <a:picLocks noChangeAspect="1"/>
          </p:cNvPicPr>
          <p:nvPr/>
        </p:nvPicPr>
        <p:blipFill>
          <a:blip r:embed="rId7"/>
          <a:stretch>
            <a:fillRect/>
          </a:stretch>
        </p:blipFill>
        <p:spPr>
          <a:xfrm>
            <a:off x="4292193" y="5176113"/>
            <a:ext cx="285292" cy="285292"/>
          </a:xfrm>
          <a:prstGeom prst="rect">
            <a:avLst/>
          </a:prstGeom>
        </p:spPr>
      </p:pic>
      <p:sp>
        <p:nvSpPr>
          <p:cNvPr id="33" name="TextBox 32"/>
          <p:cNvSpPr txBox="1"/>
          <p:nvPr/>
        </p:nvSpPr>
        <p:spPr>
          <a:xfrm>
            <a:off x="4892040" y="5017008"/>
            <a:ext cx="2575407" cy="320040"/>
          </a:xfrm>
          <a:prstGeom prst="rect">
            <a:avLst/>
          </a:prstGeom>
          <a:noFill/>
        </p:spPr>
        <p:txBody>
          <a:bodyPr wrap="square" lIns="0" rIns="0" tIns="0" bIns="0" anchor="t">
            <a:spAutoFit/>
          </a:bodyPr>
          <a:lstStyle/>
          <a:p>
            <a:pPr algn="l">
              <a:spcAft>
                <a:spcPts val="0"/>
              </a:spcAft>
              <a:buNone/>
            </a:pPr>
            <a:r>
              <a:rPr sz="1600" b="1" i="0">
                <a:solidFill>
                  <a:srgbClr val="1B2B28"/>
                </a:solidFill>
                <a:latin typeface="Arial"/>
              </a:rPr>
              <a:t>Offline sending</a:t>
            </a:r>
          </a:p>
        </p:txBody>
      </p:sp>
      <p:sp>
        <p:nvSpPr>
          <p:cNvPr id="34" name="TextBox 33"/>
          <p:cNvSpPr txBox="1"/>
          <p:nvPr/>
        </p:nvSpPr>
        <p:spPr>
          <a:xfrm>
            <a:off x="4892040" y="5346192"/>
            <a:ext cx="2575407" cy="777240"/>
          </a:xfrm>
          <a:prstGeom prst="rect">
            <a:avLst/>
          </a:prstGeom>
          <a:noFill/>
        </p:spPr>
        <p:txBody>
          <a:bodyPr wrap="square" lIns="0" rIns="0" tIns="0" bIns="0" anchor="t">
            <a:spAutoFit/>
          </a:bodyPr>
          <a:lstStyle/>
          <a:p>
            <a:pPr algn="l">
              <a:spcAft>
                <a:spcPts val="0"/>
              </a:spcAft>
              <a:buNone/>
            </a:pPr>
            <a:r>
              <a:rPr sz="1400" b="0" i="0">
                <a:solidFill>
                  <a:srgbClr val="56676A"/>
                </a:solidFill>
                <a:latin typeface="Calibri"/>
              </a:rPr>
              <a:t>Messages sent offline are kept locally and sync when possible</a:t>
            </a:r>
          </a:p>
        </p:txBody>
      </p:sp>
      <p:sp>
        <p:nvSpPr>
          <p:cNvPr id="35" name="Notifications"/>
          <p:cNvSpPr/>
          <p:nvPr/>
        </p:nvSpPr>
        <p:spPr>
          <a:xfrm>
            <a:off x="7924647" y="4815840"/>
            <a:ext cx="3718407" cy="1402080"/>
          </a:xfrm>
          <a:prstGeom prst="roundRect">
            <a:avLst>
              <a:gd name="adj" fmla="val 7826"/>
            </a:avLst>
          </a:prstGeom>
          <a:solidFill>
            <a:srgbClr val="F3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badge bell"/>
          <p:cNvSpPr/>
          <p:nvPr/>
        </p:nvSpPr>
        <p:spPr>
          <a:xfrm>
            <a:off x="8153247" y="5044440"/>
            <a:ext cx="548640" cy="548640"/>
          </a:xfrm>
          <a:prstGeom prst="ellipse">
            <a:avLst/>
          </a:prstGeom>
          <a:solidFill>
            <a:srgbClr val="00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7" name="icon bell" descr="bell_w.png"/>
          <p:cNvPicPr>
            <a:picLocks noChangeAspect="1"/>
          </p:cNvPicPr>
          <p:nvPr/>
        </p:nvPicPr>
        <p:blipFill>
          <a:blip r:embed="rId8"/>
          <a:stretch>
            <a:fillRect/>
          </a:stretch>
        </p:blipFill>
        <p:spPr>
          <a:xfrm>
            <a:off x="8284921" y="5176113"/>
            <a:ext cx="285292" cy="285292"/>
          </a:xfrm>
          <a:prstGeom prst="rect">
            <a:avLst/>
          </a:prstGeom>
        </p:spPr>
      </p:pic>
      <p:sp>
        <p:nvSpPr>
          <p:cNvPr id="38" name="TextBox 37"/>
          <p:cNvSpPr txBox="1"/>
          <p:nvPr/>
        </p:nvSpPr>
        <p:spPr>
          <a:xfrm>
            <a:off x="8884767" y="5017008"/>
            <a:ext cx="2575407" cy="320040"/>
          </a:xfrm>
          <a:prstGeom prst="rect">
            <a:avLst/>
          </a:prstGeom>
          <a:noFill/>
        </p:spPr>
        <p:txBody>
          <a:bodyPr wrap="square" lIns="0" rIns="0" tIns="0" bIns="0" anchor="t">
            <a:spAutoFit/>
          </a:bodyPr>
          <a:lstStyle/>
          <a:p>
            <a:pPr algn="l">
              <a:spcAft>
                <a:spcPts val="0"/>
              </a:spcAft>
              <a:buNone/>
            </a:pPr>
            <a:r>
              <a:rPr sz="1600" b="1" i="0">
                <a:solidFill>
                  <a:srgbClr val="1B2B28"/>
                </a:solidFill>
                <a:latin typeface="Arial"/>
              </a:rPr>
              <a:t>Notifications</a:t>
            </a:r>
          </a:p>
        </p:txBody>
      </p:sp>
      <p:sp>
        <p:nvSpPr>
          <p:cNvPr id="39" name="TextBox 38"/>
          <p:cNvSpPr txBox="1"/>
          <p:nvPr/>
        </p:nvSpPr>
        <p:spPr>
          <a:xfrm>
            <a:off x="8884767" y="5346192"/>
            <a:ext cx="2575407" cy="777240"/>
          </a:xfrm>
          <a:prstGeom prst="rect">
            <a:avLst/>
          </a:prstGeom>
          <a:noFill/>
        </p:spPr>
        <p:txBody>
          <a:bodyPr wrap="square" lIns="0" rIns="0" tIns="0" bIns="0" anchor="t">
            <a:spAutoFit/>
          </a:bodyPr>
          <a:lstStyle/>
          <a:p>
            <a:pPr algn="l">
              <a:spcAft>
                <a:spcPts val="0"/>
              </a:spcAft>
              <a:buNone/>
            </a:pPr>
            <a:r>
              <a:rPr sz="1400" b="0" i="0">
                <a:solidFill>
                  <a:srgbClr val="56676A"/>
                </a:solidFill>
                <a:latin typeface="Calibri"/>
              </a:rPr>
              <a:t>Push alerts for new messages; tapping one opens that conversation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822960"/>
          </a:xfrm>
        </p:spPr>
        <p:txBody>
          <a:bodyPr lIns="0" rIns="0" tIns="0" bIns="0" anchor="ctr" wrap="square"/>
          <a:lstStyle/>
          <a:p>
            <a:pPr algn="l"/>
            <a:r>
              <a:rPr sz="3200" b="1">
                <a:solidFill>
                  <a:srgbClr val="1B2B28"/>
                </a:solidFill>
                <a:latin typeface="Arial"/>
              </a:rPr>
              <a:t>Saved keeps every swipe recoverable</a:t>
            </a:r>
          </a:p>
        </p:txBody>
      </p:sp>
      <p:sp>
        <p:nvSpPr>
          <p:cNvPr id="3" name="kicker"/>
          <p:cNvSpPr txBox="1"/>
          <p:nvPr/>
        </p:nvSpPr>
        <p:spPr>
          <a:xfrm>
            <a:off x="548640" y="201168"/>
            <a:ext cx="7315200" cy="228600"/>
          </a:xfrm>
          <a:prstGeom prst="rect">
            <a:avLst/>
          </a:prstGeom>
          <a:noFill/>
        </p:spPr>
        <p:txBody>
          <a:bodyPr wrap="square" lIns="0" rIns="0" tIns="0" bIns="0" anchor="t">
            <a:spAutoFit/>
          </a:bodyPr>
          <a:lstStyle/>
          <a:p>
            <a:pPr algn="l">
              <a:spcAft>
                <a:spcPts val="0"/>
              </a:spcAft>
              <a:buNone/>
            </a:pPr>
            <a:r>
              <a:rPr sz="1100" b="1" i="0">
                <a:solidFill>
                  <a:srgbClr val="4F8F86"/>
                </a:solidFill>
                <a:latin typeface="Calibri"/>
              </a:rPr>
              <a:t>SAVED</a:t>
            </a:r>
          </a:p>
        </p:txBody>
      </p:sp>
      <p:sp>
        <p:nvSpPr>
          <p:cNvPr id="4" name="badge heart"/>
          <p:cNvSpPr/>
          <p:nvPr/>
        </p:nvSpPr>
        <p:spPr>
          <a:xfrm>
            <a:off x="548640" y="2011680"/>
            <a:ext cx="1005840" cy="1005840"/>
          </a:xfrm>
          <a:prstGeom prst="ellipse">
            <a:avLst/>
          </a:prstGeom>
          <a:solidFill>
            <a:srgbClr val="43A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icon heart" descr="heart_w.png"/>
          <p:cNvPicPr>
            <a:picLocks noChangeAspect="1"/>
          </p:cNvPicPr>
          <p:nvPr/>
        </p:nvPicPr>
        <p:blipFill>
          <a:blip r:embed="rId2"/>
          <a:stretch>
            <a:fillRect/>
          </a:stretch>
        </p:blipFill>
        <p:spPr>
          <a:xfrm>
            <a:off x="790041" y="2253081"/>
            <a:ext cx="523036" cy="523036"/>
          </a:xfrm>
          <a:prstGeom prst="rect">
            <a:avLst/>
          </a:prstGeom>
        </p:spPr>
      </p:pic>
      <p:sp>
        <p:nvSpPr>
          <p:cNvPr id="6" name="TextBox 5"/>
          <p:cNvSpPr txBox="1"/>
          <p:nvPr/>
        </p:nvSpPr>
        <p:spPr>
          <a:xfrm>
            <a:off x="1783080" y="2103120"/>
            <a:ext cx="1828800" cy="822960"/>
          </a:xfrm>
          <a:prstGeom prst="rect">
            <a:avLst/>
          </a:prstGeom>
          <a:noFill/>
        </p:spPr>
        <p:txBody>
          <a:bodyPr wrap="square" lIns="0" rIns="0" tIns="0" bIns="0" anchor="ctr">
            <a:spAutoFit/>
          </a:bodyPr>
          <a:lstStyle/>
          <a:p>
            <a:pPr algn="l">
              <a:spcAft>
                <a:spcPts val="0"/>
              </a:spcAft>
              <a:buNone/>
            </a:pPr>
            <a:r>
              <a:rPr sz="1700" b="1" i="0">
                <a:solidFill>
                  <a:srgbClr val="1B2B28"/>
                </a:solidFill>
                <a:latin typeface="Arial"/>
              </a:rPr>
              <a:t>Swipe right or Save</a:t>
            </a:r>
          </a:p>
        </p:txBody>
      </p:sp>
      <p:cxnSp>
        <p:nvCxnSpPr>
          <p:cNvPr id="7" name="Connector 6"/>
          <p:cNvCxnSpPr/>
          <p:nvPr/>
        </p:nvCxnSpPr>
        <p:spPr>
          <a:xfrm>
            <a:off x="3657600" y="2514600"/>
            <a:ext cx="365760" cy="0"/>
          </a:xfrm>
          <a:prstGeom prst="line">
            <a:avLst/>
          </a:prstGeom>
          <a:ln w="22225">
            <a:solidFill>
              <a:srgbClr val="4F8F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Liked"/>
          <p:cNvSpPr/>
          <p:nvPr/>
        </p:nvSpPr>
        <p:spPr>
          <a:xfrm>
            <a:off x="4069080" y="1828800"/>
            <a:ext cx="3566160" cy="1371600"/>
          </a:xfrm>
          <a:prstGeom prst="roundRect">
            <a:avLst>
              <a:gd name="adj" fmla="val 8000"/>
            </a:avLst>
          </a:prstGeom>
          <a:solidFill>
            <a:srgbClr val="F3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343400" y="2057400"/>
            <a:ext cx="3108960" cy="365760"/>
          </a:xfrm>
          <a:prstGeom prst="rect">
            <a:avLst/>
          </a:prstGeom>
          <a:noFill/>
        </p:spPr>
        <p:txBody>
          <a:bodyPr wrap="square" lIns="0" rIns="0" tIns="0" bIns="0" anchor="t">
            <a:spAutoFit/>
          </a:bodyPr>
          <a:lstStyle/>
          <a:p>
            <a:pPr algn="l">
              <a:spcAft>
                <a:spcPts val="0"/>
              </a:spcAft>
              <a:buNone/>
            </a:pPr>
            <a:r>
              <a:rPr sz="1800" b="1" i="0">
                <a:solidFill>
                  <a:srgbClr val="006B5E"/>
                </a:solidFill>
                <a:latin typeface="Arial"/>
              </a:rPr>
              <a:t>Liked</a:t>
            </a:r>
          </a:p>
        </p:txBody>
      </p:sp>
      <p:sp>
        <p:nvSpPr>
          <p:cNvPr id="10" name="TextBox 9"/>
          <p:cNvSpPr txBox="1"/>
          <p:nvPr/>
        </p:nvSpPr>
        <p:spPr>
          <a:xfrm>
            <a:off x="4343400" y="2468880"/>
            <a:ext cx="3108960" cy="640080"/>
          </a:xfrm>
          <a:prstGeom prst="rect">
            <a:avLst/>
          </a:prstGeom>
          <a:noFill/>
        </p:spPr>
        <p:txBody>
          <a:bodyPr wrap="square" lIns="0" rIns="0" tIns="0" bIns="0" anchor="t">
            <a:spAutoFit/>
          </a:bodyPr>
          <a:lstStyle/>
          <a:p>
            <a:pPr algn="l">
              <a:spcAft>
                <a:spcPts val="0"/>
              </a:spcAft>
              <a:buNone/>
            </a:pPr>
            <a:r>
              <a:rPr sz="1500" b="0" i="0">
                <a:solidFill>
                  <a:srgbClr val="56676A"/>
                </a:solidFill>
                <a:latin typeface="Calibri"/>
              </a:rPr>
              <a:t>everything you saved; one tap to remove</a:t>
            </a:r>
          </a:p>
        </p:txBody>
      </p:sp>
      <p:cxnSp>
        <p:nvCxnSpPr>
          <p:cNvPr id="11" name="Connector 10"/>
          <p:cNvCxnSpPr/>
          <p:nvPr/>
        </p:nvCxnSpPr>
        <p:spPr>
          <a:xfrm>
            <a:off x="7680960" y="2514600"/>
            <a:ext cx="365760" cy="0"/>
          </a:xfrm>
          <a:prstGeom prst="line">
            <a:avLst/>
          </a:prstGeom>
          <a:ln w="22225">
            <a:solidFill>
              <a:srgbClr val="4F8F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Collections"/>
          <p:cNvSpPr/>
          <p:nvPr/>
        </p:nvSpPr>
        <p:spPr>
          <a:xfrm>
            <a:off x="8092440" y="1828800"/>
            <a:ext cx="3566160" cy="1371600"/>
          </a:xfrm>
          <a:prstGeom prst="roundRect">
            <a:avLst>
              <a:gd name="adj" fmla="val 8000"/>
            </a:avLst>
          </a:prstGeom>
          <a:solidFill>
            <a:srgbClr val="E6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366760" y="2057400"/>
            <a:ext cx="3108960" cy="365760"/>
          </a:xfrm>
          <a:prstGeom prst="rect">
            <a:avLst/>
          </a:prstGeom>
          <a:noFill/>
        </p:spPr>
        <p:txBody>
          <a:bodyPr wrap="square" lIns="0" rIns="0" tIns="0" bIns="0" anchor="t">
            <a:spAutoFit/>
          </a:bodyPr>
          <a:lstStyle/>
          <a:p>
            <a:pPr algn="l">
              <a:spcAft>
                <a:spcPts val="0"/>
              </a:spcAft>
              <a:buNone/>
            </a:pPr>
            <a:r>
              <a:rPr sz="1800" b="1" i="0">
                <a:solidFill>
                  <a:srgbClr val="006B5E"/>
                </a:solidFill>
                <a:latin typeface="Arial"/>
              </a:rPr>
              <a:t>Collections</a:t>
            </a:r>
          </a:p>
        </p:txBody>
      </p:sp>
      <p:sp>
        <p:nvSpPr>
          <p:cNvPr id="14" name="TextBox 13"/>
          <p:cNvSpPr txBox="1"/>
          <p:nvPr/>
        </p:nvSpPr>
        <p:spPr>
          <a:xfrm>
            <a:off x="8366760" y="2468880"/>
            <a:ext cx="3108960" cy="640080"/>
          </a:xfrm>
          <a:prstGeom prst="rect">
            <a:avLst/>
          </a:prstGeom>
          <a:noFill/>
        </p:spPr>
        <p:txBody>
          <a:bodyPr wrap="square" lIns="0" rIns="0" tIns="0" bIns="0" anchor="t">
            <a:spAutoFit/>
          </a:bodyPr>
          <a:lstStyle/>
          <a:p>
            <a:pPr algn="l">
              <a:spcAft>
                <a:spcPts val="0"/>
              </a:spcAft>
              <a:buNone/>
            </a:pPr>
            <a:r>
              <a:rPr sz="1500" b="0" i="0">
                <a:solidFill>
                  <a:srgbClr val="56676A"/>
                </a:solidFill>
                <a:latin typeface="Calibri"/>
              </a:rPr>
              <a:t>liked items grouped by category</a:t>
            </a:r>
          </a:p>
        </p:txBody>
      </p:sp>
      <p:sp>
        <p:nvSpPr>
          <p:cNvPr id="15" name="badge x"/>
          <p:cNvSpPr/>
          <p:nvPr/>
        </p:nvSpPr>
        <p:spPr>
          <a:xfrm>
            <a:off x="548640" y="4343400"/>
            <a:ext cx="1005840" cy="1005840"/>
          </a:xfrm>
          <a:prstGeom prst="ellipse">
            <a:avLst/>
          </a:prstGeom>
          <a:solidFill>
            <a:srgbClr val="E539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icon x" descr="x_w.png"/>
          <p:cNvPicPr>
            <a:picLocks noChangeAspect="1"/>
          </p:cNvPicPr>
          <p:nvPr/>
        </p:nvPicPr>
        <p:blipFill>
          <a:blip r:embed="rId3"/>
          <a:stretch>
            <a:fillRect/>
          </a:stretch>
        </p:blipFill>
        <p:spPr>
          <a:xfrm>
            <a:off x="790041" y="4584801"/>
            <a:ext cx="523036" cy="523036"/>
          </a:xfrm>
          <a:prstGeom prst="rect">
            <a:avLst/>
          </a:prstGeom>
        </p:spPr>
      </p:pic>
      <p:sp>
        <p:nvSpPr>
          <p:cNvPr id="17" name="TextBox 16"/>
          <p:cNvSpPr txBox="1"/>
          <p:nvPr/>
        </p:nvSpPr>
        <p:spPr>
          <a:xfrm>
            <a:off x="1783080" y="4434840"/>
            <a:ext cx="1828800" cy="822960"/>
          </a:xfrm>
          <a:prstGeom prst="rect">
            <a:avLst/>
          </a:prstGeom>
          <a:noFill/>
        </p:spPr>
        <p:txBody>
          <a:bodyPr wrap="square" lIns="0" rIns="0" tIns="0" bIns="0" anchor="ctr">
            <a:spAutoFit/>
          </a:bodyPr>
          <a:lstStyle/>
          <a:p>
            <a:pPr algn="l">
              <a:spcAft>
                <a:spcPts val="0"/>
              </a:spcAft>
              <a:buNone/>
            </a:pPr>
            <a:r>
              <a:rPr sz="1700" b="1" i="0">
                <a:solidFill>
                  <a:srgbClr val="1B2B28"/>
                </a:solidFill>
                <a:latin typeface="Arial"/>
              </a:rPr>
              <a:t>Swipe left or Pass</a:t>
            </a:r>
          </a:p>
        </p:txBody>
      </p:sp>
      <p:cxnSp>
        <p:nvCxnSpPr>
          <p:cNvPr id="18" name="Connector 17"/>
          <p:cNvCxnSpPr/>
          <p:nvPr/>
        </p:nvCxnSpPr>
        <p:spPr>
          <a:xfrm>
            <a:off x="3657600" y="4846320"/>
            <a:ext cx="365760" cy="0"/>
          </a:xfrm>
          <a:prstGeom prst="line">
            <a:avLst/>
          </a:prstGeom>
          <a:ln w="22225">
            <a:solidFill>
              <a:srgbClr val="4F8F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History"/>
          <p:cNvSpPr/>
          <p:nvPr/>
        </p:nvSpPr>
        <p:spPr>
          <a:xfrm>
            <a:off x="4069080" y="4160520"/>
            <a:ext cx="3566160" cy="1371600"/>
          </a:xfrm>
          <a:prstGeom prst="roundRect">
            <a:avLst>
              <a:gd name="adj" fmla="val 8000"/>
            </a:avLst>
          </a:prstGeom>
          <a:solidFill>
            <a:srgbClr val="F3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343400" y="4389120"/>
            <a:ext cx="3108960" cy="365760"/>
          </a:xfrm>
          <a:prstGeom prst="rect">
            <a:avLst/>
          </a:prstGeom>
          <a:noFill/>
        </p:spPr>
        <p:txBody>
          <a:bodyPr wrap="square" lIns="0" rIns="0" tIns="0" bIns="0" anchor="t">
            <a:spAutoFit/>
          </a:bodyPr>
          <a:lstStyle/>
          <a:p>
            <a:pPr algn="l">
              <a:spcAft>
                <a:spcPts val="0"/>
              </a:spcAft>
              <a:buNone/>
            </a:pPr>
            <a:r>
              <a:rPr sz="1800" b="1" i="0">
                <a:solidFill>
                  <a:srgbClr val="006B5E"/>
                </a:solidFill>
                <a:latin typeface="Arial"/>
              </a:rPr>
              <a:t>History</a:t>
            </a:r>
          </a:p>
        </p:txBody>
      </p:sp>
      <p:sp>
        <p:nvSpPr>
          <p:cNvPr id="21" name="TextBox 20"/>
          <p:cNvSpPr txBox="1"/>
          <p:nvPr/>
        </p:nvSpPr>
        <p:spPr>
          <a:xfrm>
            <a:off x="4343400" y="4800600"/>
            <a:ext cx="3108960" cy="640080"/>
          </a:xfrm>
          <a:prstGeom prst="rect">
            <a:avLst/>
          </a:prstGeom>
          <a:noFill/>
        </p:spPr>
        <p:txBody>
          <a:bodyPr wrap="square" lIns="0" rIns="0" tIns="0" bIns="0" anchor="t">
            <a:spAutoFit/>
          </a:bodyPr>
          <a:lstStyle/>
          <a:p>
            <a:pPr algn="l">
              <a:spcAft>
                <a:spcPts val="0"/>
              </a:spcAft>
              <a:buNone/>
            </a:pPr>
            <a:r>
              <a:rPr sz="1500" b="0" i="0">
                <a:solidFill>
                  <a:srgbClr val="56676A"/>
                </a:solidFill>
                <a:latin typeface="Calibri"/>
              </a:rPr>
              <a:t>listings you passed</a:t>
            </a:r>
          </a:p>
        </p:txBody>
      </p:sp>
      <p:cxnSp>
        <p:nvCxnSpPr>
          <p:cNvPr id="22" name="Connector 21"/>
          <p:cNvCxnSpPr/>
          <p:nvPr/>
        </p:nvCxnSpPr>
        <p:spPr>
          <a:xfrm>
            <a:off x="7680960" y="4846320"/>
            <a:ext cx="365760" cy="0"/>
          </a:xfrm>
          <a:prstGeom prst="line">
            <a:avLst/>
          </a:prstGeom>
          <a:ln w="22225">
            <a:solidFill>
              <a:srgbClr val="4F8F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estore"/>
          <p:cNvSpPr/>
          <p:nvPr/>
        </p:nvSpPr>
        <p:spPr>
          <a:xfrm>
            <a:off x="8092440" y="4160520"/>
            <a:ext cx="3566160" cy="1371600"/>
          </a:xfrm>
          <a:prstGeom prst="roundRect">
            <a:avLst>
              <a:gd name="adj" fmla="val 8000"/>
            </a:avLst>
          </a:prstGeom>
          <a:solidFill>
            <a:srgbClr val="E6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366760" y="4389120"/>
            <a:ext cx="3108960" cy="365760"/>
          </a:xfrm>
          <a:prstGeom prst="rect">
            <a:avLst/>
          </a:prstGeom>
          <a:noFill/>
        </p:spPr>
        <p:txBody>
          <a:bodyPr wrap="square" lIns="0" rIns="0" tIns="0" bIns="0" anchor="t">
            <a:spAutoFit/>
          </a:bodyPr>
          <a:lstStyle/>
          <a:p>
            <a:pPr algn="l">
              <a:spcAft>
                <a:spcPts val="0"/>
              </a:spcAft>
              <a:buNone/>
            </a:pPr>
            <a:r>
              <a:rPr sz="1800" b="1" i="0">
                <a:solidFill>
                  <a:srgbClr val="006B5E"/>
                </a:solidFill>
                <a:latin typeface="Arial"/>
              </a:rPr>
              <a:t>Restore</a:t>
            </a:r>
          </a:p>
        </p:txBody>
      </p:sp>
      <p:sp>
        <p:nvSpPr>
          <p:cNvPr id="25" name="TextBox 24"/>
          <p:cNvSpPr txBox="1"/>
          <p:nvPr/>
        </p:nvSpPr>
        <p:spPr>
          <a:xfrm>
            <a:off x="8366760" y="4800600"/>
            <a:ext cx="3108960" cy="640080"/>
          </a:xfrm>
          <a:prstGeom prst="rect">
            <a:avLst/>
          </a:prstGeom>
          <a:noFill/>
        </p:spPr>
        <p:txBody>
          <a:bodyPr wrap="square" lIns="0" rIns="0" tIns="0" bIns="0" anchor="t">
            <a:spAutoFit/>
          </a:bodyPr>
          <a:lstStyle/>
          <a:p>
            <a:pPr algn="l">
              <a:spcAft>
                <a:spcPts val="0"/>
              </a:spcAft>
              <a:buNone/>
            </a:pPr>
            <a:r>
              <a:rPr sz="1500" b="0" i="0">
                <a:solidFill>
                  <a:srgbClr val="56676A"/>
                </a:solidFill>
                <a:latin typeface="Calibri"/>
              </a:rPr>
              <a:t>one tap brings a listing back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822960"/>
          </a:xfrm>
        </p:spPr>
        <p:txBody>
          <a:bodyPr lIns="0" rIns="0" tIns="0" bIns="0" anchor="ctr" wrap="square"/>
          <a:lstStyle/>
          <a:p>
            <a:pPr algn="l"/>
            <a:r>
              <a:rPr sz="3200" b="1">
                <a:solidFill>
                  <a:srgbClr val="1B2B28"/>
                </a:solidFill>
                <a:latin typeface="Arial"/>
              </a:rPr>
              <a:t>Reputation is built from one review per person</a:t>
            </a:r>
          </a:p>
        </p:txBody>
      </p:sp>
      <p:sp>
        <p:nvSpPr>
          <p:cNvPr id="3" name="kicker"/>
          <p:cNvSpPr txBox="1"/>
          <p:nvPr/>
        </p:nvSpPr>
        <p:spPr>
          <a:xfrm>
            <a:off x="548640" y="201168"/>
            <a:ext cx="7315200" cy="228600"/>
          </a:xfrm>
          <a:prstGeom prst="rect">
            <a:avLst/>
          </a:prstGeom>
          <a:noFill/>
        </p:spPr>
        <p:txBody>
          <a:bodyPr wrap="square" lIns="0" rIns="0" tIns="0" bIns="0" anchor="t">
            <a:spAutoFit/>
          </a:bodyPr>
          <a:lstStyle/>
          <a:p>
            <a:pPr algn="l">
              <a:spcAft>
                <a:spcPts val="0"/>
              </a:spcAft>
              <a:buNone/>
            </a:pPr>
            <a:r>
              <a:rPr sz="1100" b="1" i="0">
                <a:solidFill>
                  <a:srgbClr val="4F8F86"/>
                </a:solidFill>
                <a:latin typeface="Calibri"/>
              </a:rPr>
              <a:t>PROFILES &amp; RATINGS</a:t>
            </a:r>
          </a:p>
        </p:txBody>
      </p:sp>
      <p:sp>
        <p:nvSpPr>
          <p:cNvPr id="4" name="profile card"/>
          <p:cNvSpPr/>
          <p:nvPr/>
        </p:nvSpPr>
        <p:spPr>
          <a:xfrm>
            <a:off x="548640" y="1463040"/>
            <a:ext cx="4023360" cy="4754880"/>
          </a:xfrm>
          <a:prstGeom prst="roundRect">
            <a:avLst>
              <a:gd name="adj" fmla="val 5681"/>
            </a:avLst>
          </a:prstGeom>
          <a:solidFill>
            <a:srgbClr val="F3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avatar"/>
          <p:cNvSpPr/>
          <p:nvPr/>
        </p:nvSpPr>
        <p:spPr>
          <a:xfrm>
            <a:off x="2011680" y="1783080"/>
            <a:ext cx="1097280" cy="1097280"/>
          </a:xfrm>
          <a:prstGeom prst="ellipse">
            <a:avLst/>
          </a:prstGeom>
          <a:solidFill>
            <a:srgbClr val="CF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icon user" descr="user_t.png"/>
          <p:cNvPicPr>
            <a:picLocks noChangeAspect="1"/>
          </p:cNvPicPr>
          <p:nvPr/>
        </p:nvPicPr>
        <p:blipFill>
          <a:blip r:embed="rId2"/>
          <a:stretch>
            <a:fillRect/>
          </a:stretch>
        </p:blipFill>
        <p:spPr>
          <a:xfrm>
            <a:off x="2240280" y="2011680"/>
            <a:ext cx="640080" cy="640080"/>
          </a:xfrm>
          <a:prstGeom prst="rect">
            <a:avLst/>
          </a:prstGeom>
        </p:spPr>
      </p:pic>
      <p:sp>
        <p:nvSpPr>
          <p:cNvPr id="7" name="TextBox 6"/>
          <p:cNvSpPr txBox="1"/>
          <p:nvPr/>
        </p:nvSpPr>
        <p:spPr>
          <a:xfrm>
            <a:off x="548640" y="3017520"/>
            <a:ext cx="4023360" cy="365760"/>
          </a:xfrm>
          <a:prstGeom prst="rect">
            <a:avLst/>
          </a:prstGeom>
          <a:noFill/>
        </p:spPr>
        <p:txBody>
          <a:bodyPr wrap="square" lIns="0" rIns="0" tIns="0" bIns="0" anchor="t">
            <a:spAutoFit/>
          </a:bodyPr>
          <a:lstStyle/>
          <a:p>
            <a:pPr algn="ctr">
              <a:spcAft>
                <a:spcPts val="0"/>
              </a:spcAft>
              <a:buNone/>
            </a:pPr>
            <a:r>
              <a:rPr sz="1800" b="1" i="0">
                <a:solidFill>
                  <a:srgbClr val="1B2B28"/>
                </a:solidFill>
                <a:latin typeface="Arial"/>
              </a:rPr>
              <a:t>Display name</a:t>
            </a:r>
          </a:p>
        </p:txBody>
      </p:sp>
      <p:sp>
        <p:nvSpPr>
          <p:cNvPr id="8" name="TextBox 7"/>
          <p:cNvSpPr txBox="1"/>
          <p:nvPr/>
        </p:nvSpPr>
        <p:spPr>
          <a:xfrm>
            <a:off x="914400" y="3383280"/>
            <a:ext cx="3291840" cy="365760"/>
          </a:xfrm>
          <a:prstGeom prst="rect">
            <a:avLst/>
          </a:prstGeom>
          <a:noFill/>
        </p:spPr>
        <p:txBody>
          <a:bodyPr wrap="square" lIns="0" rIns="0" tIns="0" bIns="0" anchor="t">
            <a:spAutoFit/>
          </a:bodyPr>
          <a:lstStyle/>
          <a:p>
            <a:pPr algn="ctr">
              <a:spcAft>
                <a:spcPts val="0"/>
              </a:spcAft>
              <a:buNone/>
            </a:pPr>
            <a:r>
              <a:rPr sz="1400" b="0" i="0">
                <a:solidFill>
                  <a:srgbClr val="56676A"/>
                </a:solidFill>
                <a:latin typeface="Calibri"/>
              </a:rPr>
              <a:t>Bio</a:t>
            </a:r>
          </a:p>
        </p:txBody>
      </p:sp>
      <p:pic>
        <p:nvPicPr>
          <p:cNvPr id="9" name="icon star" descr="star_t.png"/>
          <p:cNvPicPr>
            <a:picLocks noChangeAspect="1"/>
          </p:cNvPicPr>
          <p:nvPr/>
        </p:nvPicPr>
        <p:blipFill>
          <a:blip r:embed="rId3"/>
          <a:stretch>
            <a:fillRect/>
          </a:stretch>
        </p:blipFill>
        <p:spPr>
          <a:xfrm>
            <a:off x="1417320" y="3886200"/>
            <a:ext cx="365760" cy="365760"/>
          </a:xfrm>
          <a:prstGeom prst="rect">
            <a:avLst/>
          </a:prstGeom>
        </p:spPr>
      </p:pic>
      <p:pic>
        <p:nvPicPr>
          <p:cNvPr id="10" name="icon star" descr="star_t.png"/>
          <p:cNvPicPr>
            <a:picLocks noChangeAspect="1"/>
          </p:cNvPicPr>
          <p:nvPr/>
        </p:nvPicPr>
        <p:blipFill>
          <a:blip r:embed="rId3"/>
          <a:stretch>
            <a:fillRect/>
          </a:stretch>
        </p:blipFill>
        <p:spPr>
          <a:xfrm>
            <a:off x="1874520" y="3886200"/>
            <a:ext cx="365760" cy="365760"/>
          </a:xfrm>
          <a:prstGeom prst="rect">
            <a:avLst/>
          </a:prstGeom>
        </p:spPr>
      </p:pic>
      <p:pic>
        <p:nvPicPr>
          <p:cNvPr id="11" name="icon star" descr="star_t.png"/>
          <p:cNvPicPr>
            <a:picLocks noChangeAspect="1"/>
          </p:cNvPicPr>
          <p:nvPr/>
        </p:nvPicPr>
        <p:blipFill>
          <a:blip r:embed="rId3"/>
          <a:stretch>
            <a:fillRect/>
          </a:stretch>
        </p:blipFill>
        <p:spPr>
          <a:xfrm>
            <a:off x="2331720" y="3886200"/>
            <a:ext cx="365760" cy="365760"/>
          </a:xfrm>
          <a:prstGeom prst="rect">
            <a:avLst/>
          </a:prstGeom>
        </p:spPr>
      </p:pic>
      <p:pic>
        <p:nvPicPr>
          <p:cNvPr id="12" name="icon star" descr="star_t.png"/>
          <p:cNvPicPr>
            <a:picLocks noChangeAspect="1"/>
          </p:cNvPicPr>
          <p:nvPr/>
        </p:nvPicPr>
        <p:blipFill>
          <a:blip r:embed="rId3"/>
          <a:stretch>
            <a:fillRect/>
          </a:stretch>
        </p:blipFill>
        <p:spPr>
          <a:xfrm>
            <a:off x="2788920" y="3886200"/>
            <a:ext cx="365760" cy="365760"/>
          </a:xfrm>
          <a:prstGeom prst="rect">
            <a:avLst/>
          </a:prstGeom>
        </p:spPr>
      </p:pic>
      <p:pic>
        <p:nvPicPr>
          <p:cNvPr id="13" name="icon star" descr="star_t.png"/>
          <p:cNvPicPr>
            <a:picLocks noChangeAspect="1"/>
          </p:cNvPicPr>
          <p:nvPr/>
        </p:nvPicPr>
        <p:blipFill>
          <a:blip r:embed="rId3"/>
          <a:stretch>
            <a:fillRect/>
          </a:stretch>
        </p:blipFill>
        <p:spPr>
          <a:xfrm>
            <a:off x="3246120" y="3886200"/>
            <a:ext cx="365760" cy="365760"/>
          </a:xfrm>
          <a:prstGeom prst="rect">
            <a:avLst/>
          </a:prstGeom>
        </p:spPr>
      </p:pic>
      <p:sp>
        <p:nvSpPr>
          <p:cNvPr id="14" name="TextBox 13"/>
          <p:cNvSpPr txBox="1"/>
          <p:nvPr/>
        </p:nvSpPr>
        <p:spPr>
          <a:xfrm>
            <a:off x="548640" y="4297680"/>
            <a:ext cx="4023360" cy="320040"/>
          </a:xfrm>
          <a:prstGeom prst="rect">
            <a:avLst/>
          </a:prstGeom>
          <a:noFill/>
        </p:spPr>
        <p:txBody>
          <a:bodyPr wrap="square" lIns="0" rIns="0" tIns="0" bIns="0" anchor="t">
            <a:spAutoFit/>
          </a:bodyPr>
          <a:lstStyle/>
          <a:p>
            <a:pPr algn="ctr">
              <a:spcAft>
                <a:spcPts val="0"/>
              </a:spcAft>
              <a:buNone/>
            </a:pPr>
            <a:r>
              <a:rPr sz="1300" b="0" i="0">
                <a:solidFill>
                  <a:srgbClr val="56676A"/>
                </a:solidFill>
                <a:latin typeface="Calibri"/>
              </a:rPr>
              <a:t>rating average  ·  review count</a:t>
            </a:r>
          </a:p>
        </p:txBody>
      </p:sp>
      <p:sp>
        <p:nvSpPr>
          <p:cNvPr id="15" name="leave a review"/>
          <p:cNvSpPr/>
          <p:nvPr/>
        </p:nvSpPr>
        <p:spPr>
          <a:xfrm>
            <a:off x="1097280" y="4892040"/>
            <a:ext cx="2926080" cy="502920"/>
          </a:xfrm>
          <a:prstGeom prst="roundRect">
            <a:avLst>
              <a:gd name="adj" fmla="val 49090"/>
            </a:avLst>
          </a:prstGeom>
          <a:solidFill>
            <a:srgbClr val="00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097280" y="4892040"/>
            <a:ext cx="2926080" cy="502920"/>
          </a:xfrm>
          <a:prstGeom prst="rect">
            <a:avLst/>
          </a:prstGeom>
          <a:noFill/>
        </p:spPr>
        <p:txBody>
          <a:bodyPr wrap="square" lIns="0" rIns="0" tIns="0" bIns="0" anchor="ctr">
            <a:spAutoFit/>
          </a:bodyPr>
          <a:lstStyle/>
          <a:p>
            <a:pPr algn="ctr">
              <a:spcAft>
                <a:spcPts val="0"/>
              </a:spcAft>
              <a:buNone/>
            </a:pPr>
            <a:r>
              <a:rPr sz="1400" b="1" i="0">
                <a:solidFill>
                  <a:srgbClr val="FFFFFF"/>
                </a:solidFill>
                <a:latin typeface="Calibri"/>
              </a:rPr>
              <a:t>Leave a review</a:t>
            </a:r>
          </a:p>
        </p:txBody>
      </p:sp>
      <p:sp>
        <p:nvSpPr>
          <p:cNvPr id="17" name="TextBox 16"/>
          <p:cNvSpPr txBox="1"/>
          <p:nvPr/>
        </p:nvSpPr>
        <p:spPr>
          <a:xfrm>
            <a:off x="822959" y="5532120"/>
            <a:ext cx="3474720" cy="548640"/>
          </a:xfrm>
          <a:prstGeom prst="rect">
            <a:avLst/>
          </a:prstGeom>
          <a:noFill/>
        </p:spPr>
        <p:txBody>
          <a:bodyPr wrap="square" lIns="0" rIns="0" tIns="0" bIns="0" anchor="t">
            <a:spAutoFit/>
          </a:bodyPr>
          <a:lstStyle/>
          <a:p>
            <a:pPr algn="ctr">
              <a:spcAft>
                <a:spcPts val="0"/>
              </a:spcAft>
              <a:buNone/>
            </a:pPr>
            <a:r>
              <a:rPr sz="1200" b="0" i="1">
                <a:solidFill>
                  <a:srgbClr val="56676A"/>
                </a:solidFill>
                <a:latin typeface="Calibri"/>
              </a:rPr>
              <a:t>Hidden on someone else's public profile, which is read-only</a:t>
            </a:r>
          </a:p>
        </p:txBody>
      </p:sp>
      <p:sp>
        <p:nvSpPr>
          <p:cNvPr id="18" name="badge user"/>
          <p:cNvSpPr/>
          <p:nvPr/>
        </p:nvSpPr>
        <p:spPr>
          <a:xfrm>
            <a:off x="5120640" y="1508760"/>
            <a:ext cx="594360" cy="594360"/>
          </a:xfrm>
          <a:prstGeom prst="ellipse">
            <a:avLst/>
          </a:prstGeom>
          <a:solidFill>
            <a:srgbClr val="00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icon user" descr="user_w.png"/>
          <p:cNvPicPr>
            <a:picLocks noChangeAspect="1"/>
          </p:cNvPicPr>
          <p:nvPr/>
        </p:nvPicPr>
        <p:blipFill>
          <a:blip r:embed="rId4"/>
          <a:stretch>
            <a:fillRect/>
          </a:stretch>
        </p:blipFill>
        <p:spPr>
          <a:xfrm>
            <a:off x="5263286" y="1651406"/>
            <a:ext cx="309067" cy="309067"/>
          </a:xfrm>
          <a:prstGeom prst="rect">
            <a:avLst/>
          </a:prstGeom>
        </p:spPr>
      </p:pic>
      <p:sp>
        <p:nvSpPr>
          <p:cNvPr id="20" name="TextBox 19"/>
          <p:cNvSpPr txBox="1"/>
          <p:nvPr/>
        </p:nvSpPr>
        <p:spPr>
          <a:xfrm>
            <a:off x="5943600" y="1463040"/>
            <a:ext cx="5699455" cy="320040"/>
          </a:xfrm>
          <a:prstGeom prst="rect">
            <a:avLst/>
          </a:prstGeom>
          <a:noFill/>
        </p:spPr>
        <p:txBody>
          <a:bodyPr wrap="square" lIns="0" rIns="0" tIns="0" bIns="0" anchor="t">
            <a:spAutoFit/>
          </a:bodyPr>
          <a:lstStyle/>
          <a:p>
            <a:pPr algn="l">
              <a:spcAft>
                <a:spcPts val="0"/>
              </a:spcAft>
              <a:buNone/>
            </a:pPr>
            <a:r>
              <a:rPr sz="1600" b="1" i="0">
                <a:solidFill>
                  <a:srgbClr val="1B2B28"/>
                </a:solidFill>
                <a:latin typeface="Arial"/>
              </a:rPr>
              <a:t>My profile</a:t>
            </a:r>
          </a:p>
        </p:txBody>
      </p:sp>
      <p:sp>
        <p:nvSpPr>
          <p:cNvPr id="21" name="TextBox 20"/>
          <p:cNvSpPr txBox="1"/>
          <p:nvPr/>
        </p:nvSpPr>
        <p:spPr>
          <a:xfrm>
            <a:off x="5943600" y="1792224"/>
            <a:ext cx="5699455" cy="548640"/>
          </a:xfrm>
          <a:prstGeom prst="rect">
            <a:avLst/>
          </a:prstGeom>
          <a:noFill/>
        </p:spPr>
        <p:txBody>
          <a:bodyPr wrap="square" lIns="0" rIns="0" tIns="0" bIns="0" anchor="t">
            <a:spAutoFit/>
          </a:bodyPr>
          <a:lstStyle/>
          <a:p>
            <a:pPr algn="l">
              <a:spcAft>
                <a:spcPts val="0"/>
              </a:spcAft>
              <a:buNone/>
            </a:pPr>
            <a:r>
              <a:rPr sz="1400" b="0" i="0">
                <a:solidFill>
                  <a:srgbClr val="56676A"/>
                </a:solidFill>
                <a:latin typeface="Calibri"/>
              </a:rPr>
              <a:t>Name, bio, avatar photo, plus my listings and reviews; editable any time</a:t>
            </a:r>
          </a:p>
        </p:txBody>
      </p:sp>
      <p:sp>
        <p:nvSpPr>
          <p:cNvPr id="22" name="badge users"/>
          <p:cNvSpPr/>
          <p:nvPr/>
        </p:nvSpPr>
        <p:spPr>
          <a:xfrm>
            <a:off x="5120640" y="2468880"/>
            <a:ext cx="594360" cy="594360"/>
          </a:xfrm>
          <a:prstGeom prst="ellipse">
            <a:avLst/>
          </a:prstGeom>
          <a:solidFill>
            <a:srgbClr val="00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icon users" descr="users_w.png"/>
          <p:cNvPicPr>
            <a:picLocks noChangeAspect="1"/>
          </p:cNvPicPr>
          <p:nvPr/>
        </p:nvPicPr>
        <p:blipFill>
          <a:blip r:embed="rId5"/>
          <a:stretch>
            <a:fillRect/>
          </a:stretch>
        </p:blipFill>
        <p:spPr>
          <a:xfrm>
            <a:off x="5263286" y="2611526"/>
            <a:ext cx="309067" cy="309067"/>
          </a:xfrm>
          <a:prstGeom prst="rect">
            <a:avLst/>
          </a:prstGeom>
        </p:spPr>
      </p:pic>
      <p:sp>
        <p:nvSpPr>
          <p:cNvPr id="24" name="TextBox 23"/>
          <p:cNvSpPr txBox="1"/>
          <p:nvPr/>
        </p:nvSpPr>
        <p:spPr>
          <a:xfrm>
            <a:off x="5943600" y="2423160"/>
            <a:ext cx="5699455" cy="320040"/>
          </a:xfrm>
          <a:prstGeom prst="rect">
            <a:avLst/>
          </a:prstGeom>
          <a:noFill/>
        </p:spPr>
        <p:txBody>
          <a:bodyPr wrap="square" lIns="0" rIns="0" tIns="0" bIns="0" anchor="t">
            <a:spAutoFit/>
          </a:bodyPr>
          <a:lstStyle/>
          <a:p>
            <a:pPr algn="l">
              <a:spcAft>
                <a:spcPts val="0"/>
              </a:spcAft>
              <a:buNone/>
            </a:pPr>
            <a:r>
              <a:rPr sz="1600" b="1" i="0">
                <a:solidFill>
                  <a:srgbClr val="1B2B28"/>
                </a:solidFill>
                <a:latin typeface="Arial"/>
              </a:rPr>
              <a:t>Public profile</a:t>
            </a:r>
          </a:p>
        </p:txBody>
      </p:sp>
      <p:sp>
        <p:nvSpPr>
          <p:cNvPr id="25" name="TextBox 24"/>
          <p:cNvSpPr txBox="1"/>
          <p:nvPr/>
        </p:nvSpPr>
        <p:spPr>
          <a:xfrm>
            <a:off x="5943600" y="2752344"/>
            <a:ext cx="5699455" cy="548640"/>
          </a:xfrm>
          <a:prstGeom prst="rect">
            <a:avLst/>
          </a:prstGeom>
          <a:noFill/>
        </p:spPr>
        <p:txBody>
          <a:bodyPr wrap="square" lIns="0" rIns="0" tIns="0" bIns="0" anchor="t">
            <a:spAutoFit/>
          </a:bodyPr>
          <a:lstStyle/>
          <a:p>
            <a:pPr algn="l">
              <a:spcAft>
                <a:spcPts val="0"/>
              </a:spcAft>
              <a:buNone/>
            </a:pPr>
            <a:r>
              <a:rPr sz="1400" b="0" i="0">
                <a:solidFill>
                  <a:srgbClr val="56676A"/>
                </a:solidFill>
                <a:latin typeface="Calibri"/>
              </a:rPr>
              <a:t>Opened from any listing's seller card: info, average, count and reviews</a:t>
            </a:r>
          </a:p>
        </p:txBody>
      </p:sp>
      <p:sp>
        <p:nvSpPr>
          <p:cNvPr id="26" name="badge star"/>
          <p:cNvSpPr/>
          <p:nvPr/>
        </p:nvSpPr>
        <p:spPr>
          <a:xfrm>
            <a:off x="5120640" y="3429000"/>
            <a:ext cx="594360" cy="594360"/>
          </a:xfrm>
          <a:prstGeom prst="ellipse">
            <a:avLst/>
          </a:prstGeom>
          <a:solidFill>
            <a:srgbClr val="00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icon star" descr="star_w.png"/>
          <p:cNvPicPr>
            <a:picLocks noChangeAspect="1"/>
          </p:cNvPicPr>
          <p:nvPr/>
        </p:nvPicPr>
        <p:blipFill>
          <a:blip r:embed="rId6"/>
          <a:stretch>
            <a:fillRect/>
          </a:stretch>
        </p:blipFill>
        <p:spPr>
          <a:xfrm>
            <a:off x="5263286" y="3571646"/>
            <a:ext cx="309067" cy="309067"/>
          </a:xfrm>
          <a:prstGeom prst="rect">
            <a:avLst/>
          </a:prstGeom>
        </p:spPr>
      </p:pic>
      <p:sp>
        <p:nvSpPr>
          <p:cNvPr id="28" name="TextBox 27"/>
          <p:cNvSpPr txBox="1"/>
          <p:nvPr/>
        </p:nvSpPr>
        <p:spPr>
          <a:xfrm>
            <a:off x="5943600" y="3383280"/>
            <a:ext cx="5699455" cy="320040"/>
          </a:xfrm>
          <a:prstGeom prst="rect">
            <a:avLst/>
          </a:prstGeom>
          <a:noFill/>
        </p:spPr>
        <p:txBody>
          <a:bodyPr wrap="square" lIns="0" rIns="0" tIns="0" bIns="0" anchor="t">
            <a:spAutoFit/>
          </a:bodyPr>
          <a:lstStyle/>
          <a:p>
            <a:pPr algn="l">
              <a:spcAft>
                <a:spcPts val="0"/>
              </a:spcAft>
              <a:buNone/>
            </a:pPr>
            <a:r>
              <a:rPr sz="1600" b="1" i="0">
                <a:solidFill>
                  <a:srgbClr val="1B2B28"/>
                </a:solidFill>
                <a:latin typeface="Arial"/>
              </a:rPr>
              <a:t>Rate this user</a:t>
            </a:r>
          </a:p>
        </p:txBody>
      </p:sp>
      <p:sp>
        <p:nvSpPr>
          <p:cNvPr id="29" name="TextBox 28"/>
          <p:cNvSpPr txBox="1"/>
          <p:nvPr/>
        </p:nvSpPr>
        <p:spPr>
          <a:xfrm>
            <a:off x="5943600" y="3712464"/>
            <a:ext cx="5699455" cy="548640"/>
          </a:xfrm>
          <a:prstGeom prst="rect">
            <a:avLst/>
          </a:prstGeom>
          <a:noFill/>
        </p:spPr>
        <p:txBody>
          <a:bodyPr wrap="square" lIns="0" rIns="0" tIns="0" bIns="0" anchor="t">
            <a:spAutoFit/>
          </a:bodyPr>
          <a:lstStyle/>
          <a:p>
            <a:pPr algn="l">
              <a:spcAft>
                <a:spcPts val="0"/>
              </a:spcAft>
              <a:buNone/>
            </a:pPr>
            <a:r>
              <a:rPr sz="1400" b="0" i="0">
                <a:solidFill>
                  <a:srgbClr val="56676A"/>
                </a:solidFill>
                <a:latin typeface="Calibri"/>
              </a:rPr>
              <a:t>1–5 stars plus an optional comment, from the Reviews tab</a:t>
            </a:r>
          </a:p>
        </p:txBody>
      </p:sp>
      <p:sp>
        <p:nvSpPr>
          <p:cNvPr id="30" name="badge shield-check"/>
          <p:cNvSpPr/>
          <p:nvPr/>
        </p:nvSpPr>
        <p:spPr>
          <a:xfrm>
            <a:off x="5120640" y="4389120"/>
            <a:ext cx="594360" cy="594360"/>
          </a:xfrm>
          <a:prstGeom prst="ellipse">
            <a:avLst/>
          </a:prstGeom>
          <a:solidFill>
            <a:srgbClr val="00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icon shield-check" descr="shield-check_w.png"/>
          <p:cNvPicPr>
            <a:picLocks noChangeAspect="1"/>
          </p:cNvPicPr>
          <p:nvPr/>
        </p:nvPicPr>
        <p:blipFill>
          <a:blip r:embed="rId7"/>
          <a:stretch>
            <a:fillRect/>
          </a:stretch>
        </p:blipFill>
        <p:spPr>
          <a:xfrm>
            <a:off x="5263286" y="4531766"/>
            <a:ext cx="309067" cy="309067"/>
          </a:xfrm>
          <a:prstGeom prst="rect">
            <a:avLst/>
          </a:prstGeom>
        </p:spPr>
      </p:pic>
      <p:sp>
        <p:nvSpPr>
          <p:cNvPr id="32" name="TextBox 31"/>
          <p:cNvSpPr txBox="1"/>
          <p:nvPr/>
        </p:nvSpPr>
        <p:spPr>
          <a:xfrm>
            <a:off x="5943600" y="4343400"/>
            <a:ext cx="5699455" cy="320040"/>
          </a:xfrm>
          <a:prstGeom prst="rect">
            <a:avLst/>
          </a:prstGeom>
          <a:noFill/>
        </p:spPr>
        <p:txBody>
          <a:bodyPr wrap="square" lIns="0" rIns="0" tIns="0" bIns="0" anchor="t">
            <a:spAutoFit/>
          </a:bodyPr>
          <a:lstStyle/>
          <a:p>
            <a:pPr algn="l">
              <a:spcAft>
                <a:spcPts val="0"/>
              </a:spcAft>
              <a:buNone/>
            </a:pPr>
            <a:r>
              <a:rPr sz="1600" b="1" i="0">
                <a:solidFill>
                  <a:srgbClr val="1B2B28"/>
                </a:solidFill>
                <a:latin typeface="Arial"/>
              </a:rPr>
              <a:t>One review each</a:t>
            </a:r>
          </a:p>
        </p:txBody>
      </p:sp>
      <p:sp>
        <p:nvSpPr>
          <p:cNvPr id="33" name="TextBox 32"/>
          <p:cNvSpPr txBox="1"/>
          <p:nvPr/>
        </p:nvSpPr>
        <p:spPr>
          <a:xfrm>
            <a:off x="5943600" y="4672584"/>
            <a:ext cx="5699455" cy="548640"/>
          </a:xfrm>
          <a:prstGeom prst="rect">
            <a:avLst/>
          </a:prstGeom>
          <a:noFill/>
        </p:spPr>
        <p:txBody>
          <a:bodyPr wrap="square" lIns="0" rIns="0" tIns="0" bIns="0" anchor="t">
            <a:spAutoFit/>
          </a:bodyPr>
          <a:lstStyle/>
          <a:p>
            <a:pPr algn="l">
              <a:spcAft>
                <a:spcPts val="0"/>
              </a:spcAft>
              <a:buNone/>
            </a:pPr>
            <a:r>
              <a:rPr sz="1400" b="0" i="0">
                <a:solidFill>
                  <a:srgbClr val="56676A"/>
                </a:solidFill>
                <a:latin typeface="Calibri"/>
              </a:rPr>
              <a:t>Resubmitting updates your review; average and count recompute in one transaction</a:t>
            </a:r>
          </a:p>
        </p:txBody>
      </p:sp>
      <p:sp>
        <p:nvSpPr>
          <p:cNvPr id="34" name="badge sliders-horizontal"/>
          <p:cNvSpPr/>
          <p:nvPr/>
        </p:nvSpPr>
        <p:spPr>
          <a:xfrm>
            <a:off x="5120640" y="5349240"/>
            <a:ext cx="594360" cy="594360"/>
          </a:xfrm>
          <a:prstGeom prst="ellipse">
            <a:avLst/>
          </a:prstGeom>
          <a:solidFill>
            <a:srgbClr val="00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icon sliders-horizontal" descr="sliders-horizontal_w.png"/>
          <p:cNvPicPr>
            <a:picLocks noChangeAspect="1"/>
          </p:cNvPicPr>
          <p:nvPr/>
        </p:nvPicPr>
        <p:blipFill>
          <a:blip r:embed="rId8"/>
          <a:stretch>
            <a:fillRect/>
          </a:stretch>
        </p:blipFill>
        <p:spPr>
          <a:xfrm>
            <a:off x="5263286" y="5491886"/>
            <a:ext cx="309067" cy="309067"/>
          </a:xfrm>
          <a:prstGeom prst="rect">
            <a:avLst/>
          </a:prstGeom>
        </p:spPr>
      </p:pic>
      <p:sp>
        <p:nvSpPr>
          <p:cNvPr id="36" name="TextBox 35"/>
          <p:cNvSpPr txBox="1"/>
          <p:nvPr/>
        </p:nvSpPr>
        <p:spPr>
          <a:xfrm>
            <a:off x="5943600" y="5303520"/>
            <a:ext cx="5699455" cy="320040"/>
          </a:xfrm>
          <a:prstGeom prst="rect">
            <a:avLst/>
          </a:prstGeom>
          <a:noFill/>
        </p:spPr>
        <p:txBody>
          <a:bodyPr wrap="square" lIns="0" rIns="0" tIns="0" bIns="0" anchor="t">
            <a:spAutoFit/>
          </a:bodyPr>
          <a:lstStyle/>
          <a:p>
            <a:pPr algn="l">
              <a:spcAft>
                <a:spcPts val="0"/>
              </a:spcAft>
              <a:buNone/>
            </a:pPr>
            <a:r>
              <a:rPr sz="1600" b="1" i="0">
                <a:solidFill>
                  <a:srgbClr val="1B2B28"/>
                </a:solidFill>
                <a:latin typeface="Arial"/>
              </a:rPr>
              <a:t>Settings</a:t>
            </a:r>
          </a:p>
        </p:txBody>
      </p:sp>
      <p:sp>
        <p:nvSpPr>
          <p:cNvPr id="37" name="TextBox 36"/>
          <p:cNvSpPr txBox="1"/>
          <p:nvPr/>
        </p:nvSpPr>
        <p:spPr>
          <a:xfrm>
            <a:off x="5943600" y="5632704"/>
            <a:ext cx="5699455" cy="548640"/>
          </a:xfrm>
          <a:prstGeom prst="rect">
            <a:avLst/>
          </a:prstGeom>
          <a:noFill/>
        </p:spPr>
        <p:txBody>
          <a:bodyPr wrap="square" lIns="0" rIns="0" tIns="0" bIns="0" anchor="t">
            <a:spAutoFit/>
          </a:bodyPr>
          <a:lstStyle/>
          <a:p>
            <a:pPr algn="l">
              <a:spcAft>
                <a:spcPts val="0"/>
              </a:spcAft>
              <a:buNone/>
            </a:pPr>
            <a:r>
              <a:rPr sz="1400" b="0" i="0">
                <a:solidFill>
                  <a:srgbClr val="56676A"/>
                </a:solidFill>
                <a:latin typeface="Calibri"/>
              </a:rPr>
              <a:t>Account email, edit profile, Terms &amp; EULA; sign-out sits on Profile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822960"/>
          </a:xfrm>
        </p:spPr>
        <p:txBody>
          <a:bodyPr lIns="0" rIns="0" tIns="0" bIns="0" anchor="ctr" wrap="square"/>
          <a:lstStyle/>
          <a:p>
            <a:pPr algn="l"/>
            <a:r>
              <a:rPr sz="3200" b="1">
                <a:solidFill>
                  <a:srgbClr val="1B2B28"/>
                </a:solidFill>
                <a:latin typeface="Arial"/>
              </a:rPr>
              <a:t>Wallet tracks earnings; reports keep listings honest</a:t>
            </a:r>
          </a:p>
        </p:txBody>
      </p:sp>
      <p:sp>
        <p:nvSpPr>
          <p:cNvPr id="3" name="kicker"/>
          <p:cNvSpPr txBox="1"/>
          <p:nvPr/>
        </p:nvSpPr>
        <p:spPr>
          <a:xfrm>
            <a:off x="548640" y="201168"/>
            <a:ext cx="7315200" cy="228600"/>
          </a:xfrm>
          <a:prstGeom prst="rect">
            <a:avLst/>
          </a:prstGeom>
          <a:noFill/>
        </p:spPr>
        <p:txBody>
          <a:bodyPr wrap="square" lIns="0" rIns="0" tIns="0" bIns="0" anchor="t">
            <a:spAutoFit/>
          </a:bodyPr>
          <a:lstStyle/>
          <a:p>
            <a:pPr algn="l">
              <a:spcAft>
                <a:spcPts val="0"/>
              </a:spcAft>
              <a:buNone/>
            </a:pPr>
            <a:r>
              <a:rPr sz="1100" b="1" i="0">
                <a:solidFill>
                  <a:srgbClr val="4F8F86"/>
                </a:solidFill>
                <a:latin typeface="Calibri"/>
              </a:rPr>
              <a:t>WALLET · SAFETY &amp; MODERATION</a:t>
            </a:r>
          </a:p>
        </p:txBody>
      </p:sp>
      <p:sp>
        <p:nvSpPr>
          <p:cNvPr id="4" name="wallet"/>
          <p:cNvSpPr/>
          <p:nvPr/>
        </p:nvSpPr>
        <p:spPr>
          <a:xfrm>
            <a:off x="548640" y="1463040"/>
            <a:ext cx="5364327" cy="4754880"/>
          </a:xfrm>
          <a:prstGeom prst="roundRect">
            <a:avLst>
              <a:gd name="adj" fmla="val 2307"/>
            </a:avLst>
          </a:prstGeom>
          <a:solidFill>
            <a:srgbClr val="F3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adge wallet"/>
          <p:cNvSpPr/>
          <p:nvPr/>
        </p:nvSpPr>
        <p:spPr>
          <a:xfrm>
            <a:off x="868680" y="1737360"/>
            <a:ext cx="685800" cy="685800"/>
          </a:xfrm>
          <a:prstGeom prst="ellipse">
            <a:avLst/>
          </a:prstGeom>
          <a:solidFill>
            <a:srgbClr val="00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icon wallet" descr="wallet_w.png"/>
          <p:cNvPicPr>
            <a:picLocks noChangeAspect="1"/>
          </p:cNvPicPr>
          <p:nvPr/>
        </p:nvPicPr>
        <p:blipFill>
          <a:blip r:embed="rId2"/>
          <a:stretch>
            <a:fillRect/>
          </a:stretch>
        </p:blipFill>
        <p:spPr>
          <a:xfrm>
            <a:off x="1033271" y="1901952"/>
            <a:ext cx="356616" cy="356616"/>
          </a:xfrm>
          <a:prstGeom prst="rect">
            <a:avLst/>
          </a:prstGeom>
        </p:spPr>
      </p:pic>
      <p:sp>
        <p:nvSpPr>
          <p:cNvPr id="7" name="TextBox 6"/>
          <p:cNvSpPr txBox="1"/>
          <p:nvPr/>
        </p:nvSpPr>
        <p:spPr>
          <a:xfrm>
            <a:off x="1737360" y="1737360"/>
            <a:ext cx="3901287" cy="365760"/>
          </a:xfrm>
          <a:prstGeom prst="rect">
            <a:avLst/>
          </a:prstGeom>
          <a:noFill/>
        </p:spPr>
        <p:txBody>
          <a:bodyPr wrap="square" lIns="0" rIns="0" tIns="0" bIns="0" anchor="t">
            <a:spAutoFit/>
          </a:bodyPr>
          <a:lstStyle/>
          <a:p>
            <a:pPr algn="l">
              <a:spcAft>
                <a:spcPts val="0"/>
              </a:spcAft>
              <a:buNone/>
            </a:pPr>
            <a:r>
              <a:rPr sz="2000" b="1" i="0">
                <a:solidFill>
                  <a:srgbClr val="1B2B28"/>
                </a:solidFill>
                <a:latin typeface="Arial"/>
              </a:rPr>
              <a:t>Wallet</a:t>
            </a:r>
          </a:p>
        </p:txBody>
      </p:sp>
      <p:sp>
        <p:nvSpPr>
          <p:cNvPr id="8" name="TextBox 7"/>
          <p:cNvSpPr txBox="1"/>
          <p:nvPr/>
        </p:nvSpPr>
        <p:spPr>
          <a:xfrm>
            <a:off x="1737360" y="2103120"/>
            <a:ext cx="3901287" cy="365760"/>
          </a:xfrm>
          <a:prstGeom prst="rect">
            <a:avLst/>
          </a:prstGeom>
          <a:noFill/>
        </p:spPr>
        <p:txBody>
          <a:bodyPr wrap="square" lIns="0" rIns="0" tIns="0" bIns="0" anchor="t">
            <a:spAutoFit/>
          </a:bodyPr>
          <a:lstStyle/>
          <a:p>
            <a:pPr algn="l">
              <a:spcAft>
                <a:spcPts val="0"/>
              </a:spcAft>
              <a:buNone/>
            </a:pPr>
            <a:r>
              <a:rPr sz="1400" b="0" i="0">
                <a:solidFill>
                  <a:srgbClr val="56676A"/>
                </a:solidFill>
                <a:latin typeface="Calibri"/>
              </a:rPr>
              <a:t>A personal earnings dashboard</a:t>
            </a:r>
          </a:p>
        </p:txBody>
      </p:sp>
      <p:sp>
        <p:nvSpPr>
          <p:cNvPr id="9" name="Total earned"/>
          <p:cNvSpPr/>
          <p:nvPr/>
        </p:nvSpPr>
        <p:spPr>
          <a:xfrm>
            <a:off x="868680" y="2743200"/>
            <a:ext cx="2224963" cy="1463040"/>
          </a:xfrm>
          <a:prstGeom prst="roundRect">
            <a:avLst>
              <a:gd name="adj" fmla="val 7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97280" y="2880360"/>
            <a:ext cx="1767763" cy="365760"/>
          </a:xfrm>
          <a:prstGeom prst="rect">
            <a:avLst/>
          </a:prstGeom>
          <a:noFill/>
        </p:spPr>
        <p:txBody>
          <a:bodyPr wrap="square" lIns="0" rIns="0" tIns="0" bIns="0" anchor="t">
            <a:spAutoFit/>
          </a:bodyPr>
          <a:lstStyle/>
          <a:p>
            <a:pPr algn="l">
              <a:spcAft>
                <a:spcPts val="0"/>
              </a:spcAft>
              <a:buNone/>
            </a:pPr>
            <a:r>
              <a:rPr sz="1600" b="1" i="0">
                <a:solidFill>
                  <a:srgbClr val="006B5E"/>
                </a:solidFill>
                <a:latin typeface="Arial"/>
              </a:rPr>
              <a:t>Total earned</a:t>
            </a:r>
          </a:p>
        </p:txBody>
      </p:sp>
      <p:sp>
        <p:nvSpPr>
          <p:cNvPr id="11" name="TextBox 10"/>
          <p:cNvSpPr txBox="1"/>
          <p:nvPr/>
        </p:nvSpPr>
        <p:spPr>
          <a:xfrm>
            <a:off x="1097280" y="3291840"/>
            <a:ext cx="1767763" cy="822960"/>
          </a:xfrm>
          <a:prstGeom prst="rect">
            <a:avLst/>
          </a:prstGeom>
          <a:noFill/>
        </p:spPr>
        <p:txBody>
          <a:bodyPr wrap="square" lIns="0" rIns="0" tIns="0" bIns="0" anchor="t">
            <a:spAutoFit/>
          </a:bodyPr>
          <a:lstStyle/>
          <a:p>
            <a:pPr algn="l">
              <a:spcAft>
                <a:spcPts val="0"/>
              </a:spcAft>
              <a:buNone/>
            </a:pPr>
            <a:r>
              <a:rPr sz="1400" b="0" i="0">
                <a:solidFill>
                  <a:srgbClr val="56676A"/>
                </a:solidFill>
                <a:latin typeface="Calibri"/>
              </a:rPr>
              <a:t>sum of prices of your completed listings</a:t>
            </a:r>
          </a:p>
        </p:txBody>
      </p:sp>
      <p:sp>
        <p:nvSpPr>
          <p:cNvPr id="12" name="Counters"/>
          <p:cNvSpPr/>
          <p:nvPr/>
        </p:nvSpPr>
        <p:spPr>
          <a:xfrm>
            <a:off x="3367963" y="2743200"/>
            <a:ext cx="2224963" cy="1463040"/>
          </a:xfrm>
          <a:prstGeom prst="roundRect">
            <a:avLst>
              <a:gd name="adj" fmla="val 7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596563" y="2880360"/>
            <a:ext cx="1767763" cy="365760"/>
          </a:xfrm>
          <a:prstGeom prst="rect">
            <a:avLst/>
          </a:prstGeom>
          <a:noFill/>
        </p:spPr>
        <p:txBody>
          <a:bodyPr wrap="square" lIns="0" rIns="0" tIns="0" bIns="0" anchor="t">
            <a:spAutoFit/>
          </a:bodyPr>
          <a:lstStyle/>
          <a:p>
            <a:pPr algn="l">
              <a:spcAft>
                <a:spcPts val="0"/>
              </a:spcAft>
              <a:buNone/>
            </a:pPr>
            <a:r>
              <a:rPr sz="1600" b="1" i="0">
                <a:solidFill>
                  <a:srgbClr val="006B5E"/>
                </a:solidFill>
                <a:latin typeface="Arial"/>
              </a:rPr>
              <a:t>Counters</a:t>
            </a:r>
          </a:p>
        </p:txBody>
      </p:sp>
      <p:sp>
        <p:nvSpPr>
          <p:cNvPr id="14" name="TextBox 13"/>
          <p:cNvSpPr txBox="1"/>
          <p:nvPr/>
        </p:nvSpPr>
        <p:spPr>
          <a:xfrm>
            <a:off x="3596563" y="3291840"/>
            <a:ext cx="1767763" cy="822960"/>
          </a:xfrm>
          <a:prstGeom prst="rect">
            <a:avLst/>
          </a:prstGeom>
          <a:noFill/>
        </p:spPr>
        <p:txBody>
          <a:bodyPr wrap="square" lIns="0" rIns="0" tIns="0" bIns="0" anchor="t">
            <a:spAutoFit/>
          </a:bodyPr>
          <a:lstStyle/>
          <a:p>
            <a:pPr algn="l">
              <a:spcAft>
                <a:spcPts val="0"/>
              </a:spcAft>
              <a:buNone/>
            </a:pPr>
            <a:r>
              <a:rPr sz="1400" b="0" i="0">
                <a:solidFill>
                  <a:srgbClr val="56676A"/>
                </a:solidFill>
                <a:latin typeface="Calibri"/>
              </a:rPr>
              <a:t>how many of your listings are Active and Completed</a:t>
            </a:r>
          </a:p>
        </p:txBody>
      </p:sp>
      <p:sp>
        <p:nvSpPr>
          <p:cNvPr id="15" name="TextBox 14"/>
          <p:cNvSpPr txBox="1"/>
          <p:nvPr/>
        </p:nvSpPr>
        <p:spPr>
          <a:xfrm>
            <a:off x="868680" y="4434840"/>
            <a:ext cx="4724247" cy="640080"/>
          </a:xfrm>
          <a:prstGeom prst="rect">
            <a:avLst/>
          </a:prstGeom>
          <a:noFill/>
        </p:spPr>
        <p:txBody>
          <a:bodyPr wrap="square" lIns="0" rIns="0" tIns="0" bIns="0" anchor="t">
            <a:spAutoFit/>
          </a:bodyPr>
          <a:lstStyle/>
          <a:p>
            <a:pPr algn="l">
              <a:spcAft>
                <a:spcPts val="0"/>
              </a:spcAft>
              <a:buNone/>
            </a:pPr>
            <a:r>
              <a:rPr sz="1500" b="1" i="0">
                <a:solidFill>
                  <a:srgbClr val="1B2B28"/>
                </a:solidFill>
                <a:latin typeface="Calibri"/>
              </a:rPr>
              <a:t>Earnings list  </a:t>
            </a:r>
            <a:r>
              <a:rPr sz="1500" b="0" i="0">
                <a:solidFill>
                  <a:srgbClr val="56676A"/>
                </a:solidFill>
                <a:latin typeface="Calibri"/>
              </a:rPr>
              <a:t>each completed listing; tap to open it</a:t>
            </a:r>
          </a:p>
        </p:txBody>
      </p:sp>
      <p:sp>
        <p:nvSpPr>
          <p:cNvPr id="16" name="no payments"/>
          <p:cNvSpPr/>
          <p:nvPr/>
        </p:nvSpPr>
        <p:spPr>
          <a:xfrm>
            <a:off x="868680" y="5212080"/>
            <a:ext cx="4724247" cy="731520"/>
          </a:xfrm>
          <a:prstGeom prst="roundRect">
            <a:avLst>
              <a:gd name="adj" fmla="val 15000"/>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097280" y="5212080"/>
            <a:ext cx="4267047" cy="731520"/>
          </a:xfrm>
          <a:prstGeom prst="rect">
            <a:avLst/>
          </a:prstGeom>
          <a:noFill/>
        </p:spPr>
        <p:txBody>
          <a:bodyPr wrap="square" lIns="0" rIns="0" tIns="0" bIns="0" anchor="ctr">
            <a:spAutoFit/>
          </a:bodyPr>
          <a:lstStyle/>
          <a:p>
            <a:pPr algn="l">
              <a:spcAft>
                <a:spcPts val="0"/>
              </a:spcAft>
              <a:buNone/>
            </a:pPr>
            <a:r>
              <a:rPr sz="1400" b="1" i="0">
                <a:solidFill>
                  <a:srgbClr val="6B4E00"/>
                </a:solidFill>
                <a:latin typeface="Calibri"/>
              </a:rPr>
              <a:t>Informational only: no real payments</a:t>
            </a:r>
          </a:p>
        </p:txBody>
      </p:sp>
      <p:sp>
        <p:nvSpPr>
          <p:cNvPr id="18" name="safety"/>
          <p:cNvSpPr/>
          <p:nvPr/>
        </p:nvSpPr>
        <p:spPr>
          <a:xfrm>
            <a:off x="6278727" y="1463040"/>
            <a:ext cx="5364327" cy="4754880"/>
          </a:xfrm>
          <a:prstGeom prst="roundRect">
            <a:avLst>
              <a:gd name="adj" fmla="val 2307"/>
            </a:avLst>
          </a:prstGeom>
          <a:solidFill>
            <a:srgbClr val="00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badge flag"/>
          <p:cNvSpPr/>
          <p:nvPr/>
        </p:nvSpPr>
        <p:spPr>
          <a:xfrm>
            <a:off x="6598767" y="1737360"/>
            <a:ext cx="685800" cy="6858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icon flag" descr="flag_t.png"/>
          <p:cNvPicPr>
            <a:picLocks noChangeAspect="1"/>
          </p:cNvPicPr>
          <p:nvPr/>
        </p:nvPicPr>
        <p:blipFill>
          <a:blip r:embed="rId3"/>
          <a:stretch>
            <a:fillRect/>
          </a:stretch>
        </p:blipFill>
        <p:spPr>
          <a:xfrm>
            <a:off x="6763359" y="1901952"/>
            <a:ext cx="356616" cy="356616"/>
          </a:xfrm>
          <a:prstGeom prst="rect">
            <a:avLst/>
          </a:prstGeom>
        </p:spPr>
      </p:pic>
      <p:sp>
        <p:nvSpPr>
          <p:cNvPr id="21" name="TextBox 20"/>
          <p:cNvSpPr txBox="1"/>
          <p:nvPr/>
        </p:nvSpPr>
        <p:spPr>
          <a:xfrm>
            <a:off x="7467447" y="1737360"/>
            <a:ext cx="3901287" cy="365760"/>
          </a:xfrm>
          <a:prstGeom prst="rect">
            <a:avLst/>
          </a:prstGeom>
          <a:noFill/>
        </p:spPr>
        <p:txBody>
          <a:bodyPr wrap="square" lIns="0" rIns="0" tIns="0" bIns="0" anchor="t">
            <a:spAutoFit/>
          </a:bodyPr>
          <a:lstStyle/>
          <a:p>
            <a:pPr algn="l">
              <a:spcAft>
                <a:spcPts val="0"/>
              </a:spcAft>
              <a:buNone/>
            </a:pPr>
            <a:r>
              <a:rPr sz="2000" b="1" i="0">
                <a:solidFill>
                  <a:srgbClr val="FFFFFF"/>
                </a:solidFill>
                <a:latin typeface="Arial"/>
              </a:rPr>
              <a:t>Safety &amp; moderation</a:t>
            </a:r>
          </a:p>
        </p:txBody>
      </p:sp>
      <p:sp>
        <p:nvSpPr>
          <p:cNvPr id="22" name="TextBox 21"/>
          <p:cNvSpPr txBox="1"/>
          <p:nvPr/>
        </p:nvSpPr>
        <p:spPr>
          <a:xfrm>
            <a:off x="7467447" y="2103120"/>
            <a:ext cx="3901287" cy="365760"/>
          </a:xfrm>
          <a:prstGeom prst="rect">
            <a:avLst/>
          </a:prstGeom>
          <a:noFill/>
        </p:spPr>
        <p:txBody>
          <a:bodyPr wrap="square" lIns="0" rIns="0" tIns="0" bIns="0" anchor="t">
            <a:spAutoFit/>
          </a:bodyPr>
          <a:lstStyle/>
          <a:p>
            <a:pPr algn="l">
              <a:spcAft>
                <a:spcPts val="0"/>
              </a:spcAft>
              <a:buNone/>
            </a:pPr>
            <a:r>
              <a:rPr sz="1400" b="0" i="0">
                <a:solidFill>
                  <a:srgbClr val="CFE5E0"/>
                </a:solidFill>
                <a:latin typeface="Calibri"/>
              </a:rPr>
              <a:t>Basic, low-cost protections</a:t>
            </a:r>
          </a:p>
        </p:txBody>
      </p:sp>
      <p:pic>
        <p:nvPicPr>
          <p:cNvPr id="23" name="icon check" descr="check_w.png"/>
          <p:cNvPicPr>
            <a:picLocks noChangeAspect="1"/>
          </p:cNvPicPr>
          <p:nvPr/>
        </p:nvPicPr>
        <p:blipFill>
          <a:blip r:embed="rId4"/>
          <a:stretch>
            <a:fillRect/>
          </a:stretch>
        </p:blipFill>
        <p:spPr>
          <a:xfrm>
            <a:off x="6644487" y="2788920"/>
            <a:ext cx="320040" cy="320040"/>
          </a:xfrm>
          <a:prstGeom prst="rect">
            <a:avLst/>
          </a:prstGeom>
        </p:spPr>
      </p:pic>
      <p:sp>
        <p:nvSpPr>
          <p:cNvPr id="24" name="TextBox 23"/>
          <p:cNvSpPr txBox="1"/>
          <p:nvPr/>
        </p:nvSpPr>
        <p:spPr>
          <a:xfrm>
            <a:off x="7147407" y="2743200"/>
            <a:ext cx="4175607" cy="365760"/>
          </a:xfrm>
          <a:prstGeom prst="rect">
            <a:avLst/>
          </a:prstGeom>
          <a:noFill/>
        </p:spPr>
        <p:txBody>
          <a:bodyPr wrap="square" lIns="0" rIns="0" tIns="0" bIns="0" anchor="t">
            <a:spAutoFit/>
          </a:bodyPr>
          <a:lstStyle/>
          <a:p>
            <a:pPr algn="l">
              <a:spcAft>
                <a:spcPts val="0"/>
              </a:spcAft>
              <a:buNone/>
            </a:pPr>
            <a:r>
              <a:rPr sz="1600" b="1" i="0">
                <a:solidFill>
                  <a:srgbClr val="FFFFFF"/>
                </a:solidFill>
                <a:latin typeface="Arial"/>
              </a:rPr>
              <a:t>Report a listing</a:t>
            </a:r>
          </a:p>
        </p:txBody>
      </p:sp>
      <p:sp>
        <p:nvSpPr>
          <p:cNvPr id="25" name="TextBox 24"/>
          <p:cNvSpPr txBox="1"/>
          <p:nvPr/>
        </p:nvSpPr>
        <p:spPr>
          <a:xfrm>
            <a:off x="7147407" y="3090672"/>
            <a:ext cx="4175607" cy="640080"/>
          </a:xfrm>
          <a:prstGeom prst="rect">
            <a:avLst/>
          </a:prstGeom>
          <a:noFill/>
        </p:spPr>
        <p:txBody>
          <a:bodyPr wrap="square" lIns="0" rIns="0" tIns="0" bIns="0" anchor="t">
            <a:spAutoFit/>
          </a:bodyPr>
          <a:lstStyle/>
          <a:p>
            <a:pPr algn="l">
              <a:spcAft>
                <a:spcPts val="0"/>
              </a:spcAft>
              <a:buNone/>
            </a:pPr>
            <a:r>
              <a:rPr sz="1400" b="0" i="0">
                <a:solidFill>
                  <a:srgbClr val="DCEDEA"/>
                </a:solidFill>
                <a:latin typeface="Calibri"/>
              </a:rPr>
              <a:t>Pick a reason and add details from the listing's menu</a:t>
            </a:r>
          </a:p>
        </p:txBody>
      </p:sp>
      <p:pic>
        <p:nvPicPr>
          <p:cNvPr id="26" name="icon check" descr="check_w.png"/>
          <p:cNvPicPr>
            <a:picLocks noChangeAspect="1"/>
          </p:cNvPicPr>
          <p:nvPr/>
        </p:nvPicPr>
        <p:blipFill>
          <a:blip r:embed="rId4"/>
          <a:stretch>
            <a:fillRect/>
          </a:stretch>
        </p:blipFill>
        <p:spPr>
          <a:xfrm>
            <a:off x="6644487" y="3886200"/>
            <a:ext cx="320040" cy="320040"/>
          </a:xfrm>
          <a:prstGeom prst="rect">
            <a:avLst/>
          </a:prstGeom>
        </p:spPr>
      </p:pic>
      <p:sp>
        <p:nvSpPr>
          <p:cNvPr id="27" name="TextBox 26"/>
          <p:cNvSpPr txBox="1"/>
          <p:nvPr/>
        </p:nvSpPr>
        <p:spPr>
          <a:xfrm>
            <a:off x="7147407" y="3840480"/>
            <a:ext cx="4175607" cy="365760"/>
          </a:xfrm>
          <a:prstGeom prst="rect">
            <a:avLst/>
          </a:prstGeom>
          <a:noFill/>
        </p:spPr>
        <p:txBody>
          <a:bodyPr wrap="square" lIns="0" rIns="0" tIns="0" bIns="0" anchor="t">
            <a:spAutoFit/>
          </a:bodyPr>
          <a:lstStyle/>
          <a:p>
            <a:pPr algn="l">
              <a:spcAft>
                <a:spcPts val="0"/>
              </a:spcAft>
              <a:buNone/>
            </a:pPr>
            <a:r>
              <a:rPr sz="1600" b="1" i="0">
                <a:solidFill>
                  <a:srgbClr val="FFFFFF"/>
                </a:solidFill>
                <a:latin typeface="Arial"/>
              </a:rPr>
              <a:t>Create-only reports</a:t>
            </a:r>
          </a:p>
        </p:txBody>
      </p:sp>
      <p:sp>
        <p:nvSpPr>
          <p:cNvPr id="28" name="TextBox 27"/>
          <p:cNvSpPr txBox="1"/>
          <p:nvPr/>
        </p:nvSpPr>
        <p:spPr>
          <a:xfrm>
            <a:off x="7147407" y="4187952"/>
            <a:ext cx="4175607" cy="640080"/>
          </a:xfrm>
          <a:prstGeom prst="rect">
            <a:avLst/>
          </a:prstGeom>
          <a:noFill/>
        </p:spPr>
        <p:txBody>
          <a:bodyPr wrap="square" lIns="0" rIns="0" tIns="0" bIns="0" anchor="t">
            <a:spAutoFit/>
          </a:bodyPr>
          <a:lstStyle/>
          <a:p>
            <a:pPr algn="l">
              <a:spcAft>
                <a:spcPts val="0"/>
              </a:spcAft>
              <a:buNone/>
            </a:pPr>
            <a:r>
              <a:rPr sz="1400" b="0" i="0">
                <a:solidFill>
                  <a:srgbClr val="DCEDEA"/>
                </a:solidFill>
                <a:latin typeface="Calibri"/>
              </a:rPr>
              <a:t>Reviewed in the Firebase console; no in-app moderation UI yet</a:t>
            </a:r>
          </a:p>
        </p:txBody>
      </p:sp>
      <p:pic>
        <p:nvPicPr>
          <p:cNvPr id="29" name="icon check" descr="check_w.png"/>
          <p:cNvPicPr>
            <a:picLocks noChangeAspect="1"/>
          </p:cNvPicPr>
          <p:nvPr/>
        </p:nvPicPr>
        <p:blipFill>
          <a:blip r:embed="rId4"/>
          <a:stretch>
            <a:fillRect/>
          </a:stretch>
        </p:blipFill>
        <p:spPr>
          <a:xfrm>
            <a:off x="6644487" y="4983480"/>
            <a:ext cx="320040" cy="320040"/>
          </a:xfrm>
          <a:prstGeom prst="rect">
            <a:avLst/>
          </a:prstGeom>
        </p:spPr>
      </p:pic>
      <p:sp>
        <p:nvSpPr>
          <p:cNvPr id="30" name="TextBox 29"/>
          <p:cNvSpPr txBox="1"/>
          <p:nvPr/>
        </p:nvSpPr>
        <p:spPr>
          <a:xfrm>
            <a:off x="7147407" y="4937760"/>
            <a:ext cx="4175607" cy="365760"/>
          </a:xfrm>
          <a:prstGeom prst="rect">
            <a:avLst/>
          </a:prstGeom>
          <a:noFill/>
        </p:spPr>
        <p:txBody>
          <a:bodyPr wrap="square" lIns="0" rIns="0" tIns="0" bIns="0" anchor="t">
            <a:spAutoFit/>
          </a:bodyPr>
          <a:lstStyle/>
          <a:p>
            <a:pPr algn="l">
              <a:spcAft>
                <a:spcPts val="0"/>
              </a:spcAft>
              <a:buNone/>
            </a:pPr>
            <a:r>
              <a:rPr sz="1600" b="1" i="0">
                <a:solidFill>
                  <a:srgbClr val="FFFFFF"/>
                </a:solidFill>
                <a:latin typeface="Arial"/>
              </a:rPr>
              <a:t>Math captcha</a:t>
            </a:r>
          </a:p>
        </p:txBody>
      </p:sp>
      <p:sp>
        <p:nvSpPr>
          <p:cNvPr id="31" name="TextBox 30"/>
          <p:cNvSpPr txBox="1"/>
          <p:nvPr/>
        </p:nvSpPr>
        <p:spPr>
          <a:xfrm>
            <a:off x="7147407" y="5285232"/>
            <a:ext cx="4175607" cy="640080"/>
          </a:xfrm>
          <a:prstGeom prst="rect">
            <a:avLst/>
          </a:prstGeom>
          <a:noFill/>
        </p:spPr>
        <p:txBody>
          <a:bodyPr wrap="square" lIns="0" rIns="0" tIns="0" bIns="0" anchor="t">
            <a:spAutoFit/>
          </a:bodyPr>
          <a:lstStyle/>
          <a:p>
            <a:pPr algn="l">
              <a:spcAft>
                <a:spcPts val="0"/>
              </a:spcAft>
              <a:buNone/>
            </a:pPr>
            <a:r>
              <a:rPr sz="1400" b="0" i="0">
                <a:solidFill>
                  <a:srgbClr val="DCEDEA"/>
                </a:solidFill>
                <a:latin typeface="Calibri"/>
              </a:rPr>
              <a:t>On sign-up and sign-in, as basic anti-bot protection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822960"/>
          </a:xfrm>
        </p:spPr>
        <p:txBody>
          <a:bodyPr lIns="0" rIns="0" tIns="0" bIns="0" anchor="ctr" wrap="square"/>
          <a:lstStyle/>
          <a:p>
            <a:pPr algn="l"/>
            <a:r>
              <a:rPr sz="3200" b="1">
                <a:solidFill>
                  <a:srgbClr val="1B2B28"/>
                </a:solidFill>
                <a:latin typeface="Arial"/>
              </a:rPr>
              <a:t>The app adapts to the phone it runs on</a:t>
            </a:r>
          </a:p>
        </p:txBody>
      </p:sp>
      <p:sp>
        <p:nvSpPr>
          <p:cNvPr id="3" name="kicker"/>
          <p:cNvSpPr txBox="1"/>
          <p:nvPr/>
        </p:nvSpPr>
        <p:spPr>
          <a:xfrm>
            <a:off x="548640" y="201168"/>
            <a:ext cx="7315200" cy="228600"/>
          </a:xfrm>
          <a:prstGeom prst="rect">
            <a:avLst/>
          </a:prstGeom>
          <a:noFill/>
        </p:spPr>
        <p:txBody>
          <a:bodyPr wrap="square" lIns="0" rIns="0" tIns="0" bIns="0" anchor="t">
            <a:spAutoFit/>
          </a:bodyPr>
          <a:lstStyle/>
          <a:p>
            <a:pPr algn="l">
              <a:spcAft>
                <a:spcPts val="0"/>
              </a:spcAft>
              <a:buNone/>
            </a:pPr>
            <a:r>
              <a:rPr sz="1100" b="1" i="0">
                <a:solidFill>
                  <a:srgbClr val="4F8F86"/>
                </a:solidFill>
                <a:latin typeface="Calibri"/>
              </a:rPr>
              <a:t>PERFORMANCE TIERS</a:t>
            </a:r>
          </a:p>
        </p:txBody>
      </p:sp>
      <p:sp>
        <p:nvSpPr>
          <p:cNvPr id="4" name="High-end devices"/>
          <p:cNvSpPr/>
          <p:nvPr/>
        </p:nvSpPr>
        <p:spPr>
          <a:xfrm>
            <a:off x="548640" y="1463040"/>
            <a:ext cx="5364327" cy="3154680"/>
          </a:xfrm>
          <a:prstGeom prst="roundRect">
            <a:avLst>
              <a:gd name="adj" fmla="val 3478"/>
            </a:avLst>
          </a:prstGeom>
          <a:solidFill>
            <a:srgbClr val="00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adge zap"/>
          <p:cNvSpPr/>
          <p:nvPr/>
        </p:nvSpPr>
        <p:spPr>
          <a:xfrm>
            <a:off x="868680" y="1737360"/>
            <a:ext cx="685800" cy="6858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icon zap" descr="zap_t.png"/>
          <p:cNvPicPr>
            <a:picLocks noChangeAspect="1"/>
          </p:cNvPicPr>
          <p:nvPr/>
        </p:nvPicPr>
        <p:blipFill>
          <a:blip r:embed="rId2"/>
          <a:stretch>
            <a:fillRect/>
          </a:stretch>
        </p:blipFill>
        <p:spPr>
          <a:xfrm>
            <a:off x="1033271" y="1901952"/>
            <a:ext cx="356616" cy="356616"/>
          </a:xfrm>
          <a:prstGeom prst="rect">
            <a:avLst/>
          </a:prstGeom>
        </p:spPr>
      </p:pic>
      <p:sp>
        <p:nvSpPr>
          <p:cNvPr id="7" name="TextBox 6"/>
          <p:cNvSpPr txBox="1"/>
          <p:nvPr/>
        </p:nvSpPr>
        <p:spPr>
          <a:xfrm>
            <a:off x="1737360" y="1783080"/>
            <a:ext cx="3901287" cy="548640"/>
          </a:xfrm>
          <a:prstGeom prst="rect">
            <a:avLst/>
          </a:prstGeom>
          <a:noFill/>
        </p:spPr>
        <p:txBody>
          <a:bodyPr wrap="square" lIns="0" rIns="0" tIns="0" bIns="0" anchor="ctr">
            <a:spAutoFit/>
          </a:bodyPr>
          <a:lstStyle/>
          <a:p>
            <a:pPr algn="l">
              <a:spcAft>
                <a:spcPts val="0"/>
              </a:spcAft>
              <a:buNone/>
            </a:pPr>
            <a:r>
              <a:rPr sz="2000" b="1" i="0">
                <a:solidFill>
                  <a:srgbClr val="FFFFFF"/>
                </a:solidFill>
                <a:latin typeface="Arial"/>
              </a:rPr>
              <a:t>High-end devices</a:t>
            </a:r>
          </a:p>
        </p:txBody>
      </p:sp>
      <p:sp>
        <p:nvSpPr>
          <p:cNvPr id="8" name="TextBox 7"/>
          <p:cNvSpPr txBox="1"/>
          <p:nvPr/>
        </p:nvSpPr>
        <p:spPr>
          <a:xfrm>
            <a:off x="914400" y="2651760"/>
            <a:ext cx="4632807" cy="1828800"/>
          </a:xfrm>
          <a:prstGeom prst="rect">
            <a:avLst/>
          </a:prstGeom>
          <a:noFill/>
        </p:spPr>
        <p:txBody>
          <a:bodyPr wrap="square" lIns="0" rIns="0" tIns="0" bIns="0" anchor="t">
            <a:spAutoFit/>
          </a:bodyPr>
          <a:lstStyle/>
          <a:p>
            <a:pPr algn="l" marL="223520" indent="-223520">
              <a:spcAft>
                <a:spcPts val="600"/>
              </a:spcAft>
              <a:buFont typeface="Arial"/>
              <a:buChar char="•"/>
            </a:pPr>
            <a:r>
              <a:rPr sz="1600" b="0" i="0">
                <a:solidFill>
                  <a:srgbClr val="DCEDEA"/>
                </a:solidFill>
                <a:latin typeface="Calibri"/>
              </a:rPr>
              <a:t>Dynamic color from the system palette</a:t>
            </a:r>
          </a:p>
          <a:p>
            <a:pPr algn="l" marL="223520" indent="-223520">
              <a:spcAft>
                <a:spcPts val="600"/>
              </a:spcAft>
              <a:buFont typeface="Arial"/>
              <a:buChar char="•"/>
            </a:pPr>
            <a:r>
              <a:rPr sz="1600" b="0" i="0">
                <a:solidFill>
                  <a:srgbClr val="DCEDEA"/>
                </a:solidFill>
                <a:latin typeface="Calibri"/>
              </a:rPr>
              <a:t>Card peek in the swipe stack</a:t>
            </a:r>
          </a:p>
          <a:p>
            <a:pPr algn="l" marL="223520" indent="-223520">
              <a:spcAft>
                <a:spcPts val="600"/>
              </a:spcAft>
              <a:buFont typeface="Arial"/>
              <a:buChar char="•"/>
            </a:pPr>
            <a:r>
              <a:rPr sz="1600" b="0" i="0">
                <a:solidFill>
                  <a:srgbClr val="DCEDEA"/>
                </a:solidFill>
                <a:latin typeface="Calibri"/>
              </a:rPr>
              <a:t>Gradient overlays on images</a:t>
            </a:r>
          </a:p>
          <a:p>
            <a:pPr algn="l" marL="223520" indent="-223520">
              <a:spcAft>
                <a:spcPts val="600"/>
              </a:spcAft>
              <a:buFont typeface="Arial"/>
              <a:buChar char="•"/>
            </a:pPr>
            <a:r>
              <a:rPr sz="1600" b="0" i="0">
                <a:solidFill>
                  <a:srgbClr val="DCEDEA"/>
                </a:solidFill>
                <a:latin typeface="Calibri"/>
              </a:rPr>
              <a:t>Larger image cache</a:t>
            </a:r>
          </a:p>
        </p:txBody>
      </p:sp>
      <p:sp>
        <p:nvSpPr>
          <p:cNvPr id="9" name="Low-end devices"/>
          <p:cNvSpPr/>
          <p:nvPr/>
        </p:nvSpPr>
        <p:spPr>
          <a:xfrm>
            <a:off x="6278727" y="1463040"/>
            <a:ext cx="5364327" cy="3154680"/>
          </a:xfrm>
          <a:prstGeom prst="roundRect">
            <a:avLst>
              <a:gd name="adj" fmla="val 3478"/>
            </a:avLst>
          </a:prstGeom>
          <a:solidFill>
            <a:srgbClr val="F3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badge smartphone"/>
          <p:cNvSpPr/>
          <p:nvPr/>
        </p:nvSpPr>
        <p:spPr>
          <a:xfrm>
            <a:off x="6598767" y="1737360"/>
            <a:ext cx="685800" cy="685800"/>
          </a:xfrm>
          <a:prstGeom prst="ellipse">
            <a:avLst/>
          </a:prstGeom>
          <a:solidFill>
            <a:srgbClr val="00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smartphone" descr="smartphone_w.png"/>
          <p:cNvPicPr>
            <a:picLocks noChangeAspect="1"/>
          </p:cNvPicPr>
          <p:nvPr/>
        </p:nvPicPr>
        <p:blipFill>
          <a:blip r:embed="rId3"/>
          <a:stretch>
            <a:fillRect/>
          </a:stretch>
        </p:blipFill>
        <p:spPr>
          <a:xfrm>
            <a:off x="6763359" y="1901952"/>
            <a:ext cx="356616" cy="356616"/>
          </a:xfrm>
          <a:prstGeom prst="rect">
            <a:avLst/>
          </a:prstGeom>
        </p:spPr>
      </p:pic>
      <p:sp>
        <p:nvSpPr>
          <p:cNvPr id="12" name="TextBox 11"/>
          <p:cNvSpPr txBox="1"/>
          <p:nvPr/>
        </p:nvSpPr>
        <p:spPr>
          <a:xfrm>
            <a:off x="7467447" y="1783080"/>
            <a:ext cx="3901287" cy="548640"/>
          </a:xfrm>
          <a:prstGeom prst="rect">
            <a:avLst/>
          </a:prstGeom>
          <a:noFill/>
        </p:spPr>
        <p:txBody>
          <a:bodyPr wrap="square" lIns="0" rIns="0" tIns="0" bIns="0" anchor="ctr">
            <a:spAutoFit/>
          </a:bodyPr>
          <a:lstStyle/>
          <a:p>
            <a:pPr algn="l">
              <a:spcAft>
                <a:spcPts val="0"/>
              </a:spcAft>
              <a:buNone/>
            </a:pPr>
            <a:r>
              <a:rPr sz="2000" b="1" i="0">
                <a:solidFill>
                  <a:srgbClr val="1B2B28"/>
                </a:solidFill>
                <a:latin typeface="Arial"/>
              </a:rPr>
              <a:t>Low-end devices</a:t>
            </a:r>
          </a:p>
        </p:txBody>
      </p:sp>
      <p:sp>
        <p:nvSpPr>
          <p:cNvPr id="13" name="TextBox 12"/>
          <p:cNvSpPr txBox="1"/>
          <p:nvPr/>
        </p:nvSpPr>
        <p:spPr>
          <a:xfrm>
            <a:off x="6644487" y="2651760"/>
            <a:ext cx="4632807" cy="1828800"/>
          </a:xfrm>
          <a:prstGeom prst="rect">
            <a:avLst/>
          </a:prstGeom>
          <a:noFill/>
        </p:spPr>
        <p:txBody>
          <a:bodyPr wrap="square" lIns="0" rIns="0" tIns="0" bIns="0" anchor="t">
            <a:spAutoFit/>
          </a:bodyPr>
          <a:lstStyle/>
          <a:p>
            <a:pPr algn="l" marL="223520" indent="-223520">
              <a:spcAft>
                <a:spcPts val="600"/>
              </a:spcAft>
              <a:buFont typeface="Arial"/>
              <a:buChar char="•"/>
            </a:pPr>
            <a:r>
              <a:rPr sz="1600" b="0" i="0">
                <a:solidFill>
                  <a:srgbClr val="56676A"/>
                </a:solidFill>
                <a:latin typeface="Calibri"/>
              </a:rPr>
              <a:t>Simplified visuals</a:t>
            </a:r>
          </a:p>
          <a:p>
            <a:pPr algn="l" marL="223520" indent="-223520">
              <a:spcAft>
                <a:spcPts val="600"/>
              </a:spcAft>
              <a:buFont typeface="Arial"/>
              <a:buChar char="•"/>
            </a:pPr>
            <a:r>
              <a:rPr sz="1600" b="0" i="0">
                <a:solidFill>
                  <a:srgbClr val="56676A"/>
                </a:solidFill>
                <a:latin typeface="Calibri"/>
              </a:rPr>
              <a:t>Smooth scrolling first</a:t>
            </a:r>
          </a:p>
          <a:p>
            <a:pPr algn="l" marL="223520" indent="-223520">
              <a:spcAft>
                <a:spcPts val="600"/>
              </a:spcAft>
              <a:buFont typeface="Arial"/>
              <a:buChar char="•"/>
            </a:pPr>
            <a:r>
              <a:rPr sz="1600" b="0" i="0">
                <a:solidFill>
                  <a:srgbClr val="56676A"/>
                </a:solidFill>
                <a:latin typeface="Calibri"/>
              </a:rPr>
              <a:t>High-end effects switched off</a:t>
            </a:r>
          </a:p>
          <a:p>
            <a:pPr algn="l" marL="223520" indent="-223520">
              <a:spcAft>
                <a:spcPts val="600"/>
              </a:spcAft>
              <a:buFont typeface="Arial"/>
              <a:buChar char="•"/>
            </a:pPr>
            <a:r>
              <a:rPr sz="1600" b="0" i="0">
                <a:solidFill>
                  <a:srgbClr val="56676A"/>
                </a:solidFill>
                <a:latin typeface="Calibri"/>
              </a:rPr>
              <a:t>Leaner image cache</a:t>
            </a:r>
          </a:p>
        </p:txBody>
      </p:sp>
      <p:sp>
        <p:nvSpPr>
          <p:cNvPr id="14" name="splash"/>
          <p:cNvSpPr/>
          <p:nvPr/>
        </p:nvSpPr>
        <p:spPr>
          <a:xfrm>
            <a:off x="548640" y="4892040"/>
            <a:ext cx="11094415" cy="1325880"/>
          </a:xfrm>
          <a:prstGeom prst="roundRect">
            <a:avLst>
              <a:gd name="adj" fmla="val 8275"/>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badge gauge"/>
          <p:cNvSpPr/>
          <p:nvPr/>
        </p:nvSpPr>
        <p:spPr>
          <a:xfrm>
            <a:off x="868680" y="5212080"/>
            <a:ext cx="685800" cy="685800"/>
          </a:xfrm>
          <a:prstGeom prst="ellipse">
            <a:avLst/>
          </a:prstGeom>
          <a:solidFill>
            <a:srgbClr val="FFB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icon gauge" descr="gauge_d.png"/>
          <p:cNvPicPr>
            <a:picLocks noChangeAspect="1"/>
          </p:cNvPicPr>
          <p:nvPr/>
        </p:nvPicPr>
        <p:blipFill>
          <a:blip r:embed="rId4"/>
          <a:stretch>
            <a:fillRect/>
          </a:stretch>
        </p:blipFill>
        <p:spPr>
          <a:xfrm>
            <a:off x="1033271" y="5376672"/>
            <a:ext cx="356616" cy="356616"/>
          </a:xfrm>
          <a:prstGeom prst="rect">
            <a:avLst/>
          </a:prstGeom>
        </p:spPr>
      </p:pic>
      <p:sp>
        <p:nvSpPr>
          <p:cNvPr id="17" name="TextBox 16"/>
          <p:cNvSpPr txBox="1"/>
          <p:nvPr/>
        </p:nvSpPr>
        <p:spPr>
          <a:xfrm>
            <a:off x="1783080" y="5074920"/>
            <a:ext cx="9539935" cy="365760"/>
          </a:xfrm>
          <a:prstGeom prst="rect">
            <a:avLst/>
          </a:prstGeom>
          <a:noFill/>
        </p:spPr>
        <p:txBody>
          <a:bodyPr wrap="square" lIns="0" rIns="0" tIns="0" bIns="0" anchor="t">
            <a:spAutoFit/>
          </a:bodyPr>
          <a:lstStyle/>
          <a:p>
            <a:pPr algn="l">
              <a:spcAft>
                <a:spcPts val="0"/>
              </a:spcAft>
              <a:buNone/>
            </a:pPr>
            <a:r>
              <a:rPr sz="1700" b="1" i="0">
                <a:solidFill>
                  <a:srgbClr val="1B2B28"/>
                </a:solidFill>
                <a:latin typeface="Arial"/>
              </a:rPr>
              <a:t>Branded splash while the app warms up</a:t>
            </a:r>
          </a:p>
        </p:txBody>
      </p:sp>
      <p:sp>
        <p:nvSpPr>
          <p:cNvPr id="18" name="TextBox 17"/>
          <p:cNvSpPr txBox="1"/>
          <p:nvPr/>
        </p:nvSpPr>
        <p:spPr>
          <a:xfrm>
            <a:off x="1783080" y="5440680"/>
            <a:ext cx="9539935" cy="640080"/>
          </a:xfrm>
          <a:prstGeom prst="rect">
            <a:avLst/>
          </a:prstGeom>
          <a:noFill/>
        </p:spPr>
        <p:txBody>
          <a:bodyPr wrap="square" lIns="0" rIns="0" tIns="0" bIns="0" anchor="t">
            <a:spAutoFit/>
          </a:bodyPr>
          <a:lstStyle/>
          <a:p>
            <a:pPr algn="l">
              <a:spcAft>
                <a:spcPts val="0"/>
              </a:spcAft>
              <a:buNone/>
            </a:pPr>
            <a:r>
              <a:rPr sz="1500" b="0" i="0">
                <a:solidFill>
                  <a:srgbClr val="56676A"/>
                </a:solidFill>
                <a:latin typeface="Calibri"/>
              </a:rPr>
              <a:t>The local database and Firebase initialize behind it, designed to avoid freezes (ANRs) on cheap phones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822960"/>
          </a:xfrm>
        </p:spPr>
        <p:txBody>
          <a:bodyPr lIns="0" rIns="0" tIns="0" bIns="0" anchor="ctr" wrap="square"/>
          <a:lstStyle/>
          <a:p>
            <a:pPr algn="l"/>
            <a:r>
              <a:rPr sz="3200" b="1">
                <a:solidFill>
                  <a:srgbClr val="1B2B28"/>
                </a:solidFill>
                <a:latin typeface="Arial"/>
              </a:rPr>
              <a:t>Free-tier cloud services with a local-first cache</a:t>
            </a:r>
          </a:p>
        </p:txBody>
      </p:sp>
      <p:sp>
        <p:nvSpPr>
          <p:cNvPr id="3" name="kicker"/>
          <p:cNvSpPr txBox="1"/>
          <p:nvPr/>
        </p:nvSpPr>
        <p:spPr>
          <a:xfrm>
            <a:off x="548640" y="201168"/>
            <a:ext cx="7315200" cy="228600"/>
          </a:xfrm>
          <a:prstGeom prst="rect">
            <a:avLst/>
          </a:prstGeom>
          <a:noFill/>
        </p:spPr>
        <p:txBody>
          <a:bodyPr wrap="square" lIns="0" rIns="0" tIns="0" bIns="0" anchor="t">
            <a:spAutoFit/>
          </a:bodyPr>
          <a:lstStyle/>
          <a:p>
            <a:pPr algn="l">
              <a:spcAft>
                <a:spcPts val="0"/>
              </a:spcAft>
              <a:buNone/>
            </a:pPr>
            <a:r>
              <a:rPr sz="1100" b="1" i="0">
                <a:solidFill>
                  <a:srgbClr val="4F8F86"/>
                </a:solidFill>
                <a:latin typeface="Calibri"/>
              </a:rPr>
              <a:t>WHAT POWERS IT</a:t>
            </a:r>
          </a:p>
        </p:txBody>
      </p:sp>
      <p:sp>
        <p:nvSpPr>
          <p:cNvPr id="4" name="Firebase Authentication"/>
          <p:cNvSpPr/>
          <p:nvPr/>
        </p:nvSpPr>
        <p:spPr>
          <a:xfrm>
            <a:off x="548640" y="1554480"/>
            <a:ext cx="2036003" cy="4023360"/>
          </a:xfrm>
          <a:prstGeom prst="roundRect">
            <a:avLst>
              <a:gd name="adj" fmla="val 5389"/>
            </a:avLst>
          </a:prstGeom>
          <a:solidFill>
            <a:srgbClr val="F3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adge lock"/>
          <p:cNvSpPr/>
          <p:nvPr/>
        </p:nvSpPr>
        <p:spPr>
          <a:xfrm>
            <a:off x="1109441" y="1874519"/>
            <a:ext cx="914400" cy="914400"/>
          </a:xfrm>
          <a:prstGeom prst="ellipse">
            <a:avLst/>
          </a:prstGeom>
          <a:solidFill>
            <a:srgbClr val="00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icon lock" descr="lock_w.png"/>
          <p:cNvPicPr>
            <a:picLocks noChangeAspect="1"/>
          </p:cNvPicPr>
          <p:nvPr/>
        </p:nvPicPr>
        <p:blipFill>
          <a:blip r:embed="rId2"/>
          <a:stretch>
            <a:fillRect/>
          </a:stretch>
        </p:blipFill>
        <p:spPr>
          <a:xfrm>
            <a:off x="1328897" y="2093976"/>
            <a:ext cx="475488" cy="475488"/>
          </a:xfrm>
          <a:prstGeom prst="rect">
            <a:avLst/>
          </a:prstGeom>
        </p:spPr>
      </p:pic>
      <p:sp>
        <p:nvSpPr>
          <p:cNvPr id="7" name="TextBox 6"/>
          <p:cNvSpPr txBox="1"/>
          <p:nvPr/>
        </p:nvSpPr>
        <p:spPr>
          <a:xfrm>
            <a:off x="731520" y="3017520"/>
            <a:ext cx="1670243" cy="640080"/>
          </a:xfrm>
          <a:prstGeom prst="rect">
            <a:avLst/>
          </a:prstGeom>
          <a:noFill/>
        </p:spPr>
        <p:txBody>
          <a:bodyPr wrap="square" lIns="0" rIns="0" tIns="0" bIns="0" anchor="t">
            <a:spAutoFit/>
          </a:bodyPr>
          <a:lstStyle/>
          <a:p>
            <a:pPr algn="ctr">
              <a:spcAft>
                <a:spcPts val="0"/>
              </a:spcAft>
              <a:buNone/>
            </a:pPr>
            <a:r>
              <a:rPr sz="1100" b="1" i="0">
                <a:solidFill>
                  <a:srgbClr val="4F8F86"/>
                </a:solidFill>
                <a:latin typeface="Calibri"/>
              </a:rPr>
              <a:t>ACCOUNTS &amp; LOGIN</a:t>
            </a:r>
          </a:p>
        </p:txBody>
      </p:sp>
      <p:sp>
        <p:nvSpPr>
          <p:cNvPr id="8" name="TextBox 7"/>
          <p:cNvSpPr txBox="1"/>
          <p:nvPr/>
        </p:nvSpPr>
        <p:spPr>
          <a:xfrm>
            <a:off x="731520" y="3657600"/>
            <a:ext cx="1670243" cy="1005840"/>
          </a:xfrm>
          <a:prstGeom prst="rect">
            <a:avLst/>
          </a:prstGeom>
          <a:noFill/>
        </p:spPr>
        <p:txBody>
          <a:bodyPr wrap="square" lIns="0" rIns="0" tIns="0" bIns="0" anchor="t">
            <a:spAutoFit/>
          </a:bodyPr>
          <a:lstStyle/>
          <a:p>
            <a:pPr algn="ctr">
              <a:spcAft>
                <a:spcPts val="0"/>
              </a:spcAft>
              <a:buNone/>
            </a:pPr>
            <a:r>
              <a:rPr sz="1700" b="1" i="0">
                <a:solidFill>
                  <a:srgbClr val="1B2B28"/>
                </a:solidFill>
                <a:latin typeface="Arial"/>
              </a:rPr>
              <a:t>Firebase Authentication</a:t>
            </a:r>
          </a:p>
        </p:txBody>
      </p:sp>
      <p:sp>
        <p:nvSpPr>
          <p:cNvPr id="9" name="TextBox 8"/>
          <p:cNvSpPr txBox="1"/>
          <p:nvPr/>
        </p:nvSpPr>
        <p:spPr>
          <a:xfrm>
            <a:off x="731520" y="4754880"/>
            <a:ext cx="1670243" cy="457200"/>
          </a:xfrm>
          <a:prstGeom prst="rect">
            <a:avLst/>
          </a:prstGeom>
          <a:noFill/>
        </p:spPr>
        <p:txBody>
          <a:bodyPr wrap="square" lIns="0" rIns="0" tIns="0" bIns="0" anchor="t">
            <a:spAutoFit/>
          </a:bodyPr>
          <a:lstStyle/>
          <a:p>
            <a:pPr algn="ctr">
              <a:spcAft>
                <a:spcPts val="0"/>
              </a:spcAft>
              <a:buNone/>
            </a:pPr>
            <a:r>
              <a:rPr sz="1300" b="0" i="1">
                <a:solidFill>
                  <a:srgbClr val="56676A"/>
                </a:solidFill>
                <a:latin typeface="Calibri"/>
              </a:rPr>
              <a:t>email + password</a:t>
            </a:r>
          </a:p>
        </p:txBody>
      </p:sp>
      <p:sp>
        <p:nvSpPr>
          <p:cNvPr id="10" name="Cloud Firestore"/>
          <p:cNvSpPr/>
          <p:nvPr/>
        </p:nvSpPr>
        <p:spPr>
          <a:xfrm>
            <a:off x="2813243" y="1554480"/>
            <a:ext cx="2036003" cy="4023360"/>
          </a:xfrm>
          <a:prstGeom prst="roundRect">
            <a:avLst>
              <a:gd name="adj" fmla="val 5389"/>
            </a:avLst>
          </a:prstGeom>
          <a:solidFill>
            <a:srgbClr val="E6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badge database"/>
          <p:cNvSpPr/>
          <p:nvPr/>
        </p:nvSpPr>
        <p:spPr>
          <a:xfrm>
            <a:off x="3374044" y="1874519"/>
            <a:ext cx="914400" cy="914400"/>
          </a:xfrm>
          <a:prstGeom prst="ellipse">
            <a:avLst/>
          </a:prstGeom>
          <a:solidFill>
            <a:srgbClr val="00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icon database" descr="database_w.png"/>
          <p:cNvPicPr>
            <a:picLocks noChangeAspect="1"/>
          </p:cNvPicPr>
          <p:nvPr/>
        </p:nvPicPr>
        <p:blipFill>
          <a:blip r:embed="rId3"/>
          <a:stretch>
            <a:fillRect/>
          </a:stretch>
        </p:blipFill>
        <p:spPr>
          <a:xfrm>
            <a:off x="3593500" y="2093976"/>
            <a:ext cx="475488" cy="475488"/>
          </a:xfrm>
          <a:prstGeom prst="rect">
            <a:avLst/>
          </a:prstGeom>
        </p:spPr>
      </p:pic>
      <p:sp>
        <p:nvSpPr>
          <p:cNvPr id="13" name="TextBox 12"/>
          <p:cNvSpPr txBox="1"/>
          <p:nvPr/>
        </p:nvSpPr>
        <p:spPr>
          <a:xfrm>
            <a:off x="2996123" y="3017520"/>
            <a:ext cx="1670243" cy="640080"/>
          </a:xfrm>
          <a:prstGeom prst="rect">
            <a:avLst/>
          </a:prstGeom>
          <a:noFill/>
        </p:spPr>
        <p:txBody>
          <a:bodyPr wrap="square" lIns="0" rIns="0" tIns="0" bIns="0" anchor="t">
            <a:spAutoFit/>
          </a:bodyPr>
          <a:lstStyle/>
          <a:p>
            <a:pPr algn="ctr">
              <a:spcAft>
                <a:spcPts val="0"/>
              </a:spcAft>
              <a:buNone/>
            </a:pPr>
            <a:r>
              <a:rPr sz="1100" b="1" i="0">
                <a:solidFill>
                  <a:srgbClr val="4F8F86"/>
                </a:solidFill>
                <a:latin typeface="Calibri"/>
              </a:rPr>
              <a:t>LISTINGS, PROFILES, REVIEWS, CHAT</a:t>
            </a:r>
          </a:p>
        </p:txBody>
      </p:sp>
      <p:sp>
        <p:nvSpPr>
          <p:cNvPr id="14" name="TextBox 13"/>
          <p:cNvSpPr txBox="1"/>
          <p:nvPr/>
        </p:nvSpPr>
        <p:spPr>
          <a:xfrm>
            <a:off x="2996123" y="3657600"/>
            <a:ext cx="1670243" cy="1005840"/>
          </a:xfrm>
          <a:prstGeom prst="rect">
            <a:avLst/>
          </a:prstGeom>
          <a:noFill/>
        </p:spPr>
        <p:txBody>
          <a:bodyPr wrap="square" lIns="0" rIns="0" tIns="0" bIns="0" anchor="t">
            <a:spAutoFit/>
          </a:bodyPr>
          <a:lstStyle/>
          <a:p>
            <a:pPr algn="ctr">
              <a:spcAft>
                <a:spcPts val="0"/>
              </a:spcAft>
              <a:buNone/>
            </a:pPr>
            <a:r>
              <a:rPr sz="1700" b="1" i="0">
                <a:solidFill>
                  <a:srgbClr val="1B2B28"/>
                </a:solidFill>
                <a:latin typeface="Arial"/>
              </a:rPr>
              <a:t>Cloud Firestore</a:t>
            </a:r>
          </a:p>
        </p:txBody>
      </p:sp>
      <p:sp>
        <p:nvSpPr>
          <p:cNvPr id="15" name="TextBox 14"/>
          <p:cNvSpPr txBox="1"/>
          <p:nvPr/>
        </p:nvSpPr>
        <p:spPr>
          <a:xfrm>
            <a:off x="2996123" y="4754880"/>
            <a:ext cx="1670243" cy="457200"/>
          </a:xfrm>
          <a:prstGeom prst="rect">
            <a:avLst/>
          </a:prstGeom>
          <a:noFill/>
        </p:spPr>
        <p:txBody>
          <a:bodyPr wrap="square" lIns="0" rIns="0" tIns="0" bIns="0" anchor="t">
            <a:spAutoFit/>
          </a:bodyPr>
          <a:lstStyle/>
          <a:p>
            <a:pPr algn="ctr">
              <a:spcAft>
                <a:spcPts val="0"/>
              </a:spcAft>
              <a:buNone/>
            </a:pPr>
            <a:r>
              <a:rPr sz="1300" b="0" i="1">
                <a:solidFill>
                  <a:srgbClr val="56676A"/>
                </a:solidFill>
                <a:latin typeface="Calibri"/>
              </a:rPr>
              <a:t>free Spark plan</a:t>
            </a:r>
          </a:p>
        </p:txBody>
      </p:sp>
      <p:sp>
        <p:nvSpPr>
          <p:cNvPr id="16" name="Cloudinary"/>
          <p:cNvSpPr/>
          <p:nvPr/>
        </p:nvSpPr>
        <p:spPr>
          <a:xfrm>
            <a:off x="5077846" y="1554480"/>
            <a:ext cx="2036003" cy="4023360"/>
          </a:xfrm>
          <a:prstGeom prst="roundRect">
            <a:avLst>
              <a:gd name="adj" fmla="val 5389"/>
            </a:avLst>
          </a:prstGeom>
          <a:solidFill>
            <a:srgbClr val="F3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badge image"/>
          <p:cNvSpPr/>
          <p:nvPr/>
        </p:nvSpPr>
        <p:spPr>
          <a:xfrm>
            <a:off x="5638647" y="1874519"/>
            <a:ext cx="914400" cy="914400"/>
          </a:xfrm>
          <a:prstGeom prst="ellipse">
            <a:avLst/>
          </a:prstGeom>
          <a:solidFill>
            <a:srgbClr val="00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icon image" descr="image_w.png"/>
          <p:cNvPicPr>
            <a:picLocks noChangeAspect="1"/>
          </p:cNvPicPr>
          <p:nvPr/>
        </p:nvPicPr>
        <p:blipFill>
          <a:blip r:embed="rId4"/>
          <a:stretch>
            <a:fillRect/>
          </a:stretch>
        </p:blipFill>
        <p:spPr>
          <a:xfrm>
            <a:off x="5858103" y="2093976"/>
            <a:ext cx="475488" cy="475488"/>
          </a:xfrm>
          <a:prstGeom prst="rect">
            <a:avLst/>
          </a:prstGeom>
        </p:spPr>
      </p:pic>
      <p:sp>
        <p:nvSpPr>
          <p:cNvPr id="19" name="TextBox 18"/>
          <p:cNvSpPr txBox="1"/>
          <p:nvPr/>
        </p:nvSpPr>
        <p:spPr>
          <a:xfrm>
            <a:off x="5260726" y="3017520"/>
            <a:ext cx="1670243" cy="640080"/>
          </a:xfrm>
          <a:prstGeom prst="rect">
            <a:avLst/>
          </a:prstGeom>
          <a:noFill/>
        </p:spPr>
        <p:txBody>
          <a:bodyPr wrap="square" lIns="0" rIns="0" tIns="0" bIns="0" anchor="t">
            <a:spAutoFit/>
          </a:bodyPr>
          <a:lstStyle/>
          <a:p>
            <a:pPr algn="ctr">
              <a:spcAft>
                <a:spcPts val="0"/>
              </a:spcAft>
              <a:buNone/>
            </a:pPr>
            <a:r>
              <a:rPr sz="1100" b="1" i="0">
                <a:solidFill>
                  <a:srgbClr val="4F8F86"/>
                </a:solidFill>
                <a:latin typeface="Calibri"/>
              </a:rPr>
              <a:t>PHOTOS</a:t>
            </a:r>
          </a:p>
        </p:txBody>
      </p:sp>
      <p:sp>
        <p:nvSpPr>
          <p:cNvPr id="20" name="TextBox 19"/>
          <p:cNvSpPr txBox="1"/>
          <p:nvPr/>
        </p:nvSpPr>
        <p:spPr>
          <a:xfrm>
            <a:off x="5260726" y="3657600"/>
            <a:ext cx="1670243" cy="1005840"/>
          </a:xfrm>
          <a:prstGeom prst="rect">
            <a:avLst/>
          </a:prstGeom>
          <a:noFill/>
        </p:spPr>
        <p:txBody>
          <a:bodyPr wrap="square" lIns="0" rIns="0" tIns="0" bIns="0" anchor="t">
            <a:spAutoFit/>
          </a:bodyPr>
          <a:lstStyle/>
          <a:p>
            <a:pPr algn="ctr">
              <a:spcAft>
                <a:spcPts val="0"/>
              </a:spcAft>
              <a:buNone/>
            </a:pPr>
            <a:r>
              <a:rPr sz="1700" b="1" i="0">
                <a:solidFill>
                  <a:srgbClr val="1B2B28"/>
                </a:solidFill>
                <a:latin typeface="Arial"/>
              </a:rPr>
              <a:t>Cloudinary</a:t>
            </a:r>
          </a:p>
        </p:txBody>
      </p:sp>
      <p:sp>
        <p:nvSpPr>
          <p:cNvPr id="21" name="TextBox 20"/>
          <p:cNvSpPr txBox="1"/>
          <p:nvPr/>
        </p:nvSpPr>
        <p:spPr>
          <a:xfrm>
            <a:off x="5260726" y="4754880"/>
            <a:ext cx="1670243" cy="457200"/>
          </a:xfrm>
          <a:prstGeom prst="rect">
            <a:avLst/>
          </a:prstGeom>
          <a:noFill/>
        </p:spPr>
        <p:txBody>
          <a:bodyPr wrap="square" lIns="0" rIns="0" tIns="0" bIns="0" anchor="t">
            <a:spAutoFit/>
          </a:bodyPr>
          <a:lstStyle/>
          <a:p>
            <a:pPr algn="ctr">
              <a:spcAft>
                <a:spcPts val="0"/>
              </a:spcAft>
              <a:buNone/>
            </a:pPr>
            <a:r>
              <a:rPr sz="1300" b="0" i="1">
                <a:solidFill>
                  <a:srgbClr val="56676A"/>
                </a:solidFill>
                <a:latin typeface="Calibri"/>
              </a:rPr>
              <a:t>unsigned upload preset</a:t>
            </a:r>
          </a:p>
        </p:txBody>
      </p:sp>
      <p:sp>
        <p:nvSpPr>
          <p:cNvPr id="22" name="SQLite via Drift"/>
          <p:cNvSpPr/>
          <p:nvPr/>
        </p:nvSpPr>
        <p:spPr>
          <a:xfrm>
            <a:off x="7342449" y="1554480"/>
            <a:ext cx="2036003" cy="4023360"/>
          </a:xfrm>
          <a:prstGeom prst="roundRect">
            <a:avLst>
              <a:gd name="adj" fmla="val 5389"/>
            </a:avLst>
          </a:prstGeom>
          <a:solidFill>
            <a:srgbClr val="E6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badge smartphone"/>
          <p:cNvSpPr/>
          <p:nvPr/>
        </p:nvSpPr>
        <p:spPr>
          <a:xfrm>
            <a:off x="7903250" y="1874519"/>
            <a:ext cx="914400" cy="914400"/>
          </a:xfrm>
          <a:prstGeom prst="ellipse">
            <a:avLst/>
          </a:prstGeom>
          <a:solidFill>
            <a:srgbClr val="00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icon smartphone" descr="smartphone_w.png"/>
          <p:cNvPicPr>
            <a:picLocks noChangeAspect="1"/>
          </p:cNvPicPr>
          <p:nvPr/>
        </p:nvPicPr>
        <p:blipFill>
          <a:blip r:embed="rId5"/>
          <a:stretch>
            <a:fillRect/>
          </a:stretch>
        </p:blipFill>
        <p:spPr>
          <a:xfrm>
            <a:off x="8122706" y="2093976"/>
            <a:ext cx="475488" cy="475488"/>
          </a:xfrm>
          <a:prstGeom prst="rect">
            <a:avLst/>
          </a:prstGeom>
        </p:spPr>
      </p:pic>
      <p:sp>
        <p:nvSpPr>
          <p:cNvPr id="25" name="TextBox 24"/>
          <p:cNvSpPr txBox="1"/>
          <p:nvPr/>
        </p:nvSpPr>
        <p:spPr>
          <a:xfrm>
            <a:off x="7525329" y="3017520"/>
            <a:ext cx="1670243" cy="640080"/>
          </a:xfrm>
          <a:prstGeom prst="rect">
            <a:avLst/>
          </a:prstGeom>
          <a:noFill/>
        </p:spPr>
        <p:txBody>
          <a:bodyPr wrap="square" lIns="0" rIns="0" tIns="0" bIns="0" anchor="t">
            <a:spAutoFit/>
          </a:bodyPr>
          <a:lstStyle/>
          <a:p>
            <a:pPr algn="ctr">
              <a:spcAft>
                <a:spcPts val="0"/>
              </a:spcAft>
              <a:buNone/>
            </a:pPr>
            <a:r>
              <a:rPr sz="1100" b="1" i="0">
                <a:solidFill>
                  <a:srgbClr val="4F8F86"/>
                </a:solidFill>
                <a:latin typeface="Calibri"/>
              </a:rPr>
              <a:t>OFFLINE CHAT &amp; HISTORY CACHE</a:t>
            </a:r>
          </a:p>
        </p:txBody>
      </p:sp>
      <p:sp>
        <p:nvSpPr>
          <p:cNvPr id="26" name="TextBox 25"/>
          <p:cNvSpPr txBox="1"/>
          <p:nvPr/>
        </p:nvSpPr>
        <p:spPr>
          <a:xfrm>
            <a:off x="7525329" y="3657600"/>
            <a:ext cx="1670243" cy="1005840"/>
          </a:xfrm>
          <a:prstGeom prst="rect">
            <a:avLst/>
          </a:prstGeom>
          <a:noFill/>
        </p:spPr>
        <p:txBody>
          <a:bodyPr wrap="square" lIns="0" rIns="0" tIns="0" bIns="0" anchor="t">
            <a:spAutoFit/>
          </a:bodyPr>
          <a:lstStyle/>
          <a:p>
            <a:pPr algn="ctr">
              <a:spcAft>
                <a:spcPts val="0"/>
              </a:spcAft>
              <a:buNone/>
            </a:pPr>
            <a:r>
              <a:rPr sz="1700" b="1" i="0">
                <a:solidFill>
                  <a:srgbClr val="1B2B28"/>
                </a:solidFill>
                <a:latin typeface="Arial"/>
              </a:rPr>
              <a:t>SQLite via Drift</a:t>
            </a:r>
          </a:p>
        </p:txBody>
      </p:sp>
      <p:sp>
        <p:nvSpPr>
          <p:cNvPr id="27" name="TextBox 26"/>
          <p:cNvSpPr txBox="1"/>
          <p:nvPr/>
        </p:nvSpPr>
        <p:spPr>
          <a:xfrm>
            <a:off x="7525329" y="4754880"/>
            <a:ext cx="1670243" cy="457200"/>
          </a:xfrm>
          <a:prstGeom prst="rect">
            <a:avLst/>
          </a:prstGeom>
          <a:noFill/>
        </p:spPr>
        <p:txBody>
          <a:bodyPr wrap="square" lIns="0" rIns="0" tIns="0" bIns="0" anchor="t">
            <a:spAutoFit/>
          </a:bodyPr>
          <a:lstStyle/>
          <a:p>
            <a:pPr algn="ctr">
              <a:spcAft>
                <a:spcPts val="0"/>
              </a:spcAft>
              <a:buNone/>
            </a:pPr>
            <a:r>
              <a:rPr sz="1300" b="0" i="1">
                <a:solidFill>
                  <a:srgbClr val="56676A"/>
                </a:solidFill>
                <a:latin typeface="Calibri"/>
              </a:rPr>
              <a:t>on-device</a:t>
            </a:r>
          </a:p>
        </p:txBody>
      </p:sp>
      <p:sp>
        <p:nvSpPr>
          <p:cNvPr id="28" name="go_router · Material 3 · Riverpod"/>
          <p:cNvSpPr/>
          <p:nvPr/>
        </p:nvSpPr>
        <p:spPr>
          <a:xfrm>
            <a:off x="9607052" y="1554480"/>
            <a:ext cx="2036003" cy="4023360"/>
          </a:xfrm>
          <a:prstGeom prst="roundRect">
            <a:avLst>
              <a:gd name="adj" fmla="val 5389"/>
            </a:avLst>
          </a:prstGeom>
          <a:solidFill>
            <a:srgbClr val="F3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badge navigation"/>
          <p:cNvSpPr/>
          <p:nvPr/>
        </p:nvSpPr>
        <p:spPr>
          <a:xfrm>
            <a:off x="10167853" y="1874519"/>
            <a:ext cx="914400" cy="914400"/>
          </a:xfrm>
          <a:prstGeom prst="ellipse">
            <a:avLst/>
          </a:prstGeom>
          <a:solidFill>
            <a:srgbClr val="00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icon navigation" descr="navigation_w.png"/>
          <p:cNvPicPr>
            <a:picLocks noChangeAspect="1"/>
          </p:cNvPicPr>
          <p:nvPr/>
        </p:nvPicPr>
        <p:blipFill>
          <a:blip r:embed="rId6"/>
          <a:stretch>
            <a:fillRect/>
          </a:stretch>
        </p:blipFill>
        <p:spPr>
          <a:xfrm>
            <a:off x="10387309" y="2093976"/>
            <a:ext cx="475488" cy="475488"/>
          </a:xfrm>
          <a:prstGeom prst="rect">
            <a:avLst/>
          </a:prstGeom>
        </p:spPr>
      </p:pic>
      <p:sp>
        <p:nvSpPr>
          <p:cNvPr id="31" name="TextBox 30"/>
          <p:cNvSpPr txBox="1"/>
          <p:nvPr/>
        </p:nvSpPr>
        <p:spPr>
          <a:xfrm>
            <a:off x="9789932" y="3017520"/>
            <a:ext cx="1670243" cy="640080"/>
          </a:xfrm>
          <a:prstGeom prst="rect">
            <a:avLst/>
          </a:prstGeom>
          <a:noFill/>
        </p:spPr>
        <p:txBody>
          <a:bodyPr wrap="square" lIns="0" rIns="0" tIns="0" bIns="0" anchor="t">
            <a:spAutoFit/>
          </a:bodyPr>
          <a:lstStyle/>
          <a:p>
            <a:pPr algn="ctr">
              <a:spcAft>
                <a:spcPts val="0"/>
              </a:spcAft>
              <a:buNone/>
            </a:pPr>
            <a:r>
              <a:rPr sz="1100" b="1" i="0">
                <a:solidFill>
                  <a:srgbClr val="4F8F86"/>
                </a:solidFill>
                <a:latin typeface="Calibri"/>
              </a:rPr>
              <a:t>NAVIGATION &amp; UI</a:t>
            </a:r>
          </a:p>
        </p:txBody>
      </p:sp>
      <p:sp>
        <p:nvSpPr>
          <p:cNvPr id="32" name="TextBox 31"/>
          <p:cNvSpPr txBox="1"/>
          <p:nvPr/>
        </p:nvSpPr>
        <p:spPr>
          <a:xfrm>
            <a:off x="9789932" y="3657600"/>
            <a:ext cx="1670243" cy="1005840"/>
          </a:xfrm>
          <a:prstGeom prst="rect">
            <a:avLst/>
          </a:prstGeom>
          <a:noFill/>
        </p:spPr>
        <p:txBody>
          <a:bodyPr wrap="square" lIns="0" rIns="0" tIns="0" bIns="0" anchor="t">
            <a:spAutoFit/>
          </a:bodyPr>
          <a:lstStyle/>
          <a:p>
            <a:pPr algn="ctr">
              <a:spcAft>
                <a:spcPts val="0"/>
              </a:spcAft>
              <a:buNone/>
            </a:pPr>
            <a:r>
              <a:rPr sz="1700" b="1" i="0">
                <a:solidFill>
                  <a:srgbClr val="1B2B28"/>
                </a:solidFill>
                <a:latin typeface="Arial"/>
              </a:rPr>
              <a:t>go_router · Material 3 · Riverpod</a:t>
            </a:r>
          </a:p>
        </p:txBody>
      </p:sp>
      <p:sp>
        <p:nvSpPr>
          <p:cNvPr id="33" name="TextBox 32"/>
          <p:cNvSpPr txBox="1"/>
          <p:nvPr/>
        </p:nvSpPr>
        <p:spPr>
          <a:xfrm>
            <a:off x="9789932" y="4754880"/>
            <a:ext cx="1670243" cy="457200"/>
          </a:xfrm>
          <a:prstGeom prst="rect">
            <a:avLst/>
          </a:prstGeom>
          <a:noFill/>
        </p:spPr>
        <p:txBody>
          <a:bodyPr wrap="square" lIns="0" rIns="0" tIns="0" bIns="0" anchor="t">
            <a:spAutoFit/>
          </a:bodyPr>
          <a:lstStyle/>
          <a:p>
            <a:pPr algn="ctr">
              <a:spcAft>
                <a:spcPts val="0"/>
              </a:spcAft>
              <a:buNone/>
            </a:pPr>
            <a:r>
              <a:rPr sz="1300" b="0" i="1">
                <a:solidFill>
                  <a:srgbClr val="56676A"/>
                </a:solidFill>
                <a:latin typeface="Calibri"/>
              </a:rPr>
              <a:t>Flutter</a:t>
            </a:r>
          </a:p>
        </p:txBody>
      </p:sp>
      <p:sp>
        <p:nvSpPr>
          <p:cNvPr id="34" name="TextBox 33"/>
          <p:cNvSpPr txBox="1"/>
          <p:nvPr/>
        </p:nvSpPr>
        <p:spPr>
          <a:xfrm>
            <a:off x="548640" y="5852160"/>
            <a:ext cx="11094415" cy="365760"/>
          </a:xfrm>
          <a:prstGeom prst="rect">
            <a:avLst/>
          </a:prstGeom>
          <a:noFill/>
        </p:spPr>
        <p:txBody>
          <a:bodyPr wrap="square" lIns="0" rIns="0" tIns="0" bIns="0" anchor="t">
            <a:spAutoFit/>
          </a:bodyPr>
          <a:lstStyle/>
          <a:p>
            <a:pPr algn="ctr">
              <a:spcAft>
                <a:spcPts val="0"/>
              </a:spcAft>
              <a:buNone/>
            </a:pPr>
            <a:r>
              <a:rPr sz="1400" b="0" i="0">
                <a:solidFill>
                  <a:srgbClr val="56676A"/>
                </a:solidFill>
                <a:latin typeface="Calibri"/>
              </a:rPr>
              <a:t>Android only, built with Flutter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822960"/>
          </a:xfrm>
        </p:spPr>
        <p:txBody>
          <a:bodyPr lIns="0" rIns="0" tIns="0" bIns="0" anchor="ctr" wrap="square"/>
          <a:lstStyle/>
          <a:p>
            <a:pPr algn="l"/>
            <a:r>
              <a:rPr sz="3200" b="1">
                <a:solidFill>
                  <a:srgbClr val="1B2B28"/>
                </a:solidFill>
                <a:latin typeface="Arial"/>
              </a:rPr>
              <a:t>Buyers and sellers share almost every feature</a:t>
            </a:r>
          </a:p>
        </p:txBody>
      </p:sp>
      <p:sp>
        <p:nvSpPr>
          <p:cNvPr id="3" name="kicker"/>
          <p:cNvSpPr txBox="1"/>
          <p:nvPr/>
        </p:nvSpPr>
        <p:spPr>
          <a:xfrm>
            <a:off x="548640" y="201168"/>
            <a:ext cx="7315200" cy="228600"/>
          </a:xfrm>
          <a:prstGeom prst="rect">
            <a:avLst/>
          </a:prstGeom>
          <a:noFill/>
        </p:spPr>
        <p:txBody>
          <a:bodyPr wrap="square" lIns="0" rIns="0" tIns="0" bIns="0" anchor="t">
            <a:spAutoFit/>
          </a:bodyPr>
          <a:lstStyle/>
          <a:p>
            <a:pPr algn="l">
              <a:spcAft>
                <a:spcPts val="0"/>
              </a:spcAft>
              <a:buNone/>
            </a:pPr>
            <a:r>
              <a:rPr sz="1100" b="1" i="0">
                <a:solidFill>
                  <a:srgbClr val="4F8F86"/>
                </a:solidFill>
                <a:latin typeface="Calibri"/>
              </a:rPr>
              <a:t>WHO USES WHAT</a:t>
            </a:r>
          </a:p>
        </p:txBody>
      </p:sp>
      <p:graphicFrame>
        <p:nvGraphicFramePr>
          <p:cNvPr id="4" name="roles table"/>
          <p:cNvGraphicFramePr>
            <a:graphicFrameLocks noGrp="1"/>
          </p:cNvGraphicFramePr>
          <p:nvPr/>
        </p:nvGraphicFramePr>
        <p:xfrm>
          <a:off x="548640" y="1463040"/>
          <a:ext cx="11091672" cy="4526280"/>
        </p:xfrm>
        <a:graphic>
          <a:graphicData uri="http://schemas.openxmlformats.org/drawingml/2006/table">
            <a:tbl>
              <a:tblPr firstRow="0" bandRow="0">
                <a:tableStyleId>{5C22544A-7EE6-4342-B048-85BDC9FD1C3A}</a:tableStyleId>
              </a:tblPr>
              <a:tblGrid>
                <a:gridCol w="4937760"/>
                <a:gridCol w="3227832"/>
                <a:gridCol w="2926080"/>
              </a:tblGrid>
              <a:tr h="502920">
                <a:tc>
                  <a:txBody>
                    <a:bodyPr/>
                    <a:lstStyle/>
                    <a:p>
                      <a:pPr algn="l"/>
                      <a:r>
                        <a:rPr sz="1500" b="1" i="0">
                          <a:solidFill>
                            <a:srgbClr val="FFFFFF"/>
                          </a:solidFill>
                          <a:latin typeface="Calibri"/>
                        </a:rPr>
                        <a:t>Action</a:t>
                      </a:r>
                    </a:p>
                  </a:txBody>
                  <a:tcPr marL="182880" marR="182880" anchor="ctr">
                    <a:solidFill>
                      <a:srgbClr val="006B5E"/>
                    </a:solidFill>
                  </a:tcPr>
                </a:tc>
                <a:tc>
                  <a:txBody>
                    <a:bodyPr/>
                    <a:lstStyle/>
                    <a:p>
                      <a:pPr algn="l"/>
                      <a:r>
                        <a:rPr sz="1500" b="1" i="0">
                          <a:solidFill>
                            <a:srgbClr val="FFFFFF"/>
                          </a:solidFill>
                          <a:latin typeface="Calibri"/>
                        </a:rPr>
                        <a:t>Buyer / browser</a:t>
                      </a:r>
                    </a:p>
                  </a:txBody>
                  <a:tcPr marL="182880" marR="182880" anchor="ctr">
                    <a:solidFill>
                      <a:srgbClr val="006B5E"/>
                    </a:solidFill>
                  </a:tcPr>
                </a:tc>
                <a:tc>
                  <a:txBody>
                    <a:bodyPr/>
                    <a:lstStyle/>
                    <a:p>
                      <a:pPr algn="l"/>
                      <a:r>
                        <a:rPr sz="1500" b="1" i="0">
                          <a:solidFill>
                            <a:srgbClr val="FFFFFF"/>
                          </a:solidFill>
                          <a:latin typeface="Calibri"/>
                        </a:rPr>
                        <a:t>Seller / gig poster</a:t>
                      </a:r>
                    </a:p>
                  </a:txBody>
                  <a:tcPr marL="182880" marR="182880" anchor="ctr">
                    <a:solidFill>
                      <a:srgbClr val="006B5E"/>
                    </a:solidFill>
                  </a:tcPr>
                </a:tc>
              </a:tr>
              <a:tr h="502920">
                <a:tc>
                  <a:txBody>
                    <a:bodyPr/>
                    <a:lstStyle/>
                    <a:p>
                      <a:pPr algn="l"/>
                      <a:r>
                        <a:rPr sz="1500" b="0" i="0">
                          <a:solidFill>
                            <a:srgbClr val="1B2B28"/>
                          </a:solidFill>
                          <a:latin typeface="Calibri"/>
                        </a:rPr>
                        <a:t>Browse &amp; filter listings</a:t>
                      </a:r>
                    </a:p>
                  </a:txBody>
                  <a:tcPr marL="182880" marR="182880" anchor="ctr">
                    <a:solidFill>
                      <a:srgbClr val="FFFFFF"/>
                    </a:solidFill>
                  </a:tcPr>
                </a:tc>
                <a:tc>
                  <a:txBody>
                    <a:bodyPr/>
                    <a:lstStyle/>
                    <a:p>
                      <a:pPr algn="l"/>
                      <a:r>
                        <a:rPr sz="1600" b="1" i="0">
                          <a:solidFill>
                            <a:srgbClr val="43A047"/>
                          </a:solidFill>
                          <a:latin typeface="Calibri"/>
                        </a:rPr>
                        <a:t>✓</a:t>
                      </a:r>
                    </a:p>
                  </a:txBody>
                  <a:tcPr marL="182880" marR="182880" anchor="ctr">
                    <a:solidFill>
                      <a:srgbClr val="FFFFFF"/>
                    </a:solidFill>
                  </a:tcPr>
                </a:tc>
                <a:tc>
                  <a:txBody>
                    <a:bodyPr/>
                    <a:lstStyle/>
                    <a:p>
                      <a:pPr algn="l"/>
                      <a:r>
                        <a:rPr sz="1600" b="1" i="0">
                          <a:solidFill>
                            <a:srgbClr val="43A047"/>
                          </a:solidFill>
                          <a:latin typeface="Calibri"/>
                        </a:rPr>
                        <a:t>✓</a:t>
                      </a:r>
                    </a:p>
                  </a:txBody>
                  <a:tcPr marL="182880" marR="182880" anchor="ctr">
                    <a:solidFill>
                      <a:srgbClr val="FFFFFF"/>
                    </a:solidFill>
                  </a:tcPr>
                </a:tc>
              </a:tr>
              <a:tr h="502920">
                <a:tc>
                  <a:txBody>
                    <a:bodyPr/>
                    <a:lstStyle/>
                    <a:p>
                      <a:pPr algn="l"/>
                      <a:r>
                        <a:rPr sz="1500" b="0" i="0">
                          <a:solidFill>
                            <a:srgbClr val="1B2B28"/>
                          </a:solidFill>
                          <a:latin typeface="Calibri"/>
                        </a:rPr>
                        <a:t>Swipe feed, save, pass</a:t>
                      </a:r>
                    </a:p>
                  </a:txBody>
                  <a:tcPr marL="182880" marR="182880" anchor="ctr">
                    <a:solidFill>
                      <a:srgbClr val="F3F8F7"/>
                    </a:solidFill>
                  </a:tcPr>
                </a:tc>
                <a:tc>
                  <a:txBody>
                    <a:bodyPr/>
                    <a:lstStyle/>
                    <a:p>
                      <a:pPr algn="l"/>
                      <a:r>
                        <a:rPr sz="1600" b="1" i="0">
                          <a:solidFill>
                            <a:srgbClr val="43A047"/>
                          </a:solidFill>
                          <a:latin typeface="Calibri"/>
                        </a:rPr>
                        <a:t>✓</a:t>
                      </a:r>
                    </a:p>
                  </a:txBody>
                  <a:tcPr marL="182880" marR="182880" anchor="ctr">
                    <a:solidFill>
                      <a:srgbClr val="F3F8F7"/>
                    </a:solidFill>
                  </a:tcPr>
                </a:tc>
                <a:tc>
                  <a:txBody>
                    <a:bodyPr/>
                    <a:lstStyle/>
                    <a:p>
                      <a:pPr algn="l"/>
                      <a:r>
                        <a:rPr sz="1600" b="1" i="0">
                          <a:solidFill>
                            <a:srgbClr val="43A047"/>
                          </a:solidFill>
                          <a:latin typeface="Calibri"/>
                        </a:rPr>
                        <a:t>✓</a:t>
                      </a:r>
                    </a:p>
                  </a:txBody>
                  <a:tcPr marL="182880" marR="182880" anchor="ctr">
                    <a:solidFill>
                      <a:srgbClr val="F3F8F7"/>
                    </a:solidFill>
                  </a:tcPr>
                </a:tc>
              </a:tr>
              <a:tr h="502920">
                <a:tc>
                  <a:txBody>
                    <a:bodyPr/>
                    <a:lstStyle/>
                    <a:p>
                      <a:pPr algn="l"/>
                      <a:r>
                        <a:rPr sz="1500" b="0" i="0">
                          <a:solidFill>
                            <a:srgbClr val="1B2B28"/>
                          </a:solidFill>
                          <a:latin typeface="Calibri"/>
                        </a:rPr>
                        <a:t>Post item or gig with photos</a:t>
                      </a:r>
                    </a:p>
                  </a:txBody>
                  <a:tcPr marL="182880" marR="182880" anchor="ctr">
                    <a:solidFill>
                      <a:srgbClr val="FFFFFF"/>
                    </a:solidFill>
                  </a:tcPr>
                </a:tc>
                <a:tc>
                  <a:txBody>
                    <a:bodyPr/>
                    <a:lstStyle/>
                    <a:p>
                      <a:pPr algn="l"/>
                      <a:r>
                        <a:rPr sz="1600" b="1" i="0">
                          <a:solidFill>
                            <a:srgbClr val="43A047"/>
                          </a:solidFill>
                          <a:latin typeface="Calibri"/>
                        </a:rPr>
                        <a:t>✓</a:t>
                      </a:r>
                    </a:p>
                  </a:txBody>
                  <a:tcPr marL="182880" marR="182880" anchor="ctr">
                    <a:solidFill>
                      <a:srgbClr val="FFFFFF"/>
                    </a:solidFill>
                  </a:tcPr>
                </a:tc>
                <a:tc>
                  <a:txBody>
                    <a:bodyPr/>
                    <a:lstStyle/>
                    <a:p>
                      <a:pPr algn="l"/>
                      <a:r>
                        <a:rPr sz="1600" b="1" i="0">
                          <a:solidFill>
                            <a:srgbClr val="43A047"/>
                          </a:solidFill>
                          <a:latin typeface="Calibri"/>
                        </a:rPr>
                        <a:t>✓</a:t>
                      </a:r>
                    </a:p>
                  </a:txBody>
                  <a:tcPr marL="182880" marR="182880" anchor="ctr">
                    <a:solidFill>
                      <a:srgbClr val="FFFFFF"/>
                    </a:solidFill>
                  </a:tcPr>
                </a:tc>
              </a:tr>
              <a:tr h="502920">
                <a:tc>
                  <a:txBody>
                    <a:bodyPr/>
                    <a:lstStyle/>
                    <a:p>
                      <a:pPr algn="l"/>
                      <a:r>
                        <a:rPr sz="1500" b="0" i="0">
                          <a:solidFill>
                            <a:srgbClr val="1B2B28"/>
                          </a:solidFill>
                          <a:latin typeface="Calibri"/>
                        </a:rPr>
                        <a:t>Edit / mark completed / delete own listing</a:t>
                      </a:r>
                    </a:p>
                  </a:txBody>
                  <a:tcPr marL="182880" marR="182880" anchor="ctr">
                    <a:solidFill>
                      <a:srgbClr val="F3F8F7"/>
                    </a:solidFill>
                  </a:tcPr>
                </a:tc>
                <a:tc>
                  <a:txBody>
                    <a:bodyPr/>
                    <a:lstStyle/>
                    <a:p>
                      <a:pPr algn="l"/>
                      <a:r>
                        <a:rPr sz="1600" b="1" i="0">
                          <a:solidFill>
                            <a:srgbClr val="9AA6A4"/>
                          </a:solidFill>
                          <a:latin typeface="Calibri"/>
                        </a:rPr>
                        <a:t>—</a:t>
                      </a:r>
                    </a:p>
                  </a:txBody>
                  <a:tcPr marL="182880" marR="182880" anchor="ctr">
                    <a:solidFill>
                      <a:srgbClr val="F3F8F7"/>
                    </a:solidFill>
                  </a:tcPr>
                </a:tc>
                <a:tc>
                  <a:txBody>
                    <a:bodyPr/>
                    <a:lstStyle/>
                    <a:p>
                      <a:pPr algn="l"/>
                      <a:r>
                        <a:rPr sz="1600" b="1" i="0">
                          <a:solidFill>
                            <a:srgbClr val="43A047"/>
                          </a:solidFill>
                          <a:latin typeface="Calibri"/>
                        </a:rPr>
                        <a:t>✓</a:t>
                      </a:r>
                    </a:p>
                  </a:txBody>
                  <a:tcPr marL="182880" marR="182880" anchor="ctr">
                    <a:solidFill>
                      <a:srgbClr val="F3F8F7"/>
                    </a:solidFill>
                  </a:tcPr>
                </a:tc>
              </a:tr>
              <a:tr h="502920">
                <a:tc>
                  <a:txBody>
                    <a:bodyPr/>
                    <a:lstStyle/>
                    <a:p>
                      <a:pPr algn="l"/>
                      <a:r>
                        <a:rPr sz="1500" b="0" i="0">
                          <a:solidFill>
                            <a:srgbClr val="1B2B28"/>
                          </a:solidFill>
                          <a:latin typeface="Calibri"/>
                        </a:rPr>
                        <a:t>Chat with the other party</a:t>
                      </a:r>
                    </a:p>
                  </a:txBody>
                  <a:tcPr marL="182880" marR="182880" anchor="ctr">
                    <a:solidFill>
                      <a:srgbClr val="FFFFFF"/>
                    </a:solidFill>
                  </a:tcPr>
                </a:tc>
                <a:tc>
                  <a:txBody>
                    <a:bodyPr/>
                    <a:lstStyle/>
                    <a:p>
                      <a:pPr algn="l"/>
                      <a:r>
                        <a:rPr sz="1400" b="0" i="0">
                          <a:solidFill>
                            <a:srgbClr val="1B2B28"/>
                          </a:solidFill>
                          <a:latin typeface="Calibri"/>
                        </a:rPr>
                        <a:t>✓  Message seller, or Inbox</a:t>
                      </a:r>
                    </a:p>
                  </a:txBody>
                  <a:tcPr marL="182880" marR="182880" anchor="ctr">
                    <a:solidFill>
                      <a:srgbClr val="FFFFFF"/>
                    </a:solidFill>
                  </a:tcPr>
                </a:tc>
                <a:tc>
                  <a:txBody>
                    <a:bodyPr/>
                    <a:lstStyle/>
                    <a:p>
                      <a:pPr algn="l"/>
                      <a:r>
                        <a:rPr sz="1400" b="0" i="0">
                          <a:solidFill>
                            <a:srgbClr val="1B2B28"/>
                          </a:solidFill>
                          <a:latin typeface="Calibri"/>
                        </a:rPr>
                        <a:t>✓  from Inbox</a:t>
                      </a:r>
                    </a:p>
                  </a:txBody>
                  <a:tcPr marL="182880" marR="182880" anchor="ctr">
                    <a:solidFill>
                      <a:srgbClr val="FFFFFF"/>
                    </a:solidFill>
                  </a:tcPr>
                </a:tc>
              </a:tr>
              <a:tr h="502920">
                <a:tc>
                  <a:txBody>
                    <a:bodyPr/>
                    <a:lstStyle/>
                    <a:p>
                      <a:pPr algn="l"/>
                      <a:r>
                        <a:rPr sz="1500" b="0" i="0">
                          <a:solidFill>
                            <a:srgbClr val="1B2B28"/>
                          </a:solidFill>
                          <a:latin typeface="Calibri"/>
                        </a:rPr>
                        <a:t>Leave a 1–5 star review</a:t>
                      </a:r>
                    </a:p>
                  </a:txBody>
                  <a:tcPr marL="182880" marR="182880" anchor="ctr">
                    <a:solidFill>
                      <a:srgbClr val="F3F8F7"/>
                    </a:solidFill>
                  </a:tcPr>
                </a:tc>
                <a:tc>
                  <a:txBody>
                    <a:bodyPr/>
                    <a:lstStyle/>
                    <a:p>
                      <a:pPr algn="l"/>
                      <a:r>
                        <a:rPr sz="1600" b="1" i="0">
                          <a:solidFill>
                            <a:srgbClr val="43A047"/>
                          </a:solidFill>
                          <a:latin typeface="Calibri"/>
                        </a:rPr>
                        <a:t>✓</a:t>
                      </a:r>
                    </a:p>
                  </a:txBody>
                  <a:tcPr marL="182880" marR="182880" anchor="ctr">
                    <a:solidFill>
                      <a:srgbClr val="F3F8F7"/>
                    </a:solidFill>
                  </a:tcPr>
                </a:tc>
                <a:tc>
                  <a:txBody>
                    <a:bodyPr/>
                    <a:lstStyle/>
                    <a:p>
                      <a:pPr algn="l"/>
                      <a:r>
                        <a:rPr sz="1600" b="1" i="0">
                          <a:solidFill>
                            <a:srgbClr val="43A047"/>
                          </a:solidFill>
                          <a:latin typeface="Calibri"/>
                        </a:rPr>
                        <a:t>✓</a:t>
                      </a:r>
                    </a:p>
                  </a:txBody>
                  <a:tcPr marL="182880" marR="182880" anchor="ctr">
                    <a:solidFill>
                      <a:srgbClr val="F3F8F7"/>
                    </a:solidFill>
                  </a:tcPr>
                </a:tc>
              </a:tr>
              <a:tr h="502920">
                <a:tc>
                  <a:txBody>
                    <a:bodyPr/>
                    <a:lstStyle/>
                    <a:p>
                      <a:pPr algn="l"/>
                      <a:r>
                        <a:rPr sz="1500" b="0" i="0">
                          <a:solidFill>
                            <a:srgbClr val="1B2B28"/>
                          </a:solidFill>
                          <a:latin typeface="Calibri"/>
                        </a:rPr>
                        <a:t>Report a listing</a:t>
                      </a:r>
                    </a:p>
                  </a:txBody>
                  <a:tcPr marL="182880" marR="182880" anchor="ctr">
                    <a:solidFill>
                      <a:srgbClr val="FFFFFF"/>
                    </a:solidFill>
                  </a:tcPr>
                </a:tc>
                <a:tc>
                  <a:txBody>
                    <a:bodyPr/>
                    <a:lstStyle/>
                    <a:p>
                      <a:pPr algn="l"/>
                      <a:r>
                        <a:rPr sz="1600" b="1" i="0">
                          <a:solidFill>
                            <a:srgbClr val="43A047"/>
                          </a:solidFill>
                          <a:latin typeface="Calibri"/>
                        </a:rPr>
                        <a:t>✓</a:t>
                      </a:r>
                    </a:p>
                  </a:txBody>
                  <a:tcPr marL="182880" marR="182880" anchor="ctr">
                    <a:solidFill>
                      <a:srgbClr val="FFFFFF"/>
                    </a:solidFill>
                  </a:tcPr>
                </a:tc>
                <a:tc>
                  <a:txBody>
                    <a:bodyPr/>
                    <a:lstStyle/>
                    <a:p>
                      <a:pPr algn="l"/>
                      <a:r>
                        <a:rPr sz="1600" b="1" i="0">
                          <a:solidFill>
                            <a:srgbClr val="43A047"/>
                          </a:solidFill>
                          <a:latin typeface="Calibri"/>
                        </a:rPr>
                        <a:t>✓</a:t>
                      </a:r>
                    </a:p>
                  </a:txBody>
                  <a:tcPr marL="182880" marR="182880" anchor="ctr">
                    <a:solidFill>
                      <a:srgbClr val="FFFFFF"/>
                    </a:solidFill>
                  </a:tcPr>
                </a:tc>
              </a:tr>
              <a:tr h="502920">
                <a:tc>
                  <a:txBody>
                    <a:bodyPr/>
                    <a:lstStyle/>
                    <a:p>
                      <a:pPr algn="l"/>
                      <a:r>
                        <a:rPr sz="1500" b="0" i="0">
                          <a:solidFill>
                            <a:srgbClr val="1B2B28"/>
                          </a:solidFill>
                          <a:latin typeface="Calibri"/>
                        </a:rPr>
                        <a:t>View earnings dashboard</a:t>
                      </a:r>
                    </a:p>
                  </a:txBody>
                  <a:tcPr marL="182880" marR="182880" anchor="ctr">
                    <a:solidFill>
                      <a:srgbClr val="F3F8F7"/>
                    </a:solidFill>
                  </a:tcPr>
                </a:tc>
                <a:tc>
                  <a:txBody>
                    <a:bodyPr/>
                    <a:lstStyle/>
                    <a:p>
                      <a:pPr algn="l"/>
                      <a:r>
                        <a:rPr sz="1600" b="1" i="0">
                          <a:solidFill>
                            <a:srgbClr val="9AA6A4"/>
                          </a:solidFill>
                          <a:latin typeface="Calibri"/>
                        </a:rPr>
                        <a:t>—</a:t>
                      </a:r>
                    </a:p>
                  </a:txBody>
                  <a:tcPr marL="182880" marR="182880" anchor="ctr">
                    <a:solidFill>
                      <a:srgbClr val="F3F8F7"/>
                    </a:solidFill>
                  </a:tcPr>
                </a:tc>
                <a:tc>
                  <a:txBody>
                    <a:bodyPr/>
                    <a:lstStyle/>
                    <a:p>
                      <a:pPr algn="l"/>
                      <a:r>
                        <a:rPr sz="1600" b="1" i="0">
                          <a:solidFill>
                            <a:srgbClr val="43A047"/>
                          </a:solidFill>
                          <a:latin typeface="Calibri"/>
                        </a:rPr>
                        <a:t>✓</a:t>
                      </a:r>
                    </a:p>
                  </a:txBody>
                  <a:tcPr marL="182880" marR="182880" anchor="ctr">
                    <a:solidFill>
                      <a:srgbClr val="F3F8F7"/>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332D"/>
        </a:solidFill>
        <a:effectLst/>
      </p:bgPr>
    </p:bg>
    <p:spTree>
      <p:nvGrpSpPr>
        <p:cNvPr id="1" name=""/>
        <p:cNvGrpSpPr/>
        <p:nvPr/>
      </p:nvGrpSpPr>
      <p:grpSpPr/>
      <p:sp>
        <p:nvSpPr>
          <p:cNvPr id="2" name="Title 1"/>
          <p:cNvSpPr>
            <a:spLocks noGrp="1"/>
          </p:cNvSpPr>
          <p:nvPr>
            <p:ph type="title"/>
          </p:nvPr>
        </p:nvSpPr>
        <p:spPr>
          <a:xfrm>
            <a:off x="548640" y="384048"/>
            <a:ext cx="11094415" cy="822960"/>
          </a:xfrm>
        </p:spPr>
        <p:txBody>
          <a:bodyPr lIns="0" rIns="0" tIns="0" bIns="0" anchor="ctr" wrap="square"/>
          <a:lstStyle/>
          <a:p>
            <a:pPr algn="l"/>
            <a:r>
              <a:rPr sz="3200" b="1">
                <a:solidFill>
                  <a:srgbClr val="FFFFFF"/>
                </a:solidFill>
                <a:latin typeface="Arial"/>
              </a:rPr>
              <a:t>What the current release doesn't include</a:t>
            </a:r>
          </a:p>
        </p:txBody>
      </p:sp>
      <p:sp>
        <p:nvSpPr>
          <p:cNvPr id="3" name="kicker"/>
          <p:cNvSpPr txBox="1"/>
          <p:nvPr/>
        </p:nvSpPr>
        <p:spPr>
          <a:xfrm>
            <a:off x="548640" y="201168"/>
            <a:ext cx="7315200" cy="228600"/>
          </a:xfrm>
          <a:prstGeom prst="rect">
            <a:avLst/>
          </a:prstGeom>
          <a:noFill/>
        </p:spPr>
        <p:txBody>
          <a:bodyPr wrap="square" lIns="0" rIns="0" tIns="0" bIns="0" anchor="t">
            <a:spAutoFit/>
          </a:bodyPr>
          <a:lstStyle/>
          <a:p>
            <a:pPr algn="l">
              <a:spcAft>
                <a:spcPts val="0"/>
              </a:spcAft>
              <a:buNone/>
            </a:pPr>
            <a:r>
              <a:rPr sz="1100" b="1" i="0">
                <a:solidFill>
                  <a:srgbClr val="FFB300"/>
                </a:solidFill>
                <a:latin typeface="Calibri"/>
              </a:rPr>
              <a:t>CURRENT SCOPE</a:t>
            </a:r>
          </a:p>
        </p:txBody>
      </p:sp>
      <p:sp>
        <p:nvSpPr>
          <p:cNvPr id="4" name="No in-app payments"/>
          <p:cNvSpPr/>
          <p:nvPr/>
        </p:nvSpPr>
        <p:spPr>
          <a:xfrm>
            <a:off x="548640" y="1691640"/>
            <a:ext cx="2036003" cy="3291840"/>
          </a:xfrm>
          <a:prstGeom prst="roundRect">
            <a:avLst>
              <a:gd name="adj" fmla="val 5389"/>
            </a:avLst>
          </a:prstGeom>
          <a:solidFill>
            <a:srgbClr val="0B4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adge wallet"/>
          <p:cNvSpPr/>
          <p:nvPr/>
        </p:nvSpPr>
        <p:spPr>
          <a:xfrm>
            <a:off x="822959" y="1965960"/>
            <a:ext cx="731520" cy="731520"/>
          </a:xfrm>
          <a:prstGeom prst="ellipse">
            <a:avLst/>
          </a:prstGeom>
          <a:solidFill>
            <a:srgbClr val="FFB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icon wallet" descr="wallet_d.png"/>
          <p:cNvPicPr>
            <a:picLocks noChangeAspect="1"/>
          </p:cNvPicPr>
          <p:nvPr/>
        </p:nvPicPr>
        <p:blipFill>
          <a:blip r:embed="rId2"/>
          <a:stretch>
            <a:fillRect/>
          </a:stretch>
        </p:blipFill>
        <p:spPr>
          <a:xfrm>
            <a:off x="998524" y="2141524"/>
            <a:ext cx="380390" cy="380390"/>
          </a:xfrm>
          <a:prstGeom prst="rect">
            <a:avLst/>
          </a:prstGeom>
        </p:spPr>
      </p:pic>
      <p:sp>
        <p:nvSpPr>
          <p:cNvPr id="7" name="TextBox 6"/>
          <p:cNvSpPr txBox="1"/>
          <p:nvPr/>
        </p:nvSpPr>
        <p:spPr>
          <a:xfrm>
            <a:off x="822959" y="2926080"/>
            <a:ext cx="1578803" cy="685800"/>
          </a:xfrm>
          <a:prstGeom prst="rect">
            <a:avLst/>
          </a:prstGeom>
          <a:noFill/>
        </p:spPr>
        <p:txBody>
          <a:bodyPr wrap="square" lIns="0" rIns="0" tIns="0" bIns="0" anchor="t">
            <a:spAutoFit/>
          </a:bodyPr>
          <a:lstStyle/>
          <a:p>
            <a:pPr algn="l">
              <a:spcAft>
                <a:spcPts val="0"/>
              </a:spcAft>
              <a:buNone/>
            </a:pPr>
            <a:r>
              <a:rPr sz="1700" b="1" i="0">
                <a:solidFill>
                  <a:srgbClr val="FFFFFF"/>
                </a:solidFill>
                <a:latin typeface="Arial"/>
              </a:rPr>
              <a:t>No in-app payments</a:t>
            </a:r>
          </a:p>
        </p:txBody>
      </p:sp>
      <p:sp>
        <p:nvSpPr>
          <p:cNvPr id="8" name="TextBox 7"/>
          <p:cNvSpPr txBox="1"/>
          <p:nvPr/>
        </p:nvSpPr>
        <p:spPr>
          <a:xfrm>
            <a:off x="822959" y="3657600"/>
            <a:ext cx="1578803" cy="1234440"/>
          </a:xfrm>
          <a:prstGeom prst="rect">
            <a:avLst/>
          </a:prstGeom>
          <a:noFill/>
        </p:spPr>
        <p:txBody>
          <a:bodyPr wrap="square" lIns="0" rIns="0" tIns="0" bIns="0" anchor="t">
            <a:spAutoFit/>
          </a:bodyPr>
          <a:lstStyle/>
          <a:p>
            <a:pPr algn="l">
              <a:spcAft>
                <a:spcPts val="0"/>
              </a:spcAft>
              <a:buNone/>
            </a:pPr>
            <a:r>
              <a:rPr sz="1400" b="0" i="0">
                <a:solidFill>
                  <a:srgbClr val="CFE5E0"/>
                </a:solidFill>
                <a:latin typeface="Calibri"/>
              </a:rPr>
              <a:t>Wallet is informational; transactions happen offline between parties</a:t>
            </a:r>
          </a:p>
        </p:txBody>
      </p:sp>
      <p:sp>
        <p:nvSpPr>
          <p:cNvPr id="9" name="No moderation console"/>
          <p:cNvSpPr/>
          <p:nvPr/>
        </p:nvSpPr>
        <p:spPr>
          <a:xfrm>
            <a:off x="2813243" y="1691640"/>
            <a:ext cx="2036003" cy="3291840"/>
          </a:xfrm>
          <a:prstGeom prst="roundRect">
            <a:avLst>
              <a:gd name="adj" fmla="val 5389"/>
            </a:avLst>
          </a:prstGeom>
          <a:solidFill>
            <a:srgbClr val="0B4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badge flag"/>
          <p:cNvSpPr/>
          <p:nvPr/>
        </p:nvSpPr>
        <p:spPr>
          <a:xfrm>
            <a:off x="3087563" y="1965960"/>
            <a:ext cx="731520" cy="731520"/>
          </a:xfrm>
          <a:prstGeom prst="ellipse">
            <a:avLst/>
          </a:prstGeom>
          <a:solidFill>
            <a:srgbClr val="FFB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flag" descr="flag_d.png"/>
          <p:cNvPicPr>
            <a:picLocks noChangeAspect="1"/>
          </p:cNvPicPr>
          <p:nvPr/>
        </p:nvPicPr>
        <p:blipFill>
          <a:blip r:embed="rId3"/>
          <a:stretch>
            <a:fillRect/>
          </a:stretch>
        </p:blipFill>
        <p:spPr>
          <a:xfrm>
            <a:off x="3263127" y="2141524"/>
            <a:ext cx="380390" cy="380390"/>
          </a:xfrm>
          <a:prstGeom prst="rect">
            <a:avLst/>
          </a:prstGeom>
        </p:spPr>
      </p:pic>
      <p:sp>
        <p:nvSpPr>
          <p:cNvPr id="12" name="TextBox 11"/>
          <p:cNvSpPr txBox="1"/>
          <p:nvPr/>
        </p:nvSpPr>
        <p:spPr>
          <a:xfrm>
            <a:off x="3087563" y="2926080"/>
            <a:ext cx="1578803" cy="685800"/>
          </a:xfrm>
          <a:prstGeom prst="rect">
            <a:avLst/>
          </a:prstGeom>
          <a:noFill/>
        </p:spPr>
        <p:txBody>
          <a:bodyPr wrap="square" lIns="0" rIns="0" tIns="0" bIns="0" anchor="t">
            <a:spAutoFit/>
          </a:bodyPr>
          <a:lstStyle/>
          <a:p>
            <a:pPr algn="l">
              <a:spcAft>
                <a:spcPts val="0"/>
              </a:spcAft>
              <a:buNone/>
            </a:pPr>
            <a:r>
              <a:rPr sz="1700" b="1" i="0">
                <a:solidFill>
                  <a:srgbClr val="FFFFFF"/>
                </a:solidFill>
                <a:latin typeface="Arial"/>
              </a:rPr>
              <a:t>No moderation console</a:t>
            </a:r>
          </a:p>
        </p:txBody>
      </p:sp>
      <p:sp>
        <p:nvSpPr>
          <p:cNvPr id="13" name="TextBox 12"/>
          <p:cNvSpPr txBox="1"/>
          <p:nvPr/>
        </p:nvSpPr>
        <p:spPr>
          <a:xfrm>
            <a:off x="3087563" y="3657600"/>
            <a:ext cx="1578803" cy="1234440"/>
          </a:xfrm>
          <a:prstGeom prst="rect">
            <a:avLst/>
          </a:prstGeom>
          <a:noFill/>
        </p:spPr>
        <p:txBody>
          <a:bodyPr wrap="square" lIns="0" rIns="0" tIns="0" bIns="0" anchor="t">
            <a:spAutoFit/>
          </a:bodyPr>
          <a:lstStyle/>
          <a:p>
            <a:pPr algn="l">
              <a:spcAft>
                <a:spcPts val="0"/>
              </a:spcAft>
              <a:buNone/>
            </a:pPr>
            <a:r>
              <a:rPr sz="1400" b="0" i="0">
                <a:solidFill>
                  <a:srgbClr val="CFE5E0"/>
                </a:solidFill>
                <a:latin typeface="Calibri"/>
              </a:rPr>
              <a:t>Reports are reviewed in the Firebase backend console</a:t>
            </a:r>
          </a:p>
        </p:txBody>
      </p:sp>
      <p:sp>
        <p:nvSpPr>
          <p:cNvPr id="14" name="No archived chats yet"/>
          <p:cNvSpPr/>
          <p:nvPr/>
        </p:nvSpPr>
        <p:spPr>
          <a:xfrm>
            <a:off x="5077846" y="1691640"/>
            <a:ext cx="2036003" cy="3291840"/>
          </a:xfrm>
          <a:prstGeom prst="roundRect">
            <a:avLst>
              <a:gd name="adj" fmla="val 5389"/>
            </a:avLst>
          </a:prstGeom>
          <a:solidFill>
            <a:srgbClr val="0B4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badge inbox"/>
          <p:cNvSpPr/>
          <p:nvPr/>
        </p:nvSpPr>
        <p:spPr>
          <a:xfrm>
            <a:off x="5352166" y="1965960"/>
            <a:ext cx="731520" cy="731520"/>
          </a:xfrm>
          <a:prstGeom prst="ellipse">
            <a:avLst/>
          </a:prstGeom>
          <a:solidFill>
            <a:srgbClr val="FFB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icon inbox" descr="inbox_d.png"/>
          <p:cNvPicPr>
            <a:picLocks noChangeAspect="1"/>
          </p:cNvPicPr>
          <p:nvPr/>
        </p:nvPicPr>
        <p:blipFill>
          <a:blip r:embed="rId4"/>
          <a:stretch>
            <a:fillRect/>
          </a:stretch>
        </p:blipFill>
        <p:spPr>
          <a:xfrm>
            <a:off x="5527730" y="2141524"/>
            <a:ext cx="380390" cy="380390"/>
          </a:xfrm>
          <a:prstGeom prst="rect">
            <a:avLst/>
          </a:prstGeom>
        </p:spPr>
      </p:pic>
      <p:sp>
        <p:nvSpPr>
          <p:cNvPr id="17" name="TextBox 16"/>
          <p:cNvSpPr txBox="1"/>
          <p:nvPr/>
        </p:nvSpPr>
        <p:spPr>
          <a:xfrm>
            <a:off x="5352166" y="2926080"/>
            <a:ext cx="1578803" cy="685800"/>
          </a:xfrm>
          <a:prstGeom prst="rect">
            <a:avLst/>
          </a:prstGeom>
          <a:noFill/>
        </p:spPr>
        <p:txBody>
          <a:bodyPr wrap="square" lIns="0" rIns="0" tIns="0" bIns="0" anchor="t">
            <a:spAutoFit/>
          </a:bodyPr>
          <a:lstStyle/>
          <a:p>
            <a:pPr algn="l">
              <a:spcAft>
                <a:spcPts val="0"/>
              </a:spcAft>
              <a:buNone/>
            </a:pPr>
            <a:r>
              <a:rPr sz="1700" b="1" i="0">
                <a:solidFill>
                  <a:srgbClr val="FFFFFF"/>
                </a:solidFill>
                <a:latin typeface="Arial"/>
              </a:rPr>
              <a:t>No archived chats yet</a:t>
            </a:r>
          </a:p>
        </p:txBody>
      </p:sp>
      <p:sp>
        <p:nvSpPr>
          <p:cNvPr id="18" name="TextBox 17"/>
          <p:cNvSpPr txBox="1"/>
          <p:nvPr/>
        </p:nvSpPr>
        <p:spPr>
          <a:xfrm>
            <a:off x="5352166" y="3657600"/>
            <a:ext cx="1578803" cy="1234440"/>
          </a:xfrm>
          <a:prstGeom prst="rect">
            <a:avLst/>
          </a:prstGeom>
          <a:noFill/>
        </p:spPr>
        <p:txBody>
          <a:bodyPr wrap="square" lIns="0" rIns="0" tIns="0" bIns="0" anchor="t">
            <a:spAutoFit/>
          </a:bodyPr>
          <a:lstStyle/>
          <a:p>
            <a:pPr algn="l">
              <a:spcAft>
                <a:spcPts val="0"/>
              </a:spcAft>
              <a:buNone/>
            </a:pPr>
            <a:r>
              <a:rPr sz="1400" b="0" i="0">
                <a:solidFill>
                  <a:srgbClr val="CFE5E0"/>
                </a:solidFill>
                <a:latin typeface="Calibri"/>
              </a:rPr>
              <a:t>The Archived screen is a placeholder</a:t>
            </a:r>
          </a:p>
        </p:txBody>
      </p:sp>
      <p:sp>
        <p:nvSpPr>
          <p:cNvPr id="19" name="Android only"/>
          <p:cNvSpPr/>
          <p:nvPr/>
        </p:nvSpPr>
        <p:spPr>
          <a:xfrm>
            <a:off x="7342449" y="1691640"/>
            <a:ext cx="2036003" cy="3291840"/>
          </a:xfrm>
          <a:prstGeom prst="roundRect">
            <a:avLst>
              <a:gd name="adj" fmla="val 5389"/>
            </a:avLst>
          </a:prstGeom>
          <a:solidFill>
            <a:srgbClr val="0B4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badge smartphone"/>
          <p:cNvSpPr/>
          <p:nvPr/>
        </p:nvSpPr>
        <p:spPr>
          <a:xfrm>
            <a:off x="7616769" y="1965960"/>
            <a:ext cx="731520" cy="731520"/>
          </a:xfrm>
          <a:prstGeom prst="ellipse">
            <a:avLst/>
          </a:prstGeom>
          <a:solidFill>
            <a:srgbClr val="FFB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icon smartphone" descr="smartphone_d.png"/>
          <p:cNvPicPr>
            <a:picLocks noChangeAspect="1"/>
          </p:cNvPicPr>
          <p:nvPr/>
        </p:nvPicPr>
        <p:blipFill>
          <a:blip r:embed="rId5"/>
          <a:stretch>
            <a:fillRect/>
          </a:stretch>
        </p:blipFill>
        <p:spPr>
          <a:xfrm>
            <a:off x="7792333" y="2141524"/>
            <a:ext cx="380390" cy="380390"/>
          </a:xfrm>
          <a:prstGeom prst="rect">
            <a:avLst/>
          </a:prstGeom>
        </p:spPr>
      </p:pic>
      <p:sp>
        <p:nvSpPr>
          <p:cNvPr id="22" name="TextBox 21"/>
          <p:cNvSpPr txBox="1"/>
          <p:nvPr/>
        </p:nvSpPr>
        <p:spPr>
          <a:xfrm>
            <a:off x="7616769" y="2926080"/>
            <a:ext cx="1578803" cy="685800"/>
          </a:xfrm>
          <a:prstGeom prst="rect">
            <a:avLst/>
          </a:prstGeom>
          <a:noFill/>
        </p:spPr>
        <p:txBody>
          <a:bodyPr wrap="square" lIns="0" rIns="0" tIns="0" bIns="0" anchor="t">
            <a:spAutoFit/>
          </a:bodyPr>
          <a:lstStyle/>
          <a:p>
            <a:pPr algn="l">
              <a:spcAft>
                <a:spcPts val="0"/>
              </a:spcAft>
              <a:buNone/>
            </a:pPr>
            <a:r>
              <a:rPr sz="1700" b="1" i="0">
                <a:solidFill>
                  <a:srgbClr val="FFFFFF"/>
                </a:solidFill>
                <a:latin typeface="Arial"/>
              </a:rPr>
              <a:t>Android only</a:t>
            </a:r>
          </a:p>
        </p:txBody>
      </p:sp>
      <p:sp>
        <p:nvSpPr>
          <p:cNvPr id="23" name="TextBox 22"/>
          <p:cNvSpPr txBox="1"/>
          <p:nvPr/>
        </p:nvSpPr>
        <p:spPr>
          <a:xfrm>
            <a:off x="7616769" y="3657600"/>
            <a:ext cx="1578803" cy="1234440"/>
          </a:xfrm>
          <a:prstGeom prst="rect">
            <a:avLst/>
          </a:prstGeom>
          <a:noFill/>
        </p:spPr>
        <p:txBody>
          <a:bodyPr wrap="square" lIns="0" rIns="0" tIns="0" bIns="0" anchor="t">
            <a:spAutoFit/>
          </a:bodyPr>
          <a:lstStyle/>
          <a:p>
            <a:pPr algn="l">
              <a:spcAft>
                <a:spcPts val="0"/>
              </a:spcAft>
              <a:buNone/>
            </a:pPr>
            <a:r>
              <a:rPr sz="1400" b="0" i="0">
                <a:solidFill>
                  <a:srgbClr val="CFE5E0"/>
                </a:solidFill>
                <a:latin typeface="Calibri"/>
              </a:rPr>
              <a:t>No iOS or web build is configured</a:t>
            </a:r>
          </a:p>
        </p:txBody>
      </p:sp>
      <p:sp>
        <p:nvSpPr>
          <p:cNvPr id="24" name="No seeded demo data"/>
          <p:cNvSpPr/>
          <p:nvPr/>
        </p:nvSpPr>
        <p:spPr>
          <a:xfrm>
            <a:off x="9607052" y="1691640"/>
            <a:ext cx="2036003" cy="3291840"/>
          </a:xfrm>
          <a:prstGeom prst="roundRect">
            <a:avLst>
              <a:gd name="adj" fmla="val 5389"/>
            </a:avLst>
          </a:prstGeom>
          <a:solidFill>
            <a:srgbClr val="0B4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badge database"/>
          <p:cNvSpPr/>
          <p:nvPr/>
        </p:nvSpPr>
        <p:spPr>
          <a:xfrm>
            <a:off x="9881372" y="1965960"/>
            <a:ext cx="731520" cy="731520"/>
          </a:xfrm>
          <a:prstGeom prst="ellipse">
            <a:avLst/>
          </a:prstGeom>
          <a:solidFill>
            <a:srgbClr val="FFB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icon database" descr="database_d.png"/>
          <p:cNvPicPr>
            <a:picLocks noChangeAspect="1"/>
          </p:cNvPicPr>
          <p:nvPr/>
        </p:nvPicPr>
        <p:blipFill>
          <a:blip r:embed="rId6"/>
          <a:stretch>
            <a:fillRect/>
          </a:stretch>
        </p:blipFill>
        <p:spPr>
          <a:xfrm>
            <a:off x="10056936" y="2141524"/>
            <a:ext cx="380390" cy="380390"/>
          </a:xfrm>
          <a:prstGeom prst="rect">
            <a:avLst/>
          </a:prstGeom>
        </p:spPr>
      </p:pic>
      <p:sp>
        <p:nvSpPr>
          <p:cNvPr id="27" name="TextBox 26"/>
          <p:cNvSpPr txBox="1"/>
          <p:nvPr/>
        </p:nvSpPr>
        <p:spPr>
          <a:xfrm>
            <a:off x="9881372" y="2926080"/>
            <a:ext cx="1578803" cy="685800"/>
          </a:xfrm>
          <a:prstGeom prst="rect">
            <a:avLst/>
          </a:prstGeom>
          <a:noFill/>
        </p:spPr>
        <p:txBody>
          <a:bodyPr wrap="square" lIns="0" rIns="0" tIns="0" bIns="0" anchor="t">
            <a:spAutoFit/>
          </a:bodyPr>
          <a:lstStyle/>
          <a:p>
            <a:pPr algn="l">
              <a:spcAft>
                <a:spcPts val="0"/>
              </a:spcAft>
              <a:buNone/>
            </a:pPr>
            <a:r>
              <a:rPr sz="1700" b="1" i="0">
                <a:solidFill>
                  <a:srgbClr val="FFFFFF"/>
                </a:solidFill>
                <a:latin typeface="Arial"/>
              </a:rPr>
              <a:t>No seeded demo data</a:t>
            </a:r>
          </a:p>
        </p:txBody>
      </p:sp>
      <p:sp>
        <p:nvSpPr>
          <p:cNvPr id="28" name="TextBox 27"/>
          <p:cNvSpPr txBox="1"/>
          <p:nvPr/>
        </p:nvSpPr>
        <p:spPr>
          <a:xfrm>
            <a:off x="9881372" y="3657600"/>
            <a:ext cx="1578803" cy="1234440"/>
          </a:xfrm>
          <a:prstGeom prst="rect">
            <a:avLst/>
          </a:prstGeom>
          <a:noFill/>
        </p:spPr>
        <p:txBody>
          <a:bodyPr wrap="square" lIns="0" rIns="0" tIns="0" bIns="0" anchor="t">
            <a:spAutoFit/>
          </a:bodyPr>
          <a:lstStyle/>
          <a:p>
            <a:pPr algn="l">
              <a:spcAft>
                <a:spcPts val="0"/>
              </a:spcAft>
              <a:buNone/>
            </a:pPr>
            <a:r>
              <a:rPr sz="1400" b="0" i="0">
                <a:solidFill>
                  <a:srgbClr val="CFE5E0"/>
                </a:solidFill>
                <a:latin typeface="Calibri"/>
              </a:rPr>
              <a:t>A fresh install starts empty</a:t>
            </a:r>
          </a:p>
        </p:txBody>
      </p:sp>
      <p:sp>
        <p:nvSpPr>
          <p:cNvPr id="29" name="TextBox 28"/>
          <p:cNvSpPr txBox="1"/>
          <p:nvPr/>
        </p:nvSpPr>
        <p:spPr>
          <a:xfrm>
            <a:off x="548640" y="5486400"/>
            <a:ext cx="11094415" cy="457200"/>
          </a:xfrm>
          <a:prstGeom prst="rect">
            <a:avLst/>
          </a:prstGeom>
          <a:noFill/>
        </p:spPr>
        <p:txBody>
          <a:bodyPr wrap="square" lIns="0" rIns="0" tIns="0" bIns="0" anchor="t">
            <a:spAutoFit/>
          </a:bodyPr>
          <a:lstStyle/>
          <a:p>
            <a:pPr algn="l">
              <a:spcAft>
                <a:spcPts val="0"/>
              </a:spcAft>
              <a:buNone/>
            </a:pPr>
            <a:r>
              <a:rPr sz="1800" b="0" i="1">
                <a:solidFill>
                  <a:srgbClr val="FFB300"/>
                </a:solidFill>
                <a:latin typeface="Calibri"/>
              </a:rPr>
              <a:t>Post, discover, chat and rate all work today; these gaps are outside the current scope</a:t>
            </a:r>
          </a:p>
        </p:txBody>
      </p:sp>
    </p:spTree>
  </p:cSld>
  <p:clrMapOvr>
    <a:masterClrMapping/>
  </p:clrMapOvr>
</p:sld>
</file>

<file path=ppt/theme/theme1.xml><?xml version="1.0" encoding="utf-8"?>
<a:theme xmlns:a="http://schemas.openxmlformats.org/drawingml/2006/main" name="Gigl">
  <a:themeElements>
    <a:clrScheme name="Gigl">
      <a:dk1>
        <a:srgbClr val="1B2B28"/>
      </a:dk1>
      <a:lt1>
        <a:srgbClr val="FFFFFF"/>
      </a:lt1>
      <a:dk2>
        <a:srgbClr val="00332D"/>
      </a:dk2>
      <a:lt2>
        <a:srgbClr val="E6F2EF"/>
      </a:lt2>
      <a:accent1>
        <a:srgbClr val="006B5E"/>
      </a:accent1>
      <a:accent2>
        <a:srgbClr val="FFB300"/>
      </a:accent2>
      <a:accent3>
        <a:srgbClr val="43A047"/>
      </a:accent3>
      <a:accent4>
        <a:srgbClr val="E53935"/>
      </a:accent4>
      <a:accent5>
        <a:srgbClr val="5B21B6"/>
      </a:accent5>
      <a:accent6>
        <a:srgbClr val="4F8F86"/>
      </a:accent6>
      <a:hlink>
        <a:srgbClr val="006B5E"/>
      </a:hlink>
      <a:folHlink>
        <a:srgbClr val="5B21B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Gigl — Feature Overview</dc:title>
  <dc:subject/>
  <dc:creator>Gigl team</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